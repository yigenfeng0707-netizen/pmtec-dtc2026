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7"/>
    <p:sldId id="272" r:id="rId13"/>
    <p:sldId id="259" r:id="rId5"/>
    <p:sldId id="265" r:id="rId11"/>
    <p:sldId id="262" r:id="rId8"/>
    <p:sldId id="263" r:id="rId9"/>
    <p:sldId id="266" r:id="rId12"/>
    <p:sldId id="268" r:id="rId14"/>
    <p:sldId id="260" r:id="rId6"/>
    <p:sldId id="264" r:id="rId10"/>
    <p:sldId id="269" r:id="rId15"/>
    <p:sldId id="273" r:id="rId4"/>
    <p:sldId id="274" r:id="rId22"/>
    <p:sldId id="275" r:id="rId23"/>
    <p:sldId id="271" r:id="rId21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81"/>
  </p:normalViewPr>
  <p:slideViewPr>
    <p:cSldViewPr snapToGrid="0">
      <p:cViewPr varScale="1">
        <p:scale>
          <a:sx n="116" d="100"/>
          <a:sy n="116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14.xml"/><Relationship Id="rId5" Type="http://schemas.openxmlformats.org/officeDocument/2006/relationships/slide" Target="slides/slide5.xml"/><Relationship Id="rId6" Type="http://schemas.openxmlformats.org/officeDocument/2006/relationships/slide" Target="slides/slide11.xml"/><Relationship Id="rId7" Type="http://schemas.openxmlformats.org/officeDocument/2006/relationships/slide" Target="slides/slide3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2.xml"/><Relationship Id="rId11" Type="http://schemas.openxmlformats.org/officeDocument/2006/relationships/slide" Target="slides/slide6.xml"/><Relationship Id="rId12" Type="http://schemas.openxmlformats.org/officeDocument/2006/relationships/slide" Target="slides/slide9.xml"/><Relationship Id="rId13" Type="http://schemas.openxmlformats.org/officeDocument/2006/relationships/slide" Target="slides/slide4.xml"/><Relationship Id="rId14" Type="http://schemas.openxmlformats.org/officeDocument/2006/relationships/slide" Target="slides/slide10.xml"/><Relationship Id="rId15" Type="http://schemas.openxmlformats.org/officeDocument/2006/relationships/slide" Target="slides/slide13.xml"/><Relationship Id="rId16" Type="http://schemas.openxmlformats.org/officeDocument/2006/relationships/slide" Target="slides/slide18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7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F4D715-50C3-B803-A8ED-E297CF0F2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2D1C8FA-4E74-3C2B-B2E1-90179EE0F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F96F5C-20E8-D5B3-4B51-E00FBADC2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2026/8/6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CA3150-268E-E144-EB8E-C83266A46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C9375F-A225-D342-874D-7AF26BF3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3152611"/>
      </p:ext>
    </p:extLst>
  </p:cSld>
  <p:clrMapOvr>
    <a:masterClrMapping/>
  </p:clrMapOvr>
  <p:extLst>
    <p:ext uri="ooxmlsdk">
      <ooxmlsdk:mediaFallback xmlns="" xmlns:ooxmlsdk="ooxmlsdk" xmlns:ooxmlsdkcls="c:OOXMLSDK_CT_MediaFallback" target="/slidelayout//ppt/slideLayouts/slideLayout1.xml.png" type="slideLayout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BA219-D050-862C-E65B-9683A3676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3736A5-1585-C5FA-D2FE-8F5ED1377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E2F4FD-E8D7-1C42-14C4-121EA0992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2026/8/6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D03D1D-7811-D79C-3E26-008C62664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5FEE4B-101F-62CC-E69D-F081B97B9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7147540"/>
      </p:ext>
    </p:extLst>
  </p:cSld>
  <p:clrMapOvr>
    <a:masterClrMapping/>
  </p:clrMapOvr>
  <p:extLst>
    <p:ext uri="ooxmlsdk">
      <ooxmlsdk:mediaFallback xmlns="" xmlns:ooxmlsdk="ooxmlsdk" xmlns:ooxmlsdkcls="c:OOXMLSDK_CT_MediaFallback" target="/slidelayout//ppt/slideLayouts/slideLayout2.xml.png" type="slideLayout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30E9EE-8C71-67D4-A2BC-53B10698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09279D-06F0-EFDE-9CD6-193A29D31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B3CCE7-DC65-DA1D-3E8E-70130CD6E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2026/8/6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B74EE2-CD7D-A99C-E5D2-1366E53CA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52B1E2-E5C3-92D1-FF78-B950DDC1B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5822510"/>
      </p:ext>
    </p:extLst>
  </p:cSld>
  <p:clrMapOvr>
    <a:masterClrMapping/>
  </p:clrMapOvr>
  <p:extLst>
    <p:ext uri="ooxmlsdk">
      <ooxmlsdk:mediaFallback xmlns="" xmlns:ooxmlsdk="ooxmlsdk" xmlns:ooxmlsdkcls="c:OOXMLSDK_CT_MediaFallback" target="/slidelayout//ppt/slideLayouts/slideLayout3.xml.png" type="slideLayout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4817C-99A1-757B-E4AD-A40320272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17D338-6AC5-3B05-1915-B1578DB8BD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8E3BF0-2279-8BF3-1C0E-03C9E7BF3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B8EC9A-56DC-2B36-BF93-CCB1A8E3E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2026/8/6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3D304B-FAC1-533F-1456-38E73C2AF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6F4D4A-E839-BFE4-78EA-559F4A54D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68786054"/>
      </p:ext>
    </p:extLst>
  </p:cSld>
  <p:clrMapOvr>
    <a:masterClrMapping/>
  </p:clrMapOvr>
  <p:extLst>
    <p:ext uri="ooxmlsdk">
      <ooxmlsdk:mediaFallback xmlns="" xmlns:ooxmlsdk="ooxmlsdk" xmlns:ooxmlsdkcls="c:OOXMLSDK_CT_MediaFallback" target="/slidelayout//ppt/slideLayouts/slideLayout4.xml.png" type="slideLayout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4C5FF1-6080-2725-74AB-5FF7D3F27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A501C3-38EB-2364-C39C-33279253F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5EEC63D-4589-C043-285B-B8127689F2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8810A47-0A22-AB30-2FCE-43F3C972A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88C72C7-7B09-FD2C-30C5-4350039BAB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957867-163A-9E7A-AE92-DDB0D8E1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2026/8/6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40928ED-F638-2A81-FAF0-17D14FCA9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B5BCCDA-B30D-A94D-59C6-47F630253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0130515"/>
      </p:ext>
    </p:extLst>
  </p:cSld>
  <p:clrMapOvr>
    <a:masterClrMapping/>
  </p:clrMapOvr>
  <p:extLst>
    <p:ext uri="ooxmlsdk">
      <ooxmlsdk:mediaFallback xmlns="" xmlns:ooxmlsdk="ooxmlsdk" xmlns:ooxmlsdkcls="c:OOXMLSDK_CT_MediaFallback" target="/slidelayout//ppt/slideLayouts/slideLayout5.xml.png" type="slideLayout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2DB04-0D11-419F-4D88-8EE71954B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CFF8EF7-C3FC-15DF-EB99-F3AFA6C50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2026/8/6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BA37BA3-FB71-5172-B46A-25DF8DB97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0FED2D-6DE6-4528-CEC4-A1B115005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1781461"/>
      </p:ext>
    </p:extLst>
  </p:cSld>
  <p:clrMapOvr>
    <a:masterClrMapping/>
  </p:clrMapOvr>
  <p:extLst>
    <p:ext uri="ooxmlsdk">
      <ooxmlsdk:mediaFallback xmlns="" xmlns:ooxmlsdk="ooxmlsdk" xmlns:ooxmlsdkcls="c:OOXMLSDK_CT_MediaFallback" target="/slidelayout//ppt/slideLayouts/slideLayout6.xml.png" type="slideLayout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4BDD16-6439-B908-EDD7-E328E0DBD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2026/8/6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2E04F1C-1C5E-FF25-BFF4-A2FD0C4A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C5C0E4-D1F8-57FC-808D-20A6FC4DD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5038035"/>
      </p:ext>
    </p:extLst>
  </p:cSld>
  <p:clrMapOvr>
    <a:masterClrMapping/>
  </p:clrMapOvr>
  <p:extLst>
    <p:ext uri="ooxmlsdk">
      <ooxmlsdk:mediaFallback xmlns="" xmlns:ooxmlsdk="ooxmlsdk" xmlns:ooxmlsdkcls="c:OOXMLSDK_CT_MediaFallback" target="/slidelayout//ppt/slideLayouts/slideLayout7.xml.png" type="slideLayout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43FCD8-D346-D209-27B3-7C09A6E16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B47027-3D1C-237E-E4D0-376667F14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04B274-03F4-DFA5-61F7-9E8E0AC98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BAC8FF-DC28-5C76-6936-568A1EF2B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2026/8/6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62A2AA-F26F-56C5-60C1-F265434CD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79CC6C-B836-7CF1-8B26-F26AD1439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0346981"/>
      </p:ext>
    </p:extLst>
  </p:cSld>
  <p:clrMapOvr>
    <a:masterClrMapping/>
  </p:clrMapOvr>
  <p:extLst>
    <p:ext uri="ooxmlsdk">
      <ooxmlsdk:mediaFallback xmlns="" xmlns:ooxmlsdk="ooxmlsdk" xmlns:ooxmlsdkcls="c:OOXMLSDK_CT_MediaFallback" target="/slidelayout//ppt/slideLayouts/slideLayout8.xml.png" type="slideLayout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E0D37B-120B-5DC1-45AB-49EAA8B78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B5A8308-143D-B013-FA6D-13A508B23F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9730FC-073C-5B6F-22E8-FA4523B5C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0007D1-71A0-CD5F-5290-4EB94B792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2026/8/6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971ABE-DCFA-3F63-9336-9EBAF4904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786D08-7017-BD7F-109B-79A0EF202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1326504"/>
      </p:ext>
    </p:extLst>
  </p:cSld>
  <p:clrMapOvr>
    <a:masterClrMapping/>
  </p:clrMapOvr>
  <p:extLst>
    <p:ext uri="ooxmlsdk">
      <ooxmlsdk:mediaFallback xmlns="" xmlns:ooxmlsdk="ooxmlsdk" xmlns:ooxmlsdkcls="c:OOXMLSDK_CT_MediaFallback" target="/slidelayout//ppt/slideLayouts/slideLayout9.xml.png" type="slideLayout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9FE248-CB53-29A6-B21F-1B9B25DDF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3CB66B5-34D0-BDE9-5932-0E416504F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D9B6BF-E627-7250-3EDA-1287E1110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2026/8/6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7CADA8-4560-F141-7ED6-BD570DF74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590A53-D30B-FB19-DA4E-56FFB4BE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1721733"/>
      </p:ext>
    </p:extLst>
  </p:cSld>
  <p:clrMapOvr>
    <a:masterClrMapping/>
  </p:clrMapOvr>
  <p:extLst>
    <p:ext uri="ooxmlsdk">
      <ooxmlsdk:mediaFallback xmlns="" xmlns:ooxmlsdk="ooxmlsdk" xmlns:ooxmlsdkcls="c:OOXMLSDK_CT_MediaFallback" target="/slidelayout//ppt/slideLayouts/slideLayout10.xml.png" type="slideLayout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F20F4DD-F736-F394-947B-5741BD745F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E099BE-C301-7614-65DF-46D9E84D6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36390-1E46-C21F-75CD-E31A78324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2026/8/6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5A1DA6-C2F0-C179-3F42-8D6667B9A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619AC8-8FAF-9013-7FB4-18456D332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3299543"/>
      </p:ext>
    </p:extLst>
  </p:cSld>
  <p:clrMapOvr>
    <a:masterClrMapping/>
  </p:clrMapOvr>
  <p:extLst>
    <p:ext uri="ooxmlsdk">
      <ooxmlsdk:mediaFallback xmlns="" xmlns:ooxmlsdk="ooxmlsdk" xmlns:ooxmlsdkcls="c:OOXMLSDK_CT_MediaFallback" target="/slidelayout//ppt/slideLayouts/slideLayout11.xml.png" type="slideLayout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79C2722-3B8C-2065-5AC5-263CFE98F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7A3692-2AD9-CE6F-D53F-7845B9B38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51CEA3-90BC-60A3-2BF0-EFFB67E7C6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48963-C8E2-1E4C-A771-F62A9F2C7DEC}" type="datetimeFigureOut">
              <a:rPr kumimoji="1" lang="zh-CN" altLang="en-US" smtClean="0"/>
              <a:t>2026/8/6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196AE0-833D-16AA-C61D-4401D75F89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FBC43C-0D70-FA29-5981-9056C96452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8487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43473" y="903968"/>
            <a:ext cx="5970206" cy="2627671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95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DTC 2026 赛道二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eyJfdGVtcGxhdGVEYXRhIjp7ImNvbnRlbnRUeXBlIjoiJHRpdGxlIiwibGluZUNvdW50IjoiMyIsIndvcmRDb3VudCI6IjgifSwidGFnIjoiJHRpdGxlIn0=</bd:templateData>
          </p:ext>
        </p:extLst>
      </p:sp>
      <p:sp>
        <p:nvSpPr>
          <p:cNvPr id="3" name="TextBox 3"/>
          <p:cNvSpPr txBox="1"/>
          <p:nvPr/>
        </p:nvSpPr>
        <p:spPr>
          <a:xfrm>
            <a:off x="1243473" y="4692721"/>
            <a:ext cx="3135630" cy="516864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325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冯亦根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eyJfdGVtcGxhdGVEYXRhIjp7ImNvbnRlbnRUeXBlIjoiJHJlcG9ydGVyX2F1dGhvciIsImxpbmVDb3VudCI6IjEiLCJ3b3JkQ291bnQiOiI5In0sInRhZyI6Im5vRWRpdCJ9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1243473" y="5290281"/>
            <a:ext cx="3135630" cy="516864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325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2026年9月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eyJfdGVtcGxhdGVEYXRhIjp7ImNvbnRlbnRUeXBlIjoiJERhdGUiLCJsaW5lQ291bnQiOiIxIiwid29yZENvdW50IjoiOSJ9LCJ0YWciOiJub0VkaXQifQ==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="" xmlns:bd="http://schemas.baidu.com/office/drawing/2023/templateData">eyJtZCI6IuWNleWHu+atpOWkhOa3u+WKoOaWh+aho+agh+mimOWGheWuuSIsInRwbGlkIjoiNjkiLCJ0cGxOYW1lIjoidGl0bGVfNjlkaWFtb25kIiwiZWRpdGVkIjoiZmFsc2UifQ==</bd:templateData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  <p:extLst>
          <p:ext uri="http://schemas.baidu.com/office/drawing/2023/templateData">
            <bd:templateData xmlns="" xmlns:bd="http://schemas.baidu.com/office/drawing/2023/templateData">eyJfdGVtcGxhdGVEYXRhIjp7ImNvbnRlbnRUeXBlIjoiIn0sInRhZyI6Im5vRWRpdCJ9</bd:templateData>
          </p:ext>
        </p:extLst>
      </p:pic>
      <p:sp>
        <p:nvSpPr>
          <p:cNvPr id="3" name="TextBox 3"/>
          <p:cNvSpPr txBox="1"/>
          <p:nvPr/>
        </p:nvSpPr>
        <p:spPr>
          <a:xfrm>
            <a:off x="19880" y="448673"/>
            <a:ext cx="1945005" cy="116615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sz="45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目录</a:t>
            </a:r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2009374" y="806285"/>
            <a:ext cx="3649213" cy="557380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77000"/>
              </a:lnSpc>
              <a:spcBef>
                <a:spcPct val="0"/>
              </a:spcBef>
            </a:pPr>
            <a:r>
              <a:rPr lang="en-US" sz="285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CONTENTS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eyJfdGVtcGxhdGVEYXRhIjp7ImxpbmVDb3VudCI6IjEiLCJ3b3JkQ291bnQiOiI4In0sInRhZyI6Im5vRWRpdCJ9</bd:templateData>
          </p:ext>
        </p:extLst>
      </p:sp>
      <p:sp>
        <p:nvSpPr>
          <p:cNvPr id="5" name="TextBox 5"/>
          <p:cNvSpPr txBox="1"/>
          <p:nvPr/>
        </p:nvSpPr>
        <p:spPr>
          <a:xfrm>
            <a:off x="766106" y="2662210"/>
            <a:ext cx="790575" cy="4572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id="6" name="TextBox 6"/>
          <p:cNvSpPr txBox="1"/>
          <p:nvPr/>
        </p:nvSpPr>
        <p:spPr>
          <a:xfrm>
            <a:off x="1461431" y="2713645"/>
            <a:ext cx="5724525" cy="352425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100">
                <a:solidFill>
                  <a:srgbClr val="232323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赛事认知与策略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eyJfdGVtcGxhdGVEYXRhIjp7ImNvbnRlbnRUeXBlIjoiJGNhdGExIiwibGluZUNvdW50IjoiMSIsIndvcmRDb3VudCI6IjE5In0sInRhZyI6Im5vRWRpdCJ9</bd:templateData>
          </p:ext>
        </p:extLst>
      </p:sp>
      <p:sp>
        <p:nvSpPr>
          <p:cNvPr id="7" name="TextBox 7"/>
          <p:cNvSpPr txBox="1"/>
          <p:nvPr/>
        </p:nvSpPr>
        <p:spPr>
          <a:xfrm>
            <a:off x="766106" y="1979527"/>
            <a:ext cx="790575" cy="4572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id="8" name="TextBox 8"/>
          <p:cNvSpPr txBox="1"/>
          <p:nvPr/>
        </p:nvSpPr>
        <p:spPr>
          <a:xfrm>
            <a:off x="1461431" y="1994698"/>
            <a:ext cx="5724525" cy="280659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100">
                <a:solidFill>
                  <a:srgbClr val="232323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团队介绍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eyJfdGVtcGxhdGVEYXRhIjp7ImNvbnRlbnRUeXBlIjoiJGNhdGEwIiwibGluZUNvdW50IjoiMSIsIndvcmRDb3VudCI6IjE5In0sInRhZyI6Im5vRWRpdCJ9</bd:templateData>
          </p:ext>
        </p:extLst>
      </p:sp>
      <p:sp>
        <p:nvSpPr>
          <p:cNvPr id="9" name="TextBox 9"/>
          <p:cNvSpPr txBox="1"/>
          <p:nvPr/>
        </p:nvSpPr>
        <p:spPr>
          <a:xfrm>
            <a:off x="766106" y="3391923"/>
            <a:ext cx="790575" cy="4572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id="10" name="TextBox 10"/>
          <p:cNvSpPr txBox="1"/>
          <p:nvPr/>
        </p:nvSpPr>
        <p:spPr>
          <a:xfrm>
            <a:off x="1461431" y="3444311"/>
            <a:ext cx="5724525" cy="352425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100">
                <a:solidFill>
                  <a:srgbClr val="232323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第一级GIS基地标绘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eyJfdGVtcGxhdGVEYXRhIjp7ImNvbnRlbnRUeXBlIjoiJGNhdGEyIiwibGluZUNvdW50IjoiMSIsIndvcmRDb3VudCI6IjE5In0sInRhZyI6Im5vRWRpdCJ9</bd:templateData>
          </p:ext>
        </p:extLst>
      </p:sp>
      <p:sp>
        <p:nvSpPr>
          <p:cNvPr id="11" name="TextBox 11"/>
          <p:cNvSpPr txBox="1"/>
          <p:nvPr/>
        </p:nvSpPr>
        <p:spPr>
          <a:xfrm>
            <a:off x="766106" y="4095984"/>
            <a:ext cx="790575" cy="4572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id="12" name="TextBox 12"/>
          <p:cNvSpPr txBox="1"/>
          <p:nvPr/>
        </p:nvSpPr>
        <p:spPr>
          <a:xfrm>
            <a:off x="1461431" y="4126360"/>
            <a:ext cx="5724525" cy="280659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100">
                <a:solidFill>
                  <a:srgbClr val="232323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第二级ACE部署分析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eyJfdGVtcGxhdGVEYXRhIjp7ImNvbnRlbnRUeXBlIjoiJGNhdGEzIiwibGluZUNvdW50IjoiMSIsIndvcmRDb3VudCI6IjE5In0sInRhZyI6Im5vRWRpdCJ9</bd:templateData>
          </p:ext>
        </p:extLst>
      </p:sp>
      <p:sp>
        <p:nvSpPr>
          <p:cNvPr id="13" name="TextBox 13"/>
          <p:cNvSpPr txBox="1"/>
          <p:nvPr/>
        </p:nvSpPr>
        <p:spPr>
          <a:xfrm>
            <a:off x="766106" y="4798899"/>
            <a:ext cx="790575" cy="4572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id="14" name="TextBox 14"/>
          <p:cNvSpPr txBox="1"/>
          <p:nvPr/>
        </p:nvSpPr>
        <p:spPr>
          <a:xfrm>
            <a:off x="1462525" y="4829275"/>
            <a:ext cx="5724525" cy="352425"/>
          </a:xfrm>
          <a:prstGeom prst="rect">
            <a:avLst/>
          </a:prstGeom>
          <a:ln/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100">
                <a:solidFill>
                  <a:srgbClr val="232323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第三级PMTEC系统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eyJfdGVtcGxhdGVEYXRhIjp7ImNvbnRlbnRUeXBlIjoiJGNhdGE0IiwibGluZUNvdW50IjoiMSIsIndvcmRDb3VudCI6IjE5In0sInRhZyI6Im5vRWRpdCJ9</bd:templateData>
          </p:ext>
        </p:extLst>
      </p:sp>
      <p:sp>
        <p:nvSpPr>
          <p:cNvPr id="15" name="TextBox 15"/>
          <p:cNvSpPr txBox="1"/>
          <p:nvPr/>
        </p:nvSpPr>
        <p:spPr>
          <a:xfrm>
            <a:off x="766106" y="5539773"/>
            <a:ext cx="790575" cy="4572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id="16" name="TextBox 16"/>
          <p:cNvSpPr txBox="1"/>
          <p:nvPr/>
        </p:nvSpPr>
        <p:spPr>
          <a:xfrm>
            <a:off x="1475389" y="5591206"/>
            <a:ext cx="5724525" cy="352425"/>
          </a:xfrm>
          <a:prstGeom prst="rect">
            <a:avLst/>
          </a:prstGeom>
          <a:ln/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100">
                <a:solidFill>
                  <a:srgbClr val="232323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技术亮点与展望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eyJfdGVtcGxhdGVEYXRhIjp7ImNvbnRlbnRUeXBlIjoiJGNhdGE1IiwibGluZUNvdW50IjoiMSIsIndvcmRDb3VudCI6IjE5In0sInRhZyI6Im5vRWRpdCJ9</bd:templateData>
          </p:ext>
        </p:extLst>
      </p:sp>
    </p:spTree>
  </p:cSld>
  <p:clrMapOvr>
    <a:masterClrMapping/>
  </p:clrMapOvr>
  <p:extLst>
    <p:ext uri="http://schemas.baidu.com/office/drawing/2023/templateData">
      <bd:templateData xmlns="" xmlns:bd="http://schemas.baidu.com/office/drawing/2023/templateData">eyJtZCI6IuebruW9lVxu5Y2V5Ye75q2k5aSE5re75Yqg5qCH6aKYXG7ljZXlh7vmraTlpITmt7vliqDmoIfpophcbuWNleWHu+atpOWkhOa3u+WKoOagh+mimFxu5Y2V5Ye75q2k5aSE5re75Yqg5qCH6aKYXG7ljZXlh7vmraTlpITmt7vliqDmoIfpophcbuWNleWHu+atpOWkhOa3u+WKoOagh+mimFxu5Y2V5Ye75q2k5aSE5re75Yqg5qCH6aKYXG7ljZXlh7vmraTlpITmt7vliqDmoIfpopgiLCJ0cGxpZCI6IjY5IiwidHBsTmFtZSI6ImNhdGFMaXN0XzY5ZGlhbW9uZDYiLCJlZGl0ZWQiOiJmYWxzZSJ9</bd:templateData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67853" y="3146299"/>
            <a:ext cx="6465366" cy="1453282"/>
            <a:chOff x="2867853" y="3146299"/>
            <a:chExt cx="6465366" cy="1453282"/>
          </a:xfrm>
        </p:grpSpPr>
        <p:sp>
          <p:nvSpPr>
            <p:cNvPr id="3" name="AutoShape 3"/>
            <p:cNvSpPr/>
            <p:nvPr/>
          </p:nvSpPr>
          <p:spPr>
            <a:xfrm rot="5400000">
              <a:off x="4311610" y="3146299"/>
              <a:ext cx="5021609" cy="1453282"/>
            </a:xfrm>
            <a:prstGeom prst="trapezoid">
              <a:avLst>
                <a:gd name="adj" fmla="val 15000"/>
              </a:avLst>
            </a:prstGeom>
            <a:solidFill>
              <a:schemeClr val="accent4">
                <a:alpha val="100000"/>
              </a:scheme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AutoShape 4"/>
            <p:cNvSpPr/>
            <p:nvPr/>
          </p:nvSpPr>
          <p:spPr>
            <a:xfrm rot="-5400000">
              <a:off x="2867853" y="3146299"/>
              <a:ext cx="5021609" cy="1453282"/>
            </a:xfrm>
            <a:prstGeom prst="trapezoid">
              <a:avLst>
                <a:gd name="adj" fmla="val 15000"/>
              </a:avLst>
            </a:prstGeom>
            <a:solidFill>
              <a:schemeClr val="accent4">
                <a:alpha val="100000"/>
              </a:scheme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AutoShape 5"/>
          <p:cNvSpPr/>
          <p:nvPr/>
        </p:nvSpPr>
        <p:spPr>
          <a:xfrm rot="5400000">
            <a:off x="7031437" y="2470592"/>
            <a:ext cx="4450677" cy="2724904"/>
          </a:xfrm>
          <a:prstGeom prst="trapezoid">
            <a:avLst>
              <a:gd name="adj" fmla="val 11666"/>
            </a:avLst>
          </a:prstGeom>
          <a:solidFill>
            <a:schemeClr val="accent5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6" name="AutoShape 6"/>
          <p:cNvSpPr/>
          <p:nvPr/>
        </p:nvSpPr>
        <p:spPr>
          <a:xfrm rot="-5400000">
            <a:off x="732907" y="2470592"/>
            <a:ext cx="4450677" cy="2724904"/>
          </a:xfrm>
          <a:prstGeom prst="trapezoid">
            <a:avLst>
              <a:gd name="adj" fmla="val 11666"/>
            </a:avLst>
          </a:prstGeom>
          <a:solidFill>
            <a:schemeClr val="accent3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7" name="TextBox 7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团队介绍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id="8" name="TextBox 8"/>
          <p:cNvSpPr txBox="1"/>
          <p:nvPr/>
        </p:nvSpPr>
        <p:spPr>
          <a:xfrm>
            <a:off x="1769199" y="3593075"/>
            <a:ext cx="2378092" cy="1903951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35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根深叶茂——聚焦数字孪生战场体系化建模与仿真推演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eyJfdGVtcGxhdGVEYXRhIjp7ImNvbnRlbnRUeXBlIjoiJGl0ZW0xX2MiLCJsaW5lQ291bnQiOiI2Iiwid29yZENvdW50IjoiMTIifSwidGFnIjoiJGl0ZW0xX2MifQ==</bd:templateData>
          </p:ext>
        </p:extLst>
      </p:sp>
      <p:sp>
        <p:nvSpPr>
          <p:cNvPr id="9" name="TextBox 9"/>
          <p:cNvSpPr txBox="1"/>
          <p:nvPr/>
        </p:nvSpPr>
        <p:spPr>
          <a:xfrm>
            <a:off x="1828473" y="2753722"/>
            <a:ext cx="2259545" cy="60579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20000"/>
              </a:lnSpc>
              <a:spcBef>
                <a:spcPts val="450"/>
              </a:spcBef>
            </a:pPr>
            <a:r>
              <a:rPr lang="en-US" sz="18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团队名称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eyJfdGVtcGxhdGVEYXRhIjp7ImNvbnRlbnRUeXBlIjoiJGl0ZW0xX3RpdGxlIiwibGluZUNvdW50IjoiMSIsIndvcmRDb3VudCI6IjgifSwidGFnIjoiJGl0ZW0xX3RpdGxlIn0=</bd:templateData>
          </p:ext>
        </p:extLst>
      </p:sp>
      <p:sp>
        <p:nvSpPr>
          <p:cNvPr id="10" name="Freeform 10"/>
          <p:cNvSpPr/>
          <p:nvPr/>
        </p:nvSpPr>
        <p:spPr>
          <a:xfrm>
            <a:off x="2698730" y="2171415"/>
            <a:ext cx="519029" cy="519029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80975"/>
                </a:moveTo>
                <a:lnTo>
                  <a:pt x="247650" y="123825"/>
                </a:lnTo>
                <a:lnTo>
                  <a:pt x="247650" y="38100"/>
                </a:lnTo>
                <a:lnTo>
                  <a:pt x="209550" y="38100"/>
                </a:lnTo>
                <a:lnTo>
                  <a:pt x="209550" y="85725"/>
                </a:lnTo>
                <a:lnTo>
                  <a:pt x="152400" y="28575"/>
                </a:lnTo>
                <a:lnTo>
                  <a:pt x="0" y="180975"/>
                </a:lnTo>
                <a:lnTo>
                  <a:pt x="0" y="190500"/>
                </a:lnTo>
                <a:lnTo>
                  <a:pt x="38100" y="190500"/>
                </a:lnTo>
                <a:lnTo>
                  <a:pt x="38100" y="285750"/>
                </a:lnTo>
                <a:lnTo>
                  <a:pt x="133350" y="285750"/>
                </a:lnTo>
                <a:lnTo>
                  <a:pt x="133350" y="228600"/>
                </a:lnTo>
                <a:lnTo>
                  <a:pt x="171450" y="228600"/>
                </a:lnTo>
                <a:lnTo>
                  <a:pt x="171450" y="285750"/>
                </a:lnTo>
                <a:lnTo>
                  <a:pt x="266700" y="285750"/>
                </a:lnTo>
                <a:lnTo>
                  <a:pt x="266700" y="190500"/>
                </a:lnTo>
                <a:lnTo>
                  <a:pt x="304800" y="190500"/>
                </a:lnTo>
              </a:path>
            </a:pathLst>
          </a:cu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1" name="TextBox 11"/>
          <p:cNvSpPr txBox="1"/>
          <p:nvPr/>
        </p:nvSpPr>
        <p:spPr>
          <a:xfrm>
            <a:off x="8067729" y="3593075"/>
            <a:ext cx="2378092" cy="1903951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35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场景开发赛道 三级递进完成GIS标绘 ACE部署分析与PMTEC数字孪生战场系统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eyJfdGVtcGxhdGVEYXRhIjp7ImNvbnRlbnRUeXBlIjoiJGl0ZW0zX2MiLCJsaW5lQ291bnQiOiI2Iiwid29yZENvdW50IjoiMTIifSwidGFnIjoiJGl0ZW0zX2MifQ==</bd:templateData>
          </p:ext>
        </p:extLst>
      </p:sp>
      <p:sp>
        <p:nvSpPr>
          <p:cNvPr id="12" name="TextBox 12"/>
          <p:cNvSpPr txBox="1"/>
          <p:nvPr/>
        </p:nvSpPr>
        <p:spPr>
          <a:xfrm>
            <a:off x="8127003" y="2753722"/>
            <a:ext cx="2259545" cy="60579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20000"/>
              </a:lnSpc>
              <a:spcBef>
                <a:spcPts val="450"/>
              </a:spcBef>
            </a:pPr>
            <a:r>
              <a:rPr lang="en-US" sz="18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参赛方向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eyJfdGVtcGxhdGVEYXRhIjp7ImNvbnRlbnRUeXBlIjoiJGl0ZW0zX3RpdGxlIiwibGluZUNvdW50IjoiMSIsIndvcmRDb3VudCI6IjgifSwidGFnIjoiJGl0ZW0zX3RpdGxlIn0=</bd:templateData>
          </p:ext>
        </p:extLst>
      </p:sp>
      <p:sp>
        <p:nvSpPr>
          <p:cNvPr id="13" name="Freeform 13"/>
          <p:cNvSpPr/>
          <p:nvPr/>
        </p:nvSpPr>
        <p:spPr>
          <a:xfrm>
            <a:off x="9005350" y="2187594"/>
            <a:ext cx="502850" cy="50285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0749" y="121920"/>
                </a:moveTo>
                <a:lnTo>
                  <a:pt x="152400" y="182880"/>
                </a:lnTo>
                <a:lnTo>
                  <a:pt x="304800" y="91440"/>
                </a:lnTo>
                <a:lnTo>
                  <a:pt x="152400" y="0"/>
                </a:lnTo>
                <a:lnTo>
                  <a:pt x="0" y="91440"/>
                </a:lnTo>
                <a:lnTo>
                  <a:pt x="152400" y="91440"/>
                </a:lnTo>
                <a:lnTo>
                  <a:pt x="152400" y="121920"/>
                </a:lnTo>
                <a:lnTo>
                  <a:pt x="50749" y="121920"/>
                </a:lnTo>
                <a:close/>
              </a:path>
              <a:path w="304800" h="304800">
                <a:moveTo>
                  <a:pt x="0" y="121920"/>
                </a:moveTo>
                <a:lnTo>
                  <a:pt x="0" y="243840"/>
                </a:lnTo>
                <a:lnTo>
                  <a:pt x="30480" y="210007"/>
                </a:lnTo>
                <a:lnTo>
                  <a:pt x="30480" y="140208"/>
                </a:lnTo>
                <a:lnTo>
                  <a:pt x="0" y="121920"/>
                </a:lnTo>
                <a:close/>
              </a:path>
              <a:path w="304800" h="304800">
                <a:moveTo>
                  <a:pt x="152400" y="304800"/>
                </a:moveTo>
                <a:lnTo>
                  <a:pt x="45720" y="240792"/>
                </a:lnTo>
                <a:lnTo>
                  <a:pt x="45720" y="149352"/>
                </a:lnTo>
                <a:lnTo>
                  <a:pt x="152400" y="213360"/>
                </a:lnTo>
                <a:lnTo>
                  <a:pt x="259080" y="149352"/>
                </a:lnTo>
                <a:lnTo>
                  <a:pt x="259080" y="240792"/>
                </a:lnTo>
                <a:lnTo>
                  <a:pt x="152400" y="304800"/>
                </a:lnTo>
              </a:path>
            </a:pathLst>
          </a:cu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4" name="TextBox 14"/>
          <p:cNvSpPr txBox="1"/>
          <p:nvPr/>
        </p:nvSpPr>
        <p:spPr>
          <a:xfrm>
            <a:off x="4911490" y="3593075"/>
            <a:ext cx="2378092" cy="1903951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35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冯亦根 个人参赛者 长期参加AI竞赛与黑客松 擅长Python全栈与AI模型训练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eyJfdGVtcGxhdGVEYXRhIjp7ImNvbnRlbnRUeXBlIjoiJGl0ZW0yX2MiLCJsaW5lQ291bnQiOiI2Iiwid29yZENvdW50IjoiMTIifSwidGFnIjoiJGl0ZW0yX2MifQ==</bd:templateData>
          </p:ext>
        </p:extLst>
      </p:sp>
      <p:sp>
        <p:nvSpPr>
          <p:cNvPr id="15" name="TextBox 15"/>
          <p:cNvSpPr txBox="1"/>
          <p:nvPr/>
        </p:nvSpPr>
        <p:spPr>
          <a:xfrm>
            <a:off x="4970763" y="2753722"/>
            <a:ext cx="2259545" cy="60579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20000"/>
              </a:lnSpc>
              <a:spcBef>
                <a:spcPts val="450"/>
              </a:spcBef>
            </a:pPr>
            <a:r>
              <a:rPr lang="en-US" sz="18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参赛者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eyJfdGVtcGxhdGVEYXRhIjp7ImNvbnRlbnRUeXBlIjoiJGl0ZW0yX3RpdGxlIiwibGluZUNvdW50IjoiMSIsIndvcmRDb3VudCI6IjgifSwidGFnIjoiJGl0ZW0yX3RpdGxlIn0=</bd:templateData>
          </p:ext>
        </p:extLst>
      </p:sp>
      <p:sp>
        <p:nvSpPr>
          <p:cNvPr id="16" name="Freeform 16"/>
          <p:cNvSpPr/>
          <p:nvPr/>
        </p:nvSpPr>
        <p:spPr>
          <a:xfrm>
            <a:off x="5828045" y="2145464"/>
            <a:ext cx="544981" cy="54498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9550" y="0"/>
                </a:moveTo>
                <a:cubicBezTo>
                  <a:pt x="156943" y="0"/>
                  <a:pt x="114300" y="42643"/>
                  <a:pt x="114300" y="95250"/>
                </a:cubicBezTo>
                <a:cubicBezTo>
                  <a:pt x="114300" y="101213"/>
                  <a:pt x="114852" y="107042"/>
                  <a:pt x="115900" y="112700"/>
                </a:cubicBezTo>
                <a:lnTo>
                  <a:pt x="0" y="228600"/>
                </a:lnTo>
                <a:lnTo>
                  <a:pt x="0" y="285750"/>
                </a:lnTo>
                <a:cubicBezTo>
                  <a:pt x="0" y="296275"/>
                  <a:pt x="8525" y="304800"/>
                  <a:pt x="19050" y="304800"/>
                </a:cubicBezTo>
                <a:lnTo>
                  <a:pt x="38100" y="304800"/>
                </a:lnTo>
                <a:lnTo>
                  <a:pt x="38100" y="285750"/>
                </a:lnTo>
                <a:lnTo>
                  <a:pt x="76200" y="285750"/>
                </a:lnTo>
                <a:lnTo>
                  <a:pt x="76200" y="247650"/>
                </a:lnTo>
                <a:lnTo>
                  <a:pt x="114300" y="247650"/>
                </a:lnTo>
                <a:lnTo>
                  <a:pt x="114300" y="209550"/>
                </a:lnTo>
                <a:lnTo>
                  <a:pt x="152400" y="209550"/>
                </a:lnTo>
                <a:lnTo>
                  <a:pt x="177117" y="184833"/>
                </a:lnTo>
                <a:cubicBezTo>
                  <a:pt x="187242" y="188500"/>
                  <a:pt x="198158" y="190500"/>
                  <a:pt x="209550" y="190500"/>
                </a:cubicBezTo>
                <a:cubicBezTo>
                  <a:pt x="262157" y="190500"/>
                  <a:pt x="304800" y="147857"/>
                  <a:pt x="304800" y="95250"/>
                </a:cubicBezTo>
                <a:cubicBezTo>
                  <a:pt x="304800" y="42643"/>
                  <a:pt x="262157" y="0"/>
                  <a:pt x="209550" y="0"/>
                </a:cubicBezTo>
                <a:close/>
                <a:moveTo>
                  <a:pt x="238087" y="95288"/>
                </a:moveTo>
                <a:cubicBezTo>
                  <a:pt x="222304" y="95288"/>
                  <a:pt x="209512" y="82496"/>
                  <a:pt x="209512" y="66713"/>
                </a:cubicBezTo>
                <a:cubicBezTo>
                  <a:pt x="209512" y="50930"/>
                  <a:pt x="222304" y="38138"/>
                  <a:pt x="238087" y="38138"/>
                </a:cubicBezTo>
                <a:cubicBezTo>
                  <a:pt x="253870" y="38138"/>
                  <a:pt x="266662" y="50930"/>
                  <a:pt x="266662" y="66713"/>
                </a:cubicBezTo>
                <a:cubicBezTo>
                  <a:pt x="266662" y="82496"/>
                  <a:pt x="253870" y="95288"/>
                  <a:pt x="238087" y="9528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7" name="AutoShape 17"/>
          <p:cNvSpPr/>
          <p:nvPr/>
        </p:nvSpPr>
        <p:spPr>
          <a:xfrm>
            <a:off x="2335410" y="3359512"/>
            <a:ext cx="1245670" cy="69488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8" name="AutoShape 18"/>
          <p:cNvSpPr/>
          <p:nvPr/>
        </p:nvSpPr>
        <p:spPr>
          <a:xfrm>
            <a:off x="5477701" y="3359512"/>
            <a:ext cx="1245670" cy="69488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9" name="AutoShape 19"/>
          <p:cNvSpPr/>
          <p:nvPr/>
        </p:nvSpPr>
        <p:spPr>
          <a:xfrm>
            <a:off x="8633940" y="3359512"/>
            <a:ext cx="1245670" cy="69488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="" xmlns:bd="http://schemas.baidu.com/office/drawing/2023/templateData">eyJtZCI6IiMjIOivt+i+k+WFpeacrOmhteagh+mimFxuIyMjIOa3u+WKoOWwj+agh+mimFxu6K+35Zyo5q2k5aSE6L6T5YWl5oKo55qE5q2j5paH5YaF5a6544CC5paH5a2X5Luj6KGo5oKo55qE5Li76aKY5oCd5oOz77yM6K+35Yqb5rGC566A5piO5Zyw6KGo6L6+5oKo55qE6KeC54K544CC5Y+v6YCC5bqm5Yig5YeP5paH5a2X5Lul56Gu5L+d5L+h5oGv55qE5riF5pmw5ZKM57K+56Gu5Lyg6L6+77yM5ZCM5pe25Lmf6KaB5YWz5rOo5paH5a2X55qE6YC76L6R5oCn5ZKM5p2hXG4jIyMg5re75Yqg5bCP5qCH6aKYXG7or7flnKjmraTlpITovpPlhaXmgqjnmoTmraPmloflhoXlrrnjgILmloflrZfku6PooajmgqjnmoTkuLvpopjmgJ3mg7PvvIzor7flipvmsYLnroDmmI7lnLDooajovr7mgqjnmoTop4LngrnjgILlj6/pgILluqbliKDlh4/mloflrZfku6Xnoa7kv53kv6Hmga/nmoTmuIXmmbDlkoznsr7noa7kvKDovr7vvIzlkIzml7bkuZ/opoHlhbPms6jmloflrZfnmoTpgLvovpHmgKflkozmnaFcbiMjIyDmt7vliqDlsI/moIfpophcbuivt+WcqOatpOWkhOi+k+WFpeaCqOeahOato+aWh+WGheWuueOAguaWh+Wtl+S7o+ihqOaCqOeahOS4u+mimOaAneaDs++8jOivt+WKm+axgueugOaYjuWcsOihqOi+vuaCqOeahOingueCueOAguWPr+mAguW6puWIoOWHj+aWh+Wtl+S7peehruS/neS/oeaBr+eahOa4heaZsOWSjOeyvuehruS8oOi+vu+8jOWQjOaXtuS5n+imgeWFs+azqOaWh+Wtl+eahOmAu+i+keaAp+WSjOadoSIsInRwbGlkIjoiNjkiLCJ0cGxOYW1lIjoibGlzdDNfMjAyNTA3MDMxMSIsImVkaXRlZCI6ImZhbHNlIn0=</bd:templateData>
    </p:ext>
  </p:extLs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00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file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00" y="1260000"/>
            <a:ext cx="2520000" cy="378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0000" y="5328000"/>
            <a:ext cx="34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冯亦根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44000"/>
            <a:ext cx="37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个人简介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0000" y="288000"/>
            <a:ext cx="702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 b="1">
                <a:solidFill>
                  <a:srgbClr val="2E5C8A"/>
                </a:solidFill>
                <a:latin typeface="Microsoft YaHei"/>
              </a:rPr>
              <a:t>教育背景</a:t>
            </a:r>
          </a:p>
          <a:p>
            <a:pPr lvl="1">
              <a:spcAft>
                <a:spcPts val="100"/>
              </a:spcAft>
            </a:pPr>
            <a:r>
              <a:rPr sz="1100">
                <a:solidFill>
                  <a:srgbClr val="2D2D2D"/>
                </a:solidFill>
                <a:latin typeface="Microsoft YaHei"/>
              </a:rPr>
              <a:t>浙江大学 计算机通信工程 本科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 b="1">
                <a:solidFill>
                  <a:srgbClr val="2E5C8A"/>
                </a:solidFill>
                <a:latin typeface="Microsoft YaHei"/>
              </a:rPr>
              <a:t>学术任职</a:t>
            </a:r>
          </a:p>
          <a:p>
            <a:pPr lvl="1">
              <a:spcAft>
                <a:spcPts val="100"/>
              </a:spcAft>
            </a:pPr>
            <a:r>
              <a:rPr sz="1100">
                <a:solidFill>
                  <a:srgbClr val="2D2D2D"/>
                </a:solidFill>
                <a:latin typeface="Microsoft YaHei"/>
              </a:rPr>
              <a:t>浙江邮电职业技术学院 人工智能学术委员会主任</a:t>
            </a:r>
          </a:p>
          <a:p>
            <a:pPr lvl="1">
              <a:spcAft>
                <a:spcPts val="100"/>
              </a:spcAft>
            </a:pPr>
            <a:r>
              <a:rPr sz="1100">
                <a:solidFill>
                  <a:srgbClr val="2D2D2D"/>
                </a:solidFill>
                <a:latin typeface="Microsoft YaHei"/>
              </a:rPr>
              <a:t>浙江省首批产业教授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 b="1">
                <a:solidFill>
                  <a:srgbClr val="2E5C8A"/>
                </a:solidFill>
                <a:latin typeface="Microsoft YaHei"/>
              </a:rPr>
              <a:t>专家库入库</a:t>
            </a:r>
          </a:p>
          <a:p>
            <a:pPr lvl="1">
              <a:spcAft>
                <a:spcPts val="100"/>
              </a:spcAft>
            </a:pPr>
            <a:r>
              <a:rPr sz="1100">
                <a:solidFill>
                  <a:srgbClr val="2D2D2D"/>
                </a:solidFill>
                <a:latin typeface="Microsoft YaHei"/>
              </a:rPr>
              <a:t>浙江省科技厅入库科技专家</a:t>
            </a:r>
          </a:p>
          <a:p>
            <a:pPr lvl="1">
              <a:spcAft>
                <a:spcPts val="100"/>
              </a:spcAft>
            </a:pPr>
            <a:r>
              <a:rPr sz="1100">
                <a:solidFill>
                  <a:srgbClr val="2D2D2D"/>
                </a:solidFill>
                <a:latin typeface="Microsoft YaHei"/>
              </a:rPr>
              <a:t>浙江省经信厅新一代通信技术入库专家</a:t>
            </a:r>
          </a:p>
          <a:p>
            <a:pPr lvl="1">
              <a:spcAft>
                <a:spcPts val="100"/>
              </a:spcAft>
            </a:pPr>
            <a:r>
              <a:rPr sz="1100">
                <a:solidFill>
                  <a:srgbClr val="2D2D2D"/>
                </a:solidFill>
                <a:latin typeface="Microsoft YaHei"/>
              </a:rPr>
              <a:t>杭州市科技局入库专家</a:t>
            </a:r>
          </a:p>
          <a:p>
            <a:pPr lvl="1">
              <a:spcAft>
                <a:spcPts val="100"/>
              </a:spcAft>
            </a:pPr>
            <a:r>
              <a:rPr sz="1100">
                <a:solidFill>
                  <a:srgbClr val="2D2D2D"/>
                </a:solidFill>
                <a:latin typeface="Microsoft YaHei"/>
              </a:rPr>
              <a:t>浙江省人工智能专家服务团专家</a:t>
            </a:r>
          </a:p>
          <a:p>
            <a:pPr lvl="1">
              <a:spcAft>
                <a:spcPts val="100"/>
              </a:spcAft>
            </a:pPr>
            <a:r>
              <a:rPr sz="1100">
                <a:solidFill>
                  <a:srgbClr val="2D2D2D"/>
                </a:solidFill>
                <a:latin typeface="Microsoft YaHei"/>
              </a:rPr>
              <a:t>浙江省智慧城市产业智库专家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 b="1">
                <a:solidFill>
                  <a:srgbClr val="2E5C8A"/>
                </a:solidFill>
                <a:latin typeface="Microsoft YaHei"/>
              </a:rPr>
              <a:t>专业资质</a:t>
            </a:r>
          </a:p>
          <a:p>
            <a:pPr lvl="1">
              <a:spcAft>
                <a:spcPts val="100"/>
              </a:spcAft>
            </a:pPr>
            <a:r>
              <a:rPr sz="1100">
                <a:solidFill>
                  <a:srgbClr val="2D2D2D"/>
                </a:solidFill>
                <a:latin typeface="Microsoft YaHei"/>
              </a:rPr>
              <a:t>工信部认证首席数据官</a:t>
            </a:r>
          </a:p>
          <a:p>
            <a:pPr lvl="1">
              <a:spcAft>
                <a:spcPts val="100"/>
              </a:spcAft>
            </a:pPr>
            <a:r>
              <a:rPr sz="1100">
                <a:solidFill>
                  <a:srgbClr val="2D2D2D"/>
                </a:solidFill>
                <a:latin typeface="Microsoft YaHei"/>
              </a:rPr>
              <a:t>首席数据资产运营官</a:t>
            </a:r>
          </a:p>
          <a:p>
            <a:pPr lvl="1">
              <a:spcAft>
                <a:spcPts val="100"/>
              </a:spcAft>
            </a:pPr>
            <a:r>
              <a:rPr sz="1100">
                <a:solidFill>
                  <a:srgbClr val="2D2D2D"/>
                </a:solidFill>
                <a:latin typeface="Microsoft YaHei"/>
              </a:rPr>
              <a:t>高级工程师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 b="1">
                <a:solidFill>
                  <a:srgbClr val="2E5C8A"/>
                </a:solidFill>
                <a:latin typeface="Microsoft YaHei"/>
              </a:rPr>
              <a:t>行业委员</a:t>
            </a:r>
          </a:p>
          <a:p>
            <a:pPr lvl="1">
              <a:spcAft>
                <a:spcPts val="100"/>
              </a:spcAft>
            </a:pPr>
            <a:r>
              <a:rPr sz="1100">
                <a:solidFill>
                  <a:srgbClr val="2D2D2D"/>
                </a:solidFill>
                <a:latin typeface="Microsoft YaHei"/>
              </a:rPr>
              <a:t>杭州数据交易所数据要素专业委员会委员</a:t>
            </a:r>
          </a:p>
          <a:p>
            <a:pPr lvl="1">
              <a:spcAft>
                <a:spcPts val="100"/>
              </a:spcAft>
            </a:pPr>
            <a:r>
              <a:rPr sz="1100">
                <a:solidFill>
                  <a:srgbClr val="2D2D2D"/>
                </a:solidFill>
                <a:latin typeface="Microsoft YaHei"/>
              </a:rPr>
              <a:t>浙江省企业促进会数据治理委员会委员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 b="1">
                <a:solidFill>
                  <a:srgbClr val="2E5C8A"/>
                </a:solidFill>
                <a:latin typeface="Microsoft YaHei"/>
              </a:rPr>
              <a:t>低空经济</a:t>
            </a:r>
          </a:p>
          <a:p>
            <a:pPr lvl="1">
              <a:spcAft>
                <a:spcPts val="100"/>
              </a:spcAft>
            </a:pPr>
            <a:r>
              <a:rPr sz="1100">
                <a:solidFill>
                  <a:srgbClr val="2D2D2D"/>
                </a:solidFill>
                <a:latin typeface="Microsoft YaHei"/>
              </a:rPr>
              <a:t>浙江省国际经济交流协会低空经济专委会常务副主任</a:t>
            </a:r>
          </a:p>
          <a:p>
            <a:pPr lvl="1">
              <a:spcAft>
                <a:spcPts val="100"/>
              </a:spcAft>
            </a:pPr>
            <a:r>
              <a:rPr sz="1100">
                <a:solidFill>
                  <a:srgbClr val="2D2D2D"/>
                </a:solidFill>
                <a:latin typeface="Microsoft YaHei"/>
              </a:rPr>
              <a:t>浙江省信息通信协会低空专委会顾问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76023" y="1469910"/>
            <a:ext cx="11328932" cy="2365584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3" name="TextBox 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OPPOSans B"/>
                <a:ea typeface="OPPOSans B"/>
                <a:cs typeface="OPPOSans B"/>
              </a:rPr>
              <a:t>赛事认知 DTB Model与ASDA闭环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id="4" name="Freeform 4"/>
          <p:cNvSpPr/>
          <p:nvPr/>
        </p:nvSpPr>
        <p:spPr>
          <a:xfrm>
            <a:off x="1458055" y="5431509"/>
            <a:ext cx="9275890" cy="605612"/>
          </a:xfrm>
          <a:custGeom>
            <a:avLst/>
            <a:gdLst/>
            <a:ahLst/>
            <a:cxnLst/>
            <a:rect l="l" t="t" r="r" b="b"/>
            <a:pathLst>
              <a:path w="8348133" h="561260">
                <a:moveTo>
                  <a:pt x="0" y="561260"/>
                </a:moveTo>
                <a:cubicBezTo>
                  <a:pt x="2751667" y="-155585"/>
                  <a:pt x="5545667" y="-212029"/>
                  <a:pt x="8348133" y="544326"/>
                </a:cubicBezTo>
              </a:path>
            </a:pathLst>
          </a:custGeom>
          <a:noFill/>
          <a:ln w="12700">
            <a:solidFill>
              <a:schemeClr val="accent1">
                <a:alpha val="10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5" name="AutoShape 5"/>
          <p:cNvSpPr/>
          <p:nvPr/>
        </p:nvSpPr>
        <p:spPr>
          <a:xfrm>
            <a:off x="1335949" y="5929320"/>
            <a:ext cx="191850" cy="19185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6" name="AutoShape 6"/>
          <p:cNvSpPr/>
          <p:nvPr/>
        </p:nvSpPr>
        <p:spPr>
          <a:xfrm>
            <a:off x="3668384" y="5493547"/>
            <a:ext cx="191850" cy="19185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7" name="AutoShape 7"/>
          <p:cNvSpPr/>
          <p:nvPr/>
        </p:nvSpPr>
        <p:spPr>
          <a:xfrm>
            <a:off x="6000075" y="5335584"/>
            <a:ext cx="191850" cy="19185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8" name="AutoShape 8"/>
          <p:cNvSpPr/>
          <p:nvPr/>
        </p:nvSpPr>
        <p:spPr>
          <a:xfrm>
            <a:off x="8333253" y="5493547"/>
            <a:ext cx="191850" cy="19185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9" name="AutoShape 9"/>
          <p:cNvSpPr/>
          <p:nvPr/>
        </p:nvSpPr>
        <p:spPr>
          <a:xfrm>
            <a:off x="10665687" y="5929320"/>
            <a:ext cx="191850" cy="19185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0" name="AutoShape 10"/>
          <p:cNvSpPr/>
          <p:nvPr/>
        </p:nvSpPr>
        <p:spPr>
          <a:xfrm>
            <a:off x="5696624" y="4346785"/>
            <a:ext cx="838202" cy="83820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eyJfdGVtcGxhdGVEYXRhIjp7ImxpbmVDb3VudCI6IjUiLCJ3b3JkQ291bnQiOiI0In0sInRhZyI6Im5vRWRpdCJ9</bd:templateData>
          </p:ext>
        </p:extLst>
      </p:sp>
      <p:sp>
        <p:nvSpPr>
          <p:cNvPr id="11" name="AutoShape 11"/>
          <p:cNvSpPr/>
          <p:nvPr/>
        </p:nvSpPr>
        <p:spPr>
          <a:xfrm>
            <a:off x="3345208" y="4519628"/>
            <a:ext cx="838202" cy="83820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2" name="AutoShape 12"/>
          <p:cNvSpPr/>
          <p:nvPr/>
        </p:nvSpPr>
        <p:spPr>
          <a:xfrm>
            <a:off x="1012773" y="4911322"/>
            <a:ext cx="838202" cy="83820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3" name="AutoShape 13"/>
          <p:cNvSpPr/>
          <p:nvPr/>
        </p:nvSpPr>
        <p:spPr>
          <a:xfrm>
            <a:off x="8010077" y="4519628"/>
            <a:ext cx="838202" cy="83820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4" name="AutoShape 14"/>
          <p:cNvSpPr/>
          <p:nvPr/>
        </p:nvSpPr>
        <p:spPr>
          <a:xfrm>
            <a:off x="10342511" y="4911322"/>
            <a:ext cx="838202" cy="83820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5" name="Freeform 15"/>
          <p:cNvSpPr/>
          <p:nvPr/>
        </p:nvSpPr>
        <p:spPr>
          <a:xfrm>
            <a:off x="1307454" y="5156412"/>
            <a:ext cx="285637" cy="340022"/>
          </a:xfrm>
          <a:custGeom>
            <a:avLst/>
            <a:gdLst/>
            <a:ahLst/>
            <a:cxnLst/>
            <a:rect l="l" t="t" r="r" b="b"/>
            <a:pathLst>
              <a:path w="401" h="478">
                <a:moveTo>
                  <a:pt x="401" y="89"/>
                </a:moveTo>
                <a:lnTo>
                  <a:pt x="401" y="293"/>
                </a:lnTo>
                <a:cubicBezTo>
                  <a:pt x="292" y="212"/>
                  <a:pt x="182" y="375"/>
                  <a:pt x="73" y="293"/>
                </a:cubicBezTo>
                <a:lnTo>
                  <a:pt x="73" y="89"/>
                </a:lnTo>
                <a:cubicBezTo>
                  <a:pt x="182" y="171"/>
                  <a:pt x="292" y="7"/>
                  <a:pt x="401" y="89"/>
                </a:cubicBezTo>
                <a:close/>
              </a:path>
              <a:path w="401" h="478">
                <a:moveTo>
                  <a:pt x="39" y="0"/>
                </a:moveTo>
                <a:cubicBezTo>
                  <a:pt x="18" y="0"/>
                  <a:pt x="0" y="17"/>
                  <a:pt x="0" y="39"/>
                </a:cubicBezTo>
                <a:cubicBezTo>
                  <a:pt x="0" y="54"/>
                  <a:pt x="9" y="68"/>
                  <a:pt x="23" y="74"/>
                </a:cubicBezTo>
                <a:lnTo>
                  <a:pt x="23" y="478"/>
                </a:lnTo>
                <a:lnTo>
                  <a:pt x="56" y="478"/>
                </a:lnTo>
                <a:lnTo>
                  <a:pt x="56" y="74"/>
                </a:lnTo>
                <a:cubicBezTo>
                  <a:pt x="69" y="68"/>
                  <a:pt x="78" y="54"/>
                  <a:pt x="78" y="39"/>
                </a:cubicBezTo>
                <a:cubicBezTo>
                  <a:pt x="78" y="17"/>
                  <a:pt x="61" y="0"/>
                  <a:pt x="39" y="0"/>
                </a:cubicBezTo>
              </a:path>
            </a:pathLst>
          </a:cu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6" name="Freeform 16"/>
          <p:cNvSpPr/>
          <p:nvPr/>
        </p:nvSpPr>
        <p:spPr>
          <a:xfrm>
            <a:off x="10656484" y="5175462"/>
            <a:ext cx="285637" cy="340022"/>
          </a:xfrm>
          <a:custGeom>
            <a:avLst/>
            <a:gdLst/>
            <a:ahLst/>
            <a:cxnLst/>
            <a:rect l="l" t="t" r="r" b="b"/>
            <a:pathLst>
              <a:path w="401" h="478">
                <a:moveTo>
                  <a:pt x="401" y="89"/>
                </a:moveTo>
                <a:lnTo>
                  <a:pt x="401" y="293"/>
                </a:lnTo>
                <a:cubicBezTo>
                  <a:pt x="292" y="212"/>
                  <a:pt x="182" y="375"/>
                  <a:pt x="73" y="293"/>
                </a:cubicBezTo>
                <a:lnTo>
                  <a:pt x="73" y="89"/>
                </a:lnTo>
                <a:cubicBezTo>
                  <a:pt x="182" y="171"/>
                  <a:pt x="292" y="7"/>
                  <a:pt x="401" y="89"/>
                </a:cubicBezTo>
                <a:close/>
              </a:path>
              <a:path w="401" h="478">
                <a:moveTo>
                  <a:pt x="39" y="0"/>
                </a:moveTo>
                <a:cubicBezTo>
                  <a:pt x="18" y="0"/>
                  <a:pt x="0" y="17"/>
                  <a:pt x="0" y="39"/>
                </a:cubicBezTo>
                <a:cubicBezTo>
                  <a:pt x="0" y="54"/>
                  <a:pt x="9" y="68"/>
                  <a:pt x="23" y="74"/>
                </a:cubicBezTo>
                <a:lnTo>
                  <a:pt x="23" y="478"/>
                </a:lnTo>
                <a:lnTo>
                  <a:pt x="56" y="478"/>
                </a:lnTo>
                <a:lnTo>
                  <a:pt x="56" y="74"/>
                </a:lnTo>
                <a:cubicBezTo>
                  <a:pt x="69" y="68"/>
                  <a:pt x="78" y="54"/>
                  <a:pt x="78" y="39"/>
                </a:cubicBezTo>
                <a:cubicBezTo>
                  <a:pt x="78" y="17"/>
                  <a:pt x="61" y="0"/>
                  <a:pt x="39" y="0"/>
                </a:cubicBezTo>
              </a:path>
            </a:pathLst>
          </a:cu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7" name="Freeform 17"/>
          <p:cNvSpPr/>
          <p:nvPr/>
        </p:nvSpPr>
        <p:spPr>
          <a:xfrm>
            <a:off x="3552466" y="4739614"/>
            <a:ext cx="423687" cy="398229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7409" y="185366"/>
                </a:moveTo>
                <a:lnTo>
                  <a:pt x="66913" y="266338"/>
                </a:lnTo>
                <a:lnTo>
                  <a:pt x="66913" y="47987"/>
                </a:lnTo>
                <a:lnTo>
                  <a:pt x="228371" y="47987"/>
                </a:lnTo>
                <a:lnTo>
                  <a:pt x="228371" y="266338"/>
                </a:lnTo>
                <a:lnTo>
                  <a:pt x="147409" y="185366"/>
                </a:lnTo>
              </a:path>
            </a:pathLst>
          </a:custGeom>
          <a:solidFill>
            <a:srgbClr val="F9F4F4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8" name="Freeform 18"/>
          <p:cNvSpPr/>
          <p:nvPr/>
        </p:nvSpPr>
        <p:spPr>
          <a:xfrm>
            <a:off x="8245909" y="4740783"/>
            <a:ext cx="423687" cy="398229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7409" y="185366"/>
                </a:moveTo>
                <a:lnTo>
                  <a:pt x="66913" y="266338"/>
                </a:lnTo>
                <a:lnTo>
                  <a:pt x="66913" y="47987"/>
                </a:lnTo>
                <a:lnTo>
                  <a:pt x="228371" y="47987"/>
                </a:lnTo>
                <a:lnTo>
                  <a:pt x="228371" y="266338"/>
                </a:lnTo>
                <a:lnTo>
                  <a:pt x="147409" y="185366"/>
                </a:lnTo>
              </a:path>
            </a:pathLst>
          </a:custGeom>
          <a:solidFill>
            <a:srgbClr val="F9F6F6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9" name="Freeform 19"/>
          <p:cNvSpPr/>
          <p:nvPr/>
        </p:nvSpPr>
        <p:spPr>
          <a:xfrm>
            <a:off x="5906295" y="4594017"/>
            <a:ext cx="423687" cy="398229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7409" y="185366"/>
                </a:moveTo>
                <a:lnTo>
                  <a:pt x="66913" y="266338"/>
                </a:lnTo>
                <a:lnTo>
                  <a:pt x="66913" y="47987"/>
                </a:lnTo>
                <a:lnTo>
                  <a:pt x="228371" y="47987"/>
                </a:lnTo>
                <a:lnTo>
                  <a:pt x="228371" y="266338"/>
                </a:lnTo>
                <a:lnTo>
                  <a:pt x="147409" y="185366"/>
                </a:lnTo>
              </a:path>
            </a:pathLst>
          </a:custGeom>
          <a:solidFill>
            <a:srgbClr val="F9F6F6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20" name="TextBox 20"/>
          <p:cNvSpPr txBox="1"/>
          <p:nvPr/>
        </p:nvSpPr>
        <p:spPr>
          <a:xfrm>
            <a:off x="912572" y="1718641"/>
            <a:ext cx="10455834" cy="1868121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l">
              <a:lnSpc>
                <a:spcPct val="180000"/>
              </a:lnSpc>
            </a:pPr>
            <a:r>
              <a:rPr lang="en-US" sz="15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大赛核心判断——制胜逻辑不再是"谁的武器更强" 而是"谁适应得更快" DTB Model由四大组件构成 作战引擎驱动ASDA闭环仿真推演 战斗网络聚合传感器分析赢得透明战场 应用商店实现能力模块化按需加载 即插即用通过gRPC标准化接口接入异构设备 ASDA闭环 行动-感知-决策-适应 是核心运行机制 体现适应优于压制理念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eyJfdGVtcGxhdGVEYXRhIjp7ImNvbnRlbnRUeXBlIjoiJHRleHQiLCJsaW5lQ291bnQiOiI0Iiwid29yZENvdW50IjoiNTMifSwidGFnIjoiJHRleHQifQ==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="" xmlns:bd="http://schemas.baidu.com/office/drawing/2023/templateData">eyJtZCI6IiMjIOivt+i+k+WFpeacrOmhteagh+mimFxu6K+35Zyo5q2k5aSE6L6T5YWl5oKo55qE5q2j5paH5YaF5a6544CC5paH5a2X5Luj6KGo5oKo55qE5Li76aKY5oCd5oOz77yM6K+35Yqb5rGC566A5piO5Zyw6KGo6L6+5oKo55qE6KeC54K544CC5Y+v6YCC5bqm5Yig5YeP5paH5a2X5Lul56Gu5L+d5L+h5oGv55qE5riF5pmw5ZKM57K+56Gu5Lyg6L6+77yM5ZCM5pe25Lmf6KaB5YWz5rOo5paH5a2X55qE6YC76L6R5oCn5ZKM5p2h55CG5oCn77yM5Lul5Yqp5LqO5LuW5Lq65pu05rex5YWl55CG6Kej5ZKM5o6l5Y+X5oKo55qE6KeC54K544CCIiwidHBsaWQiOiI2OSIsInRwbE5hbWUiOiJ0aXRsZUNvbnRlbnRfeWFuZ2UxOCIsImVkaXRlZCI6ImZhbHNlIn0=</bd:templateData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 flipV="1">
            <a:off x="8866695" y="1046036"/>
            <a:ext cx="2705073" cy="2545325"/>
          </a:xfrm>
          <a:prstGeom prst="rect">
            <a:avLst/>
          </a:prstGeom>
          <a:gradFill>
            <a:gsLst>
              <a:gs pos="0">
                <a:schemeClr val="accent6">
                  <a:alpha val="0"/>
                </a:schemeClr>
              </a:gs>
              <a:gs pos="100000">
                <a:schemeClr val="accent6">
                  <a:alpha val="10000"/>
                </a:schemeClr>
              </a:gs>
            </a:gsLst>
            <a:lin ang="16200000"/>
          </a:gra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3" name="AutoShape 3"/>
          <p:cNvSpPr/>
          <p:nvPr/>
        </p:nvSpPr>
        <p:spPr>
          <a:xfrm flipH="1" flipV="1">
            <a:off x="3306255" y="1046036"/>
            <a:ext cx="2705073" cy="2545325"/>
          </a:xfrm>
          <a:prstGeom prst="rect">
            <a:avLst/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10000"/>
                </a:schemeClr>
              </a:gs>
            </a:gsLst>
            <a:lin ang="16200000"/>
          </a:gra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4" name="AutoShape 4"/>
          <p:cNvSpPr/>
          <p:nvPr/>
        </p:nvSpPr>
        <p:spPr>
          <a:xfrm>
            <a:off x="547471" y="4141035"/>
            <a:ext cx="2705073" cy="2545325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lin ang="16200000"/>
          </a:gra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5" name="AutoShape 5"/>
          <p:cNvSpPr/>
          <p:nvPr/>
        </p:nvSpPr>
        <p:spPr>
          <a:xfrm>
            <a:off x="6087596" y="4141035"/>
            <a:ext cx="2705073" cy="2545325"/>
          </a:xfrm>
          <a:prstGeom prst="rect">
            <a:avLst/>
          </a:prstGeom>
          <a:gradFill>
            <a:gsLst>
              <a:gs pos="0">
                <a:schemeClr val="accent4">
                  <a:alpha val="0"/>
                </a:schemeClr>
              </a:gs>
              <a:gs pos="100000">
                <a:schemeClr val="accent4">
                  <a:alpha val="10000"/>
                </a:schemeClr>
              </a:gs>
            </a:gsLst>
            <a:lin ang="16200000"/>
          </a:gra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6" name="Freeform 6"/>
          <p:cNvSpPr/>
          <p:nvPr/>
        </p:nvSpPr>
        <p:spPr>
          <a:xfrm>
            <a:off x="546205" y="3591361"/>
            <a:ext cx="2779100" cy="561048"/>
          </a:xfrm>
          <a:custGeom>
            <a:avLst/>
            <a:gdLst/>
            <a:ahLst/>
            <a:cxnLst/>
            <a:rect l="l" t="t" r="r" b="b"/>
            <a:pathLst>
              <a:path w="4229101" h="507819">
                <a:moveTo>
                  <a:pt x="0" y="0"/>
                </a:moveTo>
                <a:lnTo>
                  <a:pt x="4117569" y="0"/>
                </a:lnTo>
                <a:lnTo>
                  <a:pt x="4229101" y="253910"/>
                </a:lnTo>
                <a:lnTo>
                  <a:pt x="4117569" y="507819"/>
                </a:lnTo>
                <a:lnTo>
                  <a:pt x="0" y="507819"/>
                </a:lnTo>
                <a:lnTo>
                  <a:pt x="111532" y="253910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7" name="Freeform 7"/>
          <p:cNvSpPr/>
          <p:nvPr/>
        </p:nvSpPr>
        <p:spPr>
          <a:xfrm>
            <a:off x="3308497" y="3591655"/>
            <a:ext cx="2779100" cy="561048"/>
          </a:xfrm>
          <a:custGeom>
            <a:avLst/>
            <a:gdLst/>
            <a:ahLst/>
            <a:cxnLst/>
            <a:rect l="l" t="t" r="r" b="b"/>
            <a:pathLst>
              <a:path w="4229101" h="507819">
                <a:moveTo>
                  <a:pt x="0" y="0"/>
                </a:moveTo>
                <a:lnTo>
                  <a:pt x="4117569" y="0"/>
                </a:lnTo>
                <a:lnTo>
                  <a:pt x="4229101" y="253910"/>
                </a:lnTo>
                <a:lnTo>
                  <a:pt x="4117569" y="507819"/>
                </a:lnTo>
                <a:lnTo>
                  <a:pt x="0" y="507819"/>
                </a:lnTo>
                <a:lnTo>
                  <a:pt x="111532" y="253910"/>
                </a:lnTo>
              </a:path>
            </a:pathLst>
          </a:custGeom>
          <a:solidFill>
            <a:schemeClr val="accent2">
              <a:alpha val="100000"/>
            </a:schemeClr>
          </a:solidFill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  <p:extLst>
          <p:ext uri="http://schemas.baidu.com/office/drawing/2023/templateData">
            <bd:templateData xmlns="" xmlns:bd="http://schemas.baidu.com/office/drawing/2023/templateData">eyJfdGVtcGxhdGVEYXRhIjp7ImxpbmVDb3VudCI6IjMiLCJ3b3JkQ291bnQiOiIyMSJ9LCJ0YWciOiJub0VkaXQifQ==</bd:templateData>
          </p:ext>
        </p:extLst>
      </p:sp>
      <p:sp>
        <p:nvSpPr>
          <p:cNvPr id="8" name="Freeform 8"/>
          <p:cNvSpPr/>
          <p:nvPr/>
        </p:nvSpPr>
        <p:spPr>
          <a:xfrm>
            <a:off x="6087596" y="3591655"/>
            <a:ext cx="2779100" cy="561048"/>
          </a:xfrm>
          <a:custGeom>
            <a:avLst/>
            <a:gdLst/>
            <a:ahLst/>
            <a:cxnLst/>
            <a:rect l="l" t="t" r="r" b="b"/>
            <a:pathLst>
              <a:path w="4229101" h="507819">
                <a:moveTo>
                  <a:pt x="0" y="0"/>
                </a:moveTo>
                <a:lnTo>
                  <a:pt x="4117569" y="0"/>
                </a:lnTo>
                <a:lnTo>
                  <a:pt x="4229101" y="253910"/>
                </a:lnTo>
                <a:lnTo>
                  <a:pt x="4117569" y="507819"/>
                </a:lnTo>
                <a:lnTo>
                  <a:pt x="0" y="507819"/>
                </a:lnTo>
                <a:lnTo>
                  <a:pt x="111532" y="253910"/>
                </a:lnTo>
              </a:path>
            </a:pathLst>
          </a:custGeom>
          <a:solidFill>
            <a:schemeClr val="accent4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9" name="Freeform 9"/>
          <p:cNvSpPr/>
          <p:nvPr/>
        </p:nvSpPr>
        <p:spPr>
          <a:xfrm>
            <a:off x="8866695" y="3591361"/>
            <a:ext cx="2779100" cy="561048"/>
          </a:xfrm>
          <a:custGeom>
            <a:avLst/>
            <a:gdLst/>
            <a:ahLst/>
            <a:cxnLst/>
            <a:rect l="l" t="t" r="r" b="b"/>
            <a:pathLst>
              <a:path w="4229101" h="507819">
                <a:moveTo>
                  <a:pt x="0" y="0"/>
                </a:moveTo>
                <a:lnTo>
                  <a:pt x="4117569" y="0"/>
                </a:lnTo>
                <a:lnTo>
                  <a:pt x="4229101" y="253910"/>
                </a:lnTo>
                <a:lnTo>
                  <a:pt x="4117569" y="507819"/>
                </a:lnTo>
                <a:lnTo>
                  <a:pt x="0" y="507819"/>
                </a:lnTo>
                <a:lnTo>
                  <a:pt x="111532" y="253910"/>
                </a:lnTo>
              </a:path>
            </a:pathLst>
          </a:custGeom>
          <a:solidFill>
            <a:schemeClr val="accent6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0" name="TextBox 1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三级任务递进关系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eyJfdGVtcGxhdGVEYXRhIjp7ImNvbnRlbnRUeXBlIjoiJHRpdGxlIiwibGluZUNvdW50IjoiMSIsIndvcmRDb3VudCI6IjI4In0sInRhZyI6Im5vRWRpdCJ9</bd:templateData>
          </p:ext>
        </p:extLst>
      </p:sp>
      <p:sp>
        <p:nvSpPr>
          <p:cNvPr id="11" name="TextBox 11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三级任务递进关系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id="12" name="Freeform 12"/>
          <p:cNvSpPr/>
          <p:nvPr/>
        </p:nvSpPr>
        <p:spPr>
          <a:xfrm>
            <a:off x="1729494" y="3665624"/>
            <a:ext cx="412521" cy="41252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74320" y="243840"/>
                </a:moveTo>
                <a:lnTo>
                  <a:pt x="304800" y="243840"/>
                </a:lnTo>
                <a:lnTo>
                  <a:pt x="304800" y="259080"/>
                </a:lnTo>
                <a:cubicBezTo>
                  <a:pt x="304800" y="267500"/>
                  <a:pt x="297980" y="274320"/>
                  <a:pt x="289560" y="274320"/>
                </a:cubicBezTo>
                <a:lnTo>
                  <a:pt x="289560" y="274320"/>
                </a:lnTo>
                <a:lnTo>
                  <a:pt x="15240" y="274320"/>
                </a:lnTo>
                <a:cubicBezTo>
                  <a:pt x="6820" y="274320"/>
                  <a:pt x="0" y="267500"/>
                  <a:pt x="0" y="259080"/>
                </a:cubicBezTo>
                <a:lnTo>
                  <a:pt x="0" y="259080"/>
                </a:lnTo>
                <a:lnTo>
                  <a:pt x="0" y="243840"/>
                </a:lnTo>
                <a:lnTo>
                  <a:pt x="30480" y="243840"/>
                </a:lnTo>
                <a:lnTo>
                  <a:pt x="30480" y="60960"/>
                </a:lnTo>
                <a:cubicBezTo>
                  <a:pt x="30480" y="44196"/>
                  <a:pt x="44196" y="30480"/>
                  <a:pt x="60960" y="30480"/>
                </a:cubicBezTo>
                <a:lnTo>
                  <a:pt x="243840" y="30480"/>
                </a:lnTo>
                <a:cubicBezTo>
                  <a:pt x="260671" y="30480"/>
                  <a:pt x="274320" y="44129"/>
                  <a:pt x="274320" y="60960"/>
                </a:cubicBezTo>
                <a:lnTo>
                  <a:pt x="274320" y="60960"/>
                </a:lnTo>
                <a:lnTo>
                  <a:pt x="274320" y="243840"/>
                </a:lnTo>
                <a:close/>
                <a:moveTo>
                  <a:pt x="60960" y="60960"/>
                </a:moveTo>
                <a:lnTo>
                  <a:pt x="60960" y="198120"/>
                </a:lnTo>
                <a:lnTo>
                  <a:pt x="243840" y="198120"/>
                </a:lnTo>
                <a:lnTo>
                  <a:pt x="243840" y="60960"/>
                </a:lnTo>
                <a:lnTo>
                  <a:pt x="60960" y="60960"/>
                </a:lnTo>
                <a:close/>
                <a:moveTo>
                  <a:pt x="121920" y="228600"/>
                </a:moveTo>
                <a:lnTo>
                  <a:pt x="121920" y="243840"/>
                </a:lnTo>
                <a:lnTo>
                  <a:pt x="182880" y="243840"/>
                </a:lnTo>
                <a:lnTo>
                  <a:pt x="182880" y="228600"/>
                </a:lnTo>
                <a:lnTo>
                  <a:pt x="121920" y="2286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3" name="Freeform 13"/>
          <p:cNvSpPr/>
          <p:nvPr/>
        </p:nvSpPr>
        <p:spPr>
          <a:xfrm>
            <a:off x="7308920" y="3703953"/>
            <a:ext cx="336452" cy="33645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209550"/>
                </a:moveTo>
                <a:lnTo>
                  <a:pt x="152410" y="247650"/>
                </a:lnTo>
                <a:lnTo>
                  <a:pt x="304800" y="209550"/>
                </a:lnTo>
                <a:lnTo>
                  <a:pt x="304800" y="247650"/>
                </a:lnTo>
                <a:lnTo>
                  <a:pt x="152410" y="285750"/>
                </a:lnTo>
                <a:lnTo>
                  <a:pt x="0" y="247650"/>
                </a:lnTo>
                <a:close/>
              </a:path>
              <a:path w="304800" h="304800">
                <a:moveTo>
                  <a:pt x="0" y="133350"/>
                </a:moveTo>
                <a:lnTo>
                  <a:pt x="152410" y="171450"/>
                </a:lnTo>
                <a:lnTo>
                  <a:pt x="304800" y="133350"/>
                </a:lnTo>
                <a:lnTo>
                  <a:pt x="304800" y="171450"/>
                </a:lnTo>
                <a:lnTo>
                  <a:pt x="152410" y="209550"/>
                </a:lnTo>
                <a:lnTo>
                  <a:pt x="0" y="171450"/>
                </a:lnTo>
                <a:close/>
              </a:path>
              <a:path w="304800" h="304800">
                <a:moveTo>
                  <a:pt x="0" y="57150"/>
                </a:moveTo>
                <a:lnTo>
                  <a:pt x="152410" y="19050"/>
                </a:lnTo>
                <a:lnTo>
                  <a:pt x="304800" y="57150"/>
                </a:lnTo>
                <a:lnTo>
                  <a:pt x="304800" y="95250"/>
                </a:lnTo>
                <a:lnTo>
                  <a:pt x="152410" y="133350"/>
                </a:lnTo>
                <a:lnTo>
                  <a:pt x="0" y="95250"/>
                </a:lnTo>
              </a:path>
            </a:pathLst>
          </a:cu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4" name="Freeform 14"/>
          <p:cNvSpPr/>
          <p:nvPr/>
        </p:nvSpPr>
        <p:spPr>
          <a:xfrm>
            <a:off x="10077502" y="3693435"/>
            <a:ext cx="357486" cy="357486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91440"/>
                </a:moveTo>
                <a:lnTo>
                  <a:pt x="152400" y="0"/>
                </a:lnTo>
                <a:lnTo>
                  <a:pt x="304800" y="91440"/>
                </a:lnTo>
                <a:lnTo>
                  <a:pt x="304800" y="121920"/>
                </a:lnTo>
                <a:lnTo>
                  <a:pt x="0" y="121920"/>
                </a:lnTo>
                <a:lnTo>
                  <a:pt x="0" y="91440"/>
                </a:lnTo>
                <a:close/>
                <a:moveTo>
                  <a:pt x="0" y="274320"/>
                </a:moveTo>
                <a:lnTo>
                  <a:pt x="304800" y="27432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274320"/>
                </a:lnTo>
                <a:close/>
                <a:moveTo>
                  <a:pt x="30480" y="243840"/>
                </a:moveTo>
                <a:lnTo>
                  <a:pt x="274320" y="243840"/>
                </a:lnTo>
                <a:lnTo>
                  <a:pt x="274320" y="274320"/>
                </a:lnTo>
                <a:lnTo>
                  <a:pt x="30480" y="274320"/>
                </a:lnTo>
                <a:lnTo>
                  <a:pt x="30480" y="243840"/>
                </a:lnTo>
                <a:close/>
                <a:moveTo>
                  <a:pt x="30480" y="121920"/>
                </a:moveTo>
                <a:lnTo>
                  <a:pt x="91440" y="121920"/>
                </a:lnTo>
                <a:lnTo>
                  <a:pt x="91440" y="243840"/>
                </a:lnTo>
                <a:lnTo>
                  <a:pt x="30480" y="243840"/>
                </a:lnTo>
                <a:lnTo>
                  <a:pt x="30480" y="121920"/>
                </a:lnTo>
                <a:close/>
                <a:moveTo>
                  <a:pt x="121920" y="121920"/>
                </a:moveTo>
                <a:lnTo>
                  <a:pt x="182880" y="121920"/>
                </a:lnTo>
                <a:lnTo>
                  <a:pt x="182880" y="243840"/>
                </a:lnTo>
                <a:lnTo>
                  <a:pt x="121920" y="243840"/>
                </a:lnTo>
                <a:lnTo>
                  <a:pt x="121920" y="121920"/>
                </a:lnTo>
                <a:close/>
                <a:moveTo>
                  <a:pt x="213360" y="121920"/>
                </a:moveTo>
                <a:lnTo>
                  <a:pt x="274320" y="121920"/>
                </a:lnTo>
                <a:lnTo>
                  <a:pt x="274320" y="243840"/>
                </a:lnTo>
                <a:lnTo>
                  <a:pt x="213360" y="243840"/>
                </a:lnTo>
                <a:lnTo>
                  <a:pt x="213360" y="12192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5" name="Freeform 15"/>
          <p:cNvSpPr/>
          <p:nvPr/>
        </p:nvSpPr>
        <p:spPr>
          <a:xfrm>
            <a:off x="4465081" y="3671635"/>
            <a:ext cx="401268" cy="401086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7180" y="28632"/>
                </a:moveTo>
                <a:lnTo>
                  <a:pt x="19907" y="83468"/>
                </a:lnTo>
                <a:lnTo>
                  <a:pt x="147304" y="137874"/>
                </a:lnTo>
                <a:lnTo>
                  <a:pt x="276015" y="83344"/>
                </a:lnTo>
                <a:lnTo>
                  <a:pt x="147180" y="28632"/>
                </a:lnTo>
                <a:close/>
              </a:path>
              <a:path w="304800" h="304800">
                <a:moveTo>
                  <a:pt x="152400" y="144723"/>
                </a:moveTo>
                <a:lnTo>
                  <a:pt x="152400" y="276168"/>
                </a:lnTo>
                <a:lnTo>
                  <a:pt x="276177" y="217408"/>
                </a:lnTo>
                <a:lnTo>
                  <a:pt x="276177" y="92145"/>
                </a:lnTo>
                <a:lnTo>
                  <a:pt x="152400" y="144723"/>
                </a:lnTo>
                <a:close/>
              </a:path>
              <a:path w="304800" h="304800">
                <a:moveTo>
                  <a:pt x="19098" y="217408"/>
                </a:moveTo>
                <a:lnTo>
                  <a:pt x="143294" y="276168"/>
                </a:lnTo>
                <a:lnTo>
                  <a:pt x="143294" y="144723"/>
                </a:lnTo>
                <a:lnTo>
                  <a:pt x="19098" y="92145"/>
                </a:lnTo>
                <a:lnTo>
                  <a:pt x="19098" y="217408"/>
                </a:lnTo>
              </a:path>
            </a:pathLst>
          </a:cu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6" name="TextBox 16"/>
          <p:cNvSpPr txBox="1"/>
          <p:nvPr/>
        </p:nvSpPr>
        <p:spPr>
          <a:xfrm>
            <a:off x="758371" y="4476963"/>
            <a:ext cx="2354768" cy="2695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第三级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eyJfdGVtcGxhdGVEYXRhIjp7ImNvbnRlbnRUeXBlIjoiJGl0ZW0xX3RpdGxlIiwibGluZUNvdW50IjoiMSIsIndvcmRDb3VudCI6IjcifSwidGFnIjoiJGl0ZW0xX3RpdGxlIn0=</bd:templateData>
          </p:ext>
        </p:extLst>
      </p:sp>
      <p:sp>
        <p:nvSpPr>
          <p:cNvPr id="17" name="TextBox 17"/>
          <p:cNvSpPr txBox="1"/>
          <p:nvPr/>
        </p:nvSpPr>
        <p:spPr>
          <a:xfrm>
            <a:off x="642043" y="4848682"/>
            <a:ext cx="2587423" cy="1641969"/>
          </a:xfrm>
          <a:prstGeom prst="rect">
            <a:avLst/>
          </a:prstGeom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50000"/>
              </a:lnSpc>
              <a:spcBef>
                <a:spcPts val="375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PMTEC数字孪生战场可运行可推演系统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eyJfdGVtcGxhdGVEYXRhIjp7ImNvbnRlbnRUeXBlIjoiJGl0ZW0xX2MiLCJsaW5lQ291bnQiOiI1Iiwid29yZENvdW50IjoiMTIifSwidGFnIjoiJGl0ZW0xX2MifQ==</bd:templateData>
          </p:ext>
        </p:extLst>
      </p:sp>
      <p:sp>
        <p:nvSpPr>
          <p:cNvPr id="18" name="TextBox 18"/>
          <p:cNvSpPr txBox="1"/>
          <p:nvPr/>
        </p:nvSpPr>
        <p:spPr>
          <a:xfrm>
            <a:off x="3520662" y="1557522"/>
            <a:ext cx="2354768" cy="2695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第一级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eyJfdGVtcGxhdGVEYXRhIjp7ImNvbnRlbnRUeXBlIjoiJGl0ZW0yX3RpdGxlIiwibGluZUNvdW50IjoiMSIsIndvcmRDb3VudCI6IjcifSwidGFnIjoiJGl0ZW0yX3RpdGxlIn0=</bd:templateData>
          </p:ext>
        </p:extLst>
      </p:sp>
      <p:sp>
        <p:nvSpPr>
          <p:cNvPr id="19" name="TextBox 19"/>
          <p:cNvSpPr txBox="1"/>
          <p:nvPr/>
        </p:nvSpPr>
        <p:spPr>
          <a:xfrm>
            <a:off x="3404335" y="1847760"/>
            <a:ext cx="2587423" cy="1732139"/>
          </a:xfrm>
          <a:prstGeom prst="rect">
            <a:avLst/>
          </a:prstGeom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50000"/>
              </a:lnSpc>
              <a:spcBef>
                <a:spcPts val="375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22个INDOPACOM基地GIS标绘与情报档案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eyJfdGVtcGxhdGVEYXRhIjp7ImNvbnRlbnRUeXBlIjoiJGl0ZW0yX2MiLCJsaW5lQ291bnQiOiI1Iiwid29yZENvdW50IjoiMTIifSwidGFnIjoiJGl0ZW0yX2MifQ==</bd:templateData>
          </p:ext>
        </p:extLst>
      </p:sp>
      <p:sp>
        <p:nvSpPr>
          <p:cNvPr id="20" name="TextBox 20"/>
          <p:cNvSpPr txBox="1"/>
          <p:nvPr/>
        </p:nvSpPr>
        <p:spPr>
          <a:xfrm>
            <a:off x="6299762" y="4476963"/>
            <a:ext cx="2354768" cy="2695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4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层层递进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eyJfdGVtcGxhdGVEYXRhIjp7ImNvbnRlbnRUeXBlIjoiJGl0ZW0zX3RpdGxlIiwibGluZUNvdW50IjoiMSIsIndvcmRDb3VudCI6IjcifSwidGFnIjoiJGl0ZW0zX3RpdGxlIn0=</bd:templateData>
          </p:ext>
        </p:extLst>
      </p:sp>
      <p:sp>
        <p:nvSpPr>
          <p:cNvPr id="21" name="TextBox 21"/>
          <p:cNvSpPr txBox="1"/>
          <p:nvPr/>
        </p:nvSpPr>
        <p:spPr>
          <a:xfrm>
            <a:off x="6183434" y="4852786"/>
            <a:ext cx="2587423" cy="1637865"/>
          </a:xfrm>
          <a:prstGeom prst="rect">
            <a:avLst/>
          </a:prstGeom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50000"/>
              </a:lnSpc>
              <a:spcBef>
                <a:spcPts val="375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前级为后级基础逐级逼近真实冲突场景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eyJfdGVtcGxhdGVEYXRhIjp7ImNvbnRlbnRUeXBlIjoiJGl0ZW0zX2MiLCJsaW5lQ291bnQiOiI1Iiwid29yZENvdW50IjoiMTIifSwidGFnIjoiJGl0ZW0zX2MifQ==</bd:templateData>
          </p:ext>
        </p:extLst>
      </p:sp>
      <p:sp>
        <p:nvSpPr>
          <p:cNvPr id="22" name="TextBox 22"/>
          <p:cNvSpPr txBox="1"/>
          <p:nvPr/>
        </p:nvSpPr>
        <p:spPr>
          <a:xfrm>
            <a:off x="9078861" y="1557522"/>
            <a:ext cx="2354768" cy="2695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6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第二级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eyJfdGVtcGxhdGVEYXRhIjp7ImNvbnRlbnRUeXBlIjoiJGl0ZW00X3RpdGxlIiwibGluZUNvdW50IjoiMSIsIndvcmRDb3VudCI6IjcifSwidGFnIjoiJGl0ZW00X3RpdGxlIn0=</bd:templateData>
          </p:ext>
        </p:extLst>
      </p:sp>
      <p:sp>
        <p:nvSpPr>
          <p:cNvPr id="23" name="TextBox 23"/>
          <p:cNvSpPr txBox="1"/>
          <p:nvPr/>
        </p:nvSpPr>
        <p:spPr>
          <a:xfrm>
            <a:off x="8962534" y="1874374"/>
            <a:ext cx="2587423" cy="1678910"/>
          </a:xfrm>
          <a:prstGeom prst="rect">
            <a:avLst/>
          </a:prstGeom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50000"/>
              </a:lnSpc>
              <a:spcBef>
                <a:spcPts val="375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ACE分布式部署算法与攻防响应分析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eyJfdGVtcGxhdGVEYXRhIjp7ImNvbnRlbnRUeXBlIjoiJGl0ZW00X2MiLCJsaW5lQ291bnQiOiI1Iiwid29yZENvdW50IjoiMTIifSwidGFnIjoiJGl0ZW00X2MifQ==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="" xmlns:bd="http://schemas.baidu.com/office/drawing/2023/templateData">eyJtZCI6IiMjIOivt+i+k+WFpeacrOmhteagh+mimFxuIyMjIOa3u+WKoOWwj+agh+mimFxu6K+35Zyo5q2k5aSE6L6T5YWl5oKo55qE5q2j5paH5YaF5a6544CC5paH5a2X5Luj6KGo5oKo55qE5Li76aKY5oCd5oOz77yM6K+35Yqb5rGC566A5piO5Zyw6KGo6L6+5oKo55qE6KeC54K544CC5Y+v6YCC5bqm5Yig5YeP5paH5a2X5Lul56Gu5L+d5L+h5oGv55qE5riF5pmw5ZKM57K+56Gu5Lyg6L6+77yM5ZCM5pe2XG4jIyMg5re75Yqg5bCP5qCH6aKYXG7or7flnKjmraTlpITovpPlhaXmgqjnmoTmraPmloflhoXlrrnjgILmloflrZfku6PooajmgqjnmoTkuLvpopjmgJ3mg7PvvIzor7flipvmsYLnroDmmI7lnLDooajovr7mgqjnmoTop4LngrnjgILlj6/pgILluqbliKDlh4/mloflrZfku6Xnoa7kv53kv6Hmga/nmoTmuIXmmbDlkoznsr7noa7kvKDovr7vvIzlkIzml7ZcbiMjIyDmt7vliqDlsI/moIfpophcbuivt+WcqOatpOWkhOi+k+WFpeaCqOeahOato+aWh+WGheWuueOAguaWh+Wtl+S7o+ihqOaCqOeahOS4u+mimOaAneaDs++8jOivt+WKm+axgueugOaYjuWcsOihqOi+vuaCqOeahOingueCueOAguWPr+mAguW6puWIoOWHj+aWh+Wtl+S7peehruS/neS/oeaBr+eahOa4heaZsOWSjOeyvuehruS8oOi+vu+8jOWQjOaXtlxuIyMjIOa3u+WKoOWwj+agh+mimFxu6K+35Zyo5q2k5aSE6L6T5YWl5oKo55qE5q2j5paH5YaF5a6544CC5paH5a2X5Luj6KGo5oKo55qE5Li76aKY5oCd5oOz77yM6K+35Yqb5rGC566A5piO5Zyw6KGo6L6+5oKo55qE6KeC54K544CC5Y+v6YCC5bqm5Yig5YeP5paH5a2X5Lul56Gu5L+d5L+h5oGv55qE5riF5pmw5ZKM57K+56Gu5Lyg6L6+77yM5ZCM5pe2IiwidHBsaWQiOiI2OSIsInRwbE5hbWUiOiJsaXN0NF8yMDI1MDcwMzIyIiwiZWRpdGVkIjoiZmFsc2UifQ==</bd:templateData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5773" y="642236"/>
            <a:ext cx="12623152" cy="12623152"/>
          </a:xfrm>
          <a:prstGeom prst="ellipse">
            <a:avLst/>
          </a:prstGeom>
          <a:noFill/>
          <a:ln w="126968">
            <a:solidFill>
              <a:schemeClr val="accent4">
                <a:alpha val="28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3" name="Freeform 3"/>
          <p:cNvSpPr/>
          <p:nvPr/>
        </p:nvSpPr>
        <p:spPr>
          <a:xfrm rot="5400000">
            <a:off x="6751502" y="1258221"/>
            <a:ext cx="6248400" cy="6248400"/>
          </a:xfrm>
          <a:custGeom>
            <a:avLst/>
            <a:gdLst/>
            <a:ahLst/>
            <a:cxnLst/>
            <a:rect l="l" t="t" r="r" b="b"/>
            <a:pathLst>
              <a:path w="2761783" h="2619753">
                <a:moveTo>
                  <a:pt x="9806" y="0"/>
                </a:moveTo>
                <a:lnTo>
                  <a:pt x="1229756" y="0"/>
                </a:lnTo>
                <a:lnTo>
                  <a:pt x="1219044" y="70187"/>
                </a:lnTo>
                <a:cubicBezTo>
                  <a:pt x="1214904" y="110957"/>
                  <a:pt x="1212783" y="152325"/>
                  <a:pt x="1212783" y="194187"/>
                </a:cubicBezTo>
                <a:cubicBezTo>
                  <a:pt x="1212783" y="863989"/>
                  <a:pt x="1755764" y="1406970"/>
                  <a:pt x="2425566" y="1406970"/>
                </a:cubicBezTo>
                <a:cubicBezTo>
                  <a:pt x="2509291" y="1406970"/>
                  <a:pt x="2591035" y="1398486"/>
                  <a:pt x="2669984" y="1382331"/>
                </a:cubicBezTo>
                <a:lnTo>
                  <a:pt x="2761783" y="1358727"/>
                </a:lnTo>
                <a:lnTo>
                  <a:pt x="2761783" y="2593767"/>
                </a:lnTo>
                <a:lnTo>
                  <a:pt x="2673566" y="2607230"/>
                </a:lnTo>
                <a:cubicBezTo>
                  <a:pt x="2592026" y="2615511"/>
                  <a:pt x="2509291" y="2619753"/>
                  <a:pt x="2425566" y="2619753"/>
                </a:cubicBezTo>
                <a:cubicBezTo>
                  <a:pt x="1085963" y="2619753"/>
                  <a:pt x="0" y="1533790"/>
                  <a:pt x="0" y="194187"/>
                </a:cubicBezTo>
              </a:path>
            </a:pathLst>
          </a:custGeom>
          <a:solidFill>
            <a:schemeClr val="accent4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eyJfdGVtcGxhdGVEYXRhIjp7ImxpbmVDb3VudCI6IjM1Iiwid29yZENvdW50IjoiNDQifSwidGFnIjoibm9FZGl0In0=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第一级 太平洋战区军事基地GIS应用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eyJfdGVtcGxhdGVEYXRhIjp7ImNvbnRlbnRUeXBlIjoiJHRpdGxlIiwibGluZUNvdW50IjoiMSIsIndvcmRDb3VudCI6IjI4In0sInRhZyI6IiR0aXRsZSJ9</bd:templateData>
          </p:ext>
        </p:extLst>
      </p:sp>
      <p:grpSp>
        <p:nvGrpSpPr>
          <p:cNvPr id="5" name="Group 5"/>
          <p:cNvGrpSpPr/>
          <p:nvPr/>
        </p:nvGrpSpPr>
        <p:grpSpPr>
          <a:xfrm>
            <a:off x="8239598" y="1487847"/>
            <a:ext cx="647700" cy="647700"/>
            <a:chOff x="8239598" y="1487847"/>
            <a:chExt cx="647700" cy="647700"/>
          </a:xfrm>
        </p:grpSpPr>
        <p:sp>
          <p:nvSpPr>
            <p:cNvPr id="6" name="AutoShape 6"/>
            <p:cNvSpPr/>
            <p:nvPr/>
          </p:nvSpPr>
          <p:spPr>
            <a:xfrm>
              <a:off x="8239598" y="1487847"/>
              <a:ext cx="647700" cy="6477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8417447" y="1667540"/>
              <a:ext cx="292001" cy="292001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209550"/>
                  </a:moveTo>
                  <a:lnTo>
                    <a:pt x="152410" y="247650"/>
                  </a:lnTo>
                  <a:lnTo>
                    <a:pt x="304800" y="209550"/>
                  </a:lnTo>
                  <a:lnTo>
                    <a:pt x="304800" y="247650"/>
                  </a:lnTo>
                  <a:lnTo>
                    <a:pt x="152410" y="285750"/>
                  </a:lnTo>
                  <a:lnTo>
                    <a:pt x="0" y="247650"/>
                  </a:lnTo>
                  <a:close/>
                </a:path>
                <a:path w="304800" h="304800">
                  <a:moveTo>
                    <a:pt x="0" y="133350"/>
                  </a:moveTo>
                  <a:lnTo>
                    <a:pt x="152410" y="171450"/>
                  </a:lnTo>
                  <a:lnTo>
                    <a:pt x="304800" y="133350"/>
                  </a:lnTo>
                  <a:lnTo>
                    <a:pt x="304800" y="171450"/>
                  </a:lnTo>
                  <a:lnTo>
                    <a:pt x="152410" y="209550"/>
                  </a:lnTo>
                  <a:lnTo>
                    <a:pt x="0" y="171450"/>
                  </a:lnTo>
                  <a:close/>
                </a:path>
                <a:path w="304800" h="304800">
                  <a:moveTo>
                    <a:pt x="0" y="57150"/>
                  </a:moveTo>
                  <a:lnTo>
                    <a:pt x="152410" y="19050"/>
                  </a:lnTo>
                  <a:lnTo>
                    <a:pt x="304800" y="57150"/>
                  </a:lnTo>
                  <a:lnTo>
                    <a:pt x="304800" y="95250"/>
                  </a:lnTo>
                  <a:lnTo>
                    <a:pt x="152410" y="133350"/>
                  </a:lnTo>
                  <a:lnTo>
                    <a:pt x="0" y="9525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" name="AutoShape 8"/>
          <p:cNvSpPr/>
          <p:nvPr/>
        </p:nvSpPr>
        <p:spPr>
          <a:xfrm>
            <a:off x="1555234" y="4945270"/>
            <a:ext cx="4410330" cy="492557"/>
          </a:xfrm>
          <a:prstGeom prst="rect">
            <a:avLst/>
          </a:prstGeom>
          <a:noFill/>
          <a:ln/>
        </p:spPr>
        <p:txBody>
          <a:bodyPr vert="horz" wrap="square" lIns="76200" tIns="45720" rIns="91440" bIns="45720" rtlCol="0" anchor="t" anchorCtr="1">
            <a:noAutofit/>
          </a:bodyPr>
          <a:lstStyle/>
          <a:p>
            <a:pPr algn="r">
              <a:defRPr/>
            </a:pPr>
            <a:r>
              <a:rPr lang="en-US" sz="2400" b="1">
                <a:solidFill>
                  <a:schemeClr val="accent6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基地档案</a:t>
            </a:r>
            <a:endParaRPr lang="en-US" sz="1100"/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eyJfdGVtcGxhdGVEYXRhIjp7ImNvbnRlbnRUeXBlIjoiJGl0ZW0zX3RpdGxlIiwibGluZUNvdW50IjoiMSIsIndvcmRDb3VudCI6IjEyIn0sInRhZyI6IiRpdGVtM190aXRsZSJ9</bd:templateData>
          </p:ext>
        </p:extLst>
      </p:sp>
      <p:sp>
        <p:nvSpPr>
          <p:cNvPr id="9" name="TextBox 9"/>
          <p:cNvSpPr txBox="1"/>
          <p:nvPr/>
        </p:nvSpPr>
        <p:spPr>
          <a:xfrm>
            <a:off x="748344" y="5526236"/>
            <a:ext cx="5193447" cy="938750"/>
          </a:xfrm>
          <a:prstGeom prst="rect">
            <a:avLst/>
          </a:prstGeom>
          <a:ln/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每个基地生成详细说明文档 含VS26实战角色标注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eyJfdGVtcGxhdGVEYXRhIjp7ImNvbnRlbnRUeXBlIjoiJGl0ZW0zX2MiLCJsaW5lQ291bnQiOiIzIiwid29yZENvdW50IjoiMjgifSwidGFnIjoiJGl0ZW0zX2MifQ==</bd:templateData>
          </p:ext>
        </p:extLst>
      </p:sp>
      <p:sp>
        <p:nvSpPr>
          <p:cNvPr id="10" name="AutoShape 10"/>
          <p:cNvSpPr/>
          <p:nvPr/>
        </p:nvSpPr>
        <p:spPr>
          <a:xfrm>
            <a:off x="3605243" y="1308858"/>
            <a:ext cx="4410330" cy="492557"/>
          </a:xfrm>
          <a:prstGeom prst="rect">
            <a:avLst/>
          </a:prstGeom>
          <a:noFill/>
          <a:ln/>
        </p:spPr>
        <p:txBody>
          <a:bodyPr vert="horz" wrap="square" lIns="76200" tIns="45720" rIns="91440" bIns="45720" rtlCol="0" anchor="t" anchorCtr="1">
            <a:noAutofit/>
          </a:bodyPr>
          <a:lstStyle/>
          <a:p>
            <a:pPr algn="r"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数据采集</a:t>
            </a:r>
            <a:endParaRPr lang="en-US" sz="1100"/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eyJfdGVtcGxhdGVEYXRhIjp7ImNvbnRlbnRUeXBlIjoiJGl0ZW0xX3RpdGxlIiwibGluZUNvdW50IjoiMSIsIndvcmRDb3VudCI6IjEyIn0sInRhZyI6IiRpdGVtMV90aXRsZSJ9</bd:templateData>
          </p:ext>
        </p:extLst>
      </p:sp>
      <p:sp>
        <p:nvSpPr>
          <p:cNvPr id="11" name="TextBox 11"/>
          <p:cNvSpPr txBox="1"/>
          <p:nvPr/>
        </p:nvSpPr>
        <p:spPr>
          <a:xfrm>
            <a:off x="3013021" y="1874069"/>
            <a:ext cx="5002552" cy="1006453"/>
          </a:xfrm>
          <a:prstGeom prst="rect">
            <a:avLst/>
          </a:prstGeom>
          <a:ln/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22个INDOPACOM基地 WGS-84坐标 含跑道参数 驻扎装备 防御设施 后勤保障等7类情报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eyJfdGVtcGxhdGVEYXRhIjp7ImNvbnRlbnRUeXBlIjoiJGl0ZW0xX2MiLCJsaW5lQ291bnQiOiIzIiwid29yZENvdW50IjoiMjcifSwidGFnIjoiJGl0ZW0xX2MifQ==</bd:templateData>
          </p:ext>
        </p:extLst>
      </p:sp>
      <p:grpSp>
        <p:nvGrpSpPr>
          <p:cNvPr id="12" name="Group 12"/>
          <p:cNvGrpSpPr/>
          <p:nvPr/>
        </p:nvGrpSpPr>
        <p:grpSpPr>
          <a:xfrm>
            <a:off x="6052474" y="5035176"/>
            <a:ext cx="647700" cy="647700"/>
            <a:chOff x="6052474" y="5035176"/>
            <a:chExt cx="647700" cy="647700"/>
          </a:xfrm>
        </p:grpSpPr>
        <p:sp>
          <p:nvSpPr>
            <p:cNvPr id="13" name="AutoShape 13"/>
            <p:cNvSpPr/>
            <p:nvPr/>
          </p:nvSpPr>
          <p:spPr>
            <a:xfrm>
              <a:off x="6052474" y="5035176"/>
              <a:ext cx="647700" cy="647700"/>
            </a:xfrm>
            <a:prstGeom prst="ellipse">
              <a:avLst/>
            </a:prstGeom>
            <a:solidFill>
              <a:schemeClr val="accent6">
                <a:alpha val="100000"/>
              </a:scheme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207675" y="5190377"/>
              <a:ext cx="337298" cy="337298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47180" y="28632"/>
                  </a:moveTo>
                  <a:lnTo>
                    <a:pt x="19907" y="83468"/>
                  </a:lnTo>
                  <a:lnTo>
                    <a:pt x="147304" y="137874"/>
                  </a:lnTo>
                  <a:lnTo>
                    <a:pt x="276015" y="83344"/>
                  </a:lnTo>
                  <a:lnTo>
                    <a:pt x="147180" y="28632"/>
                  </a:lnTo>
                  <a:close/>
                </a:path>
                <a:path w="304800" h="304800">
                  <a:moveTo>
                    <a:pt x="152400" y="144723"/>
                  </a:moveTo>
                  <a:lnTo>
                    <a:pt x="152400" y="276168"/>
                  </a:lnTo>
                  <a:lnTo>
                    <a:pt x="276177" y="217408"/>
                  </a:lnTo>
                  <a:lnTo>
                    <a:pt x="276177" y="92145"/>
                  </a:lnTo>
                  <a:lnTo>
                    <a:pt x="152400" y="144723"/>
                  </a:lnTo>
                  <a:close/>
                </a:path>
                <a:path w="304800" h="304800">
                  <a:moveTo>
                    <a:pt x="19098" y="217408"/>
                  </a:moveTo>
                  <a:lnTo>
                    <a:pt x="143294" y="276168"/>
                  </a:lnTo>
                  <a:lnTo>
                    <a:pt x="143294" y="144723"/>
                  </a:lnTo>
                  <a:lnTo>
                    <a:pt x="19098" y="92145"/>
                  </a:lnTo>
                  <a:lnTo>
                    <a:pt x="19098" y="217408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" name="AutoShape 15"/>
          <p:cNvSpPr/>
          <p:nvPr/>
        </p:nvSpPr>
        <p:spPr>
          <a:xfrm>
            <a:off x="7348536" y="1809935"/>
            <a:ext cx="590837" cy="56793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6" name="AutoShape 16"/>
          <p:cNvSpPr/>
          <p:nvPr/>
        </p:nvSpPr>
        <p:spPr>
          <a:xfrm>
            <a:off x="5255738" y="5449097"/>
            <a:ext cx="590837" cy="56793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7" name="AutoShape 17"/>
          <p:cNvSpPr/>
          <p:nvPr/>
        </p:nvSpPr>
        <p:spPr>
          <a:xfrm>
            <a:off x="5255738" y="5449097"/>
            <a:ext cx="590837" cy="56793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8" name="AutoShape 18"/>
          <p:cNvSpPr/>
          <p:nvPr/>
        </p:nvSpPr>
        <p:spPr>
          <a:xfrm>
            <a:off x="5255738" y="5449097"/>
            <a:ext cx="590837" cy="56793"/>
          </a:xfrm>
          <a:prstGeom prst="rect">
            <a:avLst/>
          </a:prstGeom>
          <a:solidFill>
            <a:schemeClr val="accent6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9" name="AutoShape 19"/>
          <p:cNvSpPr/>
          <p:nvPr/>
        </p:nvSpPr>
        <p:spPr>
          <a:xfrm>
            <a:off x="2170506" y="3144938"/>
            <a:ext cx="4410330" cy="492557"/>
          </a:xfrm>
          <a:prstGeom prst="rect">
            <a:avLst/>
          </a:prstGeom>
          <a:noFill/>
          <a:ln/>
        </p:spPr>
        <p:txBody>
          <a:bodyPr vert="horz" wrap="square" lIns="76200" tIns="45720" rIns="91440" bIns="45720" rtlCol="0" anchor="t" anchorCtr="1">
            <a:noAutofit/>
          </a:bodyPr>
          <a:lstStyle/>
          <a:p>
            <a:pPr algn="r">
              <a:defRPr/>
            </a:pPr>
            <a:r>
              <a:rPr lang="en-US" sz="2400" b="1">
                <a:solidFill>
                  <a:schemeClr val="accent4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开源GIS标绘</a:t>
            </a:r>
            <a:endParaRPr lang="en-US" sz="1100"/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eyJfdGVtcGxhdGVEYXRhIjp7ImNvbnRlbnRUeXBlIjoiJGl0ZW0yX3RpdGxlIiwibGluZUNvdW50IjoiMSIsIndvcmRDb3VudCI6IjEyIn0sInRhZyI6IiRpdGVtMl90aXRsZSJ9</bd:templateData>
          </p:ext>
        </p:extLst>
      </p:sp>
      <p:sp>
        <p:nvSpPr>
          <p:cNvPr id="20" name="TextBox 20"/>
          <p:cNvSpPr txBox="1"/>
          <p:nvPr/>
        </p:nvSpPr>
        <p:spPr>
          <a:xfrm>
            <a:off x="1589491" y="3734428"/>
            <a:ext cx="4991345" cy="1022240"/>
          </a:xfrm>
          <a:prstGeom prst="rect">
            <a:avLst/>
          </a:prstGeom>
          <a:ln/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QGIS工程文件与Leaflet交互式HTML地图 支持图层切换与基地详情弹窗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eyJfdGVtcGxhdGVEYXRhIjp7ImNvbnRlbnRUeXBlIjoiJGl0ZW0yX2MiLCJsaW5lQ291bnQiOiIzIiwid29yZENvdW50IjoiMjcifSwidGFnIjoiJGl0ZW0yX2MifQ==</bd:templateData>
          </p:ext>
        </p:extLst>
      </p:sp>
      <p:grpSp>
        <p:nvGrpSpPr>
          <p:cNvPr id="21" name="Group 21"/>
          <p:cNvGrpSpPr/>
          <p:nvPr/>
        </p:nvGrpSpPr>
        <p:grpSpPr>
          <a:xfrm>
            <a:off x="6810410" y="3094034"/>
            <a:ext cx="647700" cy="647700"/>
            <a:chOff x="6810410" y="3094034"/>
            <a:chExt cx="647700" cy="647700"/>
          </a:xfrm>
        </p:grpSpPr>
        <p:sp>
          <p:nvSpPr>
            <p:cNvPr id="22" name="AutoShape 22"/>
            <p:cNvSpPr/>
            <p:nvPr/>
          </p:nvSpPr>
          <p:spPr>
            <a:xfrm>
              <a:off x="6810410" y="3094034"/>
              <a:ext cx="647700" cy="647700"/>
            </a:xfrm>
            <a:prstGeom prst="ellipse">
              <a:avLst/>
            </a:prstGeom>
            <a:solidFill>
              <a:schemeClr val="accent4">
                <a:alpha val="100000"/>
              </a:scheme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6976889" y="3260511"/>
              <a:ext cx="314744" cy="314744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30883" y="184766"/>
                  </a:moveTo>
                  <a:lnTo>
                    <a:pt x="35557" y="89516"/>
                  </a:lnTo>
                  <a:cubicBezTo>
                    <a:pt x="-11849" y="144323"/>
                    <a:pt x="-11849" y="225219"/>
                    <a:pt x="35557" y="280016"/>
                  </a:cubicBezTo>
                  <a:lnTo>
                    <a:pt x="130883" y="184766"/>
                  </a:lnTo>
                  <a:close/>
                </a:path>
                <a:path w="304800" h="304800">
                  <a:moveTo>
                    <a:pt x="190510" y="39605"/>
                  </a:moveTo>
                  <a:lnTo>
                    <a:pt x="190510" y="179108"/>
                  </a:lnTo>
                  <a:lnTo>
                    <a:pt x="91907" y="277749"/>
                  </a:lnTo>
                  <a:cubicBezTo>
                    <a:pt x="114081" y="294303"/>
                    <a:pt x="141018" y="304800"/>
                    <a:pt x="170783" y="304800"/>
                  </a:cubicBezTo>
                  <a:cubicBezTo>
                    <a:pt x="244821" y="304800"/>
                    <a:pt x="304800" y="244897"/>
                    <a:pt x="304800" y="170888"/>
                  </a:cubicBezTo>
                  <a:cubicBezTo>
                    <a:pt x="304810" y="103661"/>
                    <a:pt x="254965" y="49187"/>
                    <a:pt x="190510" y="39605"/>
                  </a:cubicBezTo>
                  <a:close/>
                </a:path>
                <a:path w="304800" h="304800">
                  <a:moveTo>
                    <a:pt x="152400" y="152552"/>
                  </a:moveTo>
                  <a:lnTo>
                    <a:pt x="152400" y="0"/>
                  </a:lnTo>
                  <a:cubicBezTo>
                    <a:pt x="110881" y="2572"/>
                    <a:pt x="73371" y="18459"/>
                    <a:pt x="43082" y="43215"/>
                  </a:cubicBezTo>
                  <a:lnTo>
                    <a:pt x="152400" y="152552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" name="AutoShape 24"/>
          <p:cNvSpPr/>
          <p:nvPr/>
        </p:nvSpPr>
        <p:spPr>
          <a:xfrm>
            <a:off x="5844057" y="3666659"/>
            <a:ext cx="590837" cy="56793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25" name="AutoShape 25"/>
          <p:cNvSpPr/>
          <p:nvPr/>
        </p:nvSpPr>
        <p:spPr>
          <a:xfrm>
            <a:off x="5844057" y="3666659"/>
            <a:ext cx="590837" cy="56793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26" name="AutoShape 26"/>
          <p:cNvSpPr/>
          <p:nvPr/>
        </p:nvSpPr>
        <p:spPr>
          <a:xfrm>
            <a:off x="5844057" y="3666659"/>
            <a:ext cx="590837" cy="56793"/>
          </a:xfrm>
          <a:prstGeom prst="rect">
            <a:avLst/>
          </a:prstGeom>
          <a:solidFill>
            <a:schemeClr val="accent4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="" xmlns:bd="http://schemas.baidu.com/office/drawing/2023/templateData">eyJtZCI6IiMjIOivt+i+k+WFpeacrOmhteagh+mimFxuIyMjIOa3u+WKoOWwj+agh+mimFxu6K+35Zyo5q2k5aSE6L6T5YWl5oKo55qE5q2j5paH5YaF5a6544CC5paH5a2X5Luj6KGo5oKo55qE5Li76aKY5oCd5oOz77yM6K+35Yqb5rGC566A5piO5Zyw6KGo6L6+5oKo55qE6KeC54K544CC5Y+v6YCC5bqm5Yig5YeP5paH5a2X5Lul56Gu5L+d5L+h5oGv55qE5riF5pmw5ZKM57K+56Gu5Lyg6L6+77yM5ZCM5pe25Lmf6KaB5YWz5rOo5paH5a2X55qE6YC76L6R5oCn5ZKM5p2h55CG5oCn77yM5Lul5Yqp5LqO5LuW5Lq65pu0XG4jIyMg5re75Yqg5bCP5qCH6aKYXG7or7flnKjmraTlpITovpPlhaXmgqjnmoTmraPmloflhoXlrrnjgILmloflrZfku6PooajmgqjnmoTkuLvpopjmgJ3mg7PvvIzor7flipvmsYLnroDmmI7lnLDooajovr7mgqjnmoTop4LngrnjgILlj6/pgILluqbliKDlh4/mloflrZfku6Xnoa7kv53kv6Hmga/nmoTmuIXmmbDlkoznsr7noa7kvKDovr7vvIzlkIzml7bkuZ/opoHlhbPms6jmloflrZfnmoTpgLvovpHmgKflkozmnaHnkIbmgKfvvIzku6Xliqnkuo7ku5bkurrmm7RcbiMjIyDmt7vliqDlsI/moIfpophcbuivt+WcqOatpOWkhOi+k+WFpeaCqOeahOato+aWh+WGheWuueOAguaWh+Wtl+S7o+ihqOaCqOeahOS4u+mimOaAneaDs++8jOivt+WKm+axgueugOaYjuWcsOihqOi+vuaCqOeahOingueCueOAguWPr+mAguW6puWIoOWHj+aWh+Wtl+S7peehruS/neS/oeaBr+eahOa4heaZsOWSjOeyvuehruS8oOi+vu+8jOWQjOaXtuS5n+imgeWFs+azqOaWh+Wtl+eahOmAu+i+keaAp+WSjOadoeeQhuaAp++8jOS7peWKqeS6juS7luS6uuabtCIsInRwbGlkIjoiNjkiLCJ0cGxOYW1lIjoibGlzdDNfMjAyNTA3MDMyMCIsImVkaXRlZCI6ImZhbHNlIn0=</bd:templateData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32070" y="2742152"/>
            <a:ext cx="3380137" cy="4106323"/>
          </a:xfrm>
          <a:custGeom>
            <a:avLst/>
            <a:gdLst/>
            <a:ahLst/>
            <a:cxnLst/>
            <a:rect l="l" t="t" r="r" b="b"/>
            <a:pathLst>
              <a:path w="14406" h="18578">
                <a:moveTo>
                  <a:pt x="5369" y="18578"/>
                </a:moveTo>
                <a:lnTo>
                  <a:pt x="9559" y="18578"/>
                </a:lnTo>
                <a:lnTo>
                  <a:pt x="9552" y="18522"/>
                </a:lnTo>
                <a:lnTo>
                  <a:pt x="9530" y="18364"/>
                </a:lnTo>
                <a:lnTo>
                  <a:pt x="9495" y="18115"/>
                </a:lnTo>
                <a:lnTo>
                  <a:pt x="9450" y="17786"/>
                </a:lnTo>
                <a:lnTo>
                  <a:pt x="9395" y="17390"/>
                </a:lnTo>
                <a:lnTo>
                  <a:pt x="9333" y="16940"/>
                </a:lnTo>
                <a:lnTo>
                  <a:pt x="9265" y="16445"/>
                </a:lnTo>
                <a:lnTo>
                  <a:pt x="9192" y="15920"/>
                </a:lnTo>
                <a:lnTo>
                  <a:pt x="9116" y="15376"/>
                </a:lnTo>
                <a:lnTo>
                  <a:pt x="9041" y="14824"/>
                </a:lnTo>
                <a:lnTo>
                  <a:pt x="8964" y="14277"/>
                </a:lnTo>
                <a:lnTo>
                  <a:pt x="8891" y="13747"/>
                </a:lnTo>
                <a:lnTo>
                  <a:pt x="8821" y="13245"/>
                </a:lnTo>
                <a:lnTo>
                  <a:pt x="8758" y="12784"/>
                </a:lnTo>
                <a:lnTo>
                  <a:pt x="8700" y="12375"/>
                </a:lnTo>
                <a:lnTo>
                  <a:pt x="8652" y="12032"/>
                </a:lnTo>
                <a:lnTo>
                  <a:pt x="8630" y="11879"/>
                </a:lnTo>
                <a:lnTo>
                  <a:pt x="8610" y="11730"/>
                </a:lnTo>
                <a:lnTo>
                  <a:pt x="8592" y="11583"/>
                </a:lnTo>
                <a:lnTo>
                  <a:pt x="8574" y="11441"/>
                </a:lnTo>
                <a:lnTo>
                  <a:pt x="8559" y="11299"/>
                </a:lnTo>
                <a:lnTo>
                  <a:pt x="8546" y="11161"/>
                </a:lnTo>
                <a:lnTo>
                  <a:pt x="8536" y="11024"/>
                </a:lnTo>
                <a:lnTo>
                  <a:pt x="8529" y="10889"/>
                </a:lnTo>
                <a:lnTo>
                  <a:pt x="8524" y="10756"/>
                </a:lnTo>
                <a:lnTo>
                  <a:pt x="8523" y="10623"/>
                </a:lnTo>
                <a:lnTo>
                  <a:pt x="8527" y="10492"/>
                </a:lnTo>
                <a:lnTo>
                  <a:pt x="8534" y="10362"/>
                </a:lnTo>
                <a:lnTo>
                  <a:pt x="8545" y="10232"/>
                </a:lnTo>
                <a:lnTo>
                  <a:pt x="8561" y="10103"/>
                </a:lnTo>
                <a:lnTo>
                  <a:pt x="8582" y="9974"/>
                </a:lnTo>
                <a:lnTo>
                  <a:pt x="8608" y="9844"/>
                </a:lnTo>
                <a:lnTo>
                  <a:pt x="8640" y="9715"/>
                </a:lnTo>
                <a:lnTo>
                  <a:pt x="8678" y="9584"/>
                </a:lnTo>
                <a:lnTo>
                  <a:pt x="8722" y="9453"/>
                </a:lnTo>
                <a:lnTo>
                  <a:pt x="8772" y="9322"/>
                </a:lnTo>
                <a:lnTo>
                  <a:pt x="8828" y="9188"/>
                </a:lnTo>
                <a:lnTo>
                  <a:pt x="8892" y="9053"/>
                </a:lnTo>
                <a:lnTo>
                  <a:pt x="8963" y="8916"/>
                </a:lnTo>
                <a:lnTo>
                  <a:pt x="9042" y="8778"/>
                </a:lnTo>
                <a:lnTo>
                  <a:pt x="9129" y="8638"/>
                </a:lnTo>
                <a:lnTo>
                  <a:pt x="9224" y="8494"/>
                </a:lnTo>
                <a:lnTo>
                  <a:pt x="9328" y="8348"/>
                </a:lnTo>
                <a:lnTo>
                  <a:pt x="9440" y="8199"/>
                </a:lnTo>
                <a:lnTo>
                  <a:pt x="9562" y="8048"/>
                </a:lnTo>
                <a:lnTo>
                  <a:pt x="9692" y="7892"/>
                </a:lnTo>
                <a:lnTo>
                  <a:pt x="9834" y="7733"/>
                </a:lnTo>
                <a:lnTo>
                  <a:pt x="9984" y="7571"/>
                </a:lnTo>
                <a:lnTo>
                  <a:pt x="10140" y="7411"/>
                </a:lnTo>
                <a:lnTo>
                  <a:pt x="10296" y="7263"/>
                </a:lnTo>
                <a:lnTo>
                  <a:pt x="10452" y="7126"/>
                </a:lnTo>
                <a:lnTo>
                  <a:pt x="10607" y="6999"/>
                </a:lnTo>
                <a:lnTo>
                  <a:pt x="10763" y="6882"/>
                </a:lnTo>
                <a:lnTo>
                  <a:pt x="10916" y="6775"/>
                </a:lnTo>
                <a:lnTo>
                  <a:pt x="11068" y="6676"/>
                </a:lnTo>
                <a:lnTo>
                  <a:pt x="11219" y="6587"/>
                </a:lnTo>
                <a:lnTo>
                  <a:pt x="11366" y="6506"/>
                </a:lnTo>
                <a:lnTo>
                  <a:pt x="11513" y="6433"/>
                </a:lnTo>
                <a:lnTo>
                  <a:pt x="11656" y="6368"/>
                </a:lnTo>
                <a:lnTo>
                  <a:pt x="11795" y="6310"/>
                </a:lnTo>
                <a:lnTo>
                  <a:pt x="11932" y="6257"/>
                </a:lnTo>
                <a:lnTo>
                  <a:pt x="12064" y="6212"/>
                </a:lnTo>
                <a:lnTo>
                  <a:pt x="12192" y="6173"/>
                </a:lnTo>
                <a:lnTo>
                  <a:pt x="12316" y="6139"/>
                </a:lnTo>
                <a:lnTo>
                  <a:pt x="12435" y="6110"/>
                </a:lnTo>
                <a:lnTo>
                  <a:pt x="12548" y="6085"/>
                </a:lnTo>
                <a:lnTo>
                  <a:pt x="12656" y="6067"/>
                </a:lnTo>
                <a:lnTo>
                  <a:pt x="12759" y="6051"/>
                </a:lnTo>
                <a:lnTo>
                  <a:pt x="12854" y="6039"/>
                </a:lnTo>
                <a:lnTo>
                  <a:pt x="12943" y="6030"/>
                </a:lnTo>
                <a:lnTo>
                  <a:pt x="13027" y="6024"/>
                </a:lnTo>
                <a:lnTo>
                  <a:pt x="13101" y="6019"/>
                </a:lnTo>
                <a:lnTo>
                  <a:pt x="13170" y="6018"/>
                </a:lnTo>
                <a:lnTo>
                  <a:pt x="13229" y="6017"/>
                </a:lnTo>
                <a:lnTo>
                  <a:pt x="13280" y="6018"/>
                </a:lnTo>
                <a:lnTo>
                  <a:pt x="13323" y="6019"/>
                </a:lnTo>
                <a:lnTo>
                  <a:pt x="13382" y="6023"/>
                </a:lnTo>
                <a:lnTo>
                  <a:pt x="13402" y="6025"/>
                </a:lnTo>
                <a:lnTo>
                  <a:pt x="13378" y="6018"/>
                </a:lnTo>
                <a:lnTo>
                  <a:pt x="13312" y="5998"/>
                </a:lnTo>
                <a:lnTo>
                  <a:pt x="13264" y="5986"/>
                </a:lnTo>
                <a:lnTo>
                  <a:pt x="13206" y="5972"/>
                </a:lnTo>
                <a:lnTo>
                  <a:pt x="13138" y="5957"/>
                </a:lnTo>
                <a:lnTo>
                  <a:pt x="13063" y="5941"/>
                </a:lnTo>
                <a:lnTo>
                  <a:pt x="12979" y="5925"/>
                </a:lnTo>
                <a:lnTo>
                  <a:pt x="12887" y="5910"/>
                </a:lnTo>
                <a:lnTo>
                  <a:pt x="12789" y="5896"/>
                </a:lnTo>
                <a:lnTo>
                  <a:pt x="12684" y="5883"/>
                </a:lnTo>
                <a:lnTo>
                  <a:pt x="12573" y="5873"/>
                </a:lnTo>
                <a:lnTo>
                  <a:pt x="12455" y="5865"/>
                </a:lnTo>
                <a:lnTo>
                  <a:pt x="12334" y="5860"/>
                </a:lnTo>
                <a:lnTo>
                  <a:pt x="12207" y="5859"/>
                </a:lnTo>
                <a:lnTo>
                  <a:pt x="12076" y="5861"/>
                </a:lnTo>
                <a:lnTo>
                  <a:pt x="11941" y="5868"/>
                </a:lnTo>
                <a:lnTo>
                  <a:pt x="11803" y="5880"/>
                </a:lnTo>
                <a:lnTo>
                  <a:pt x="11662" y="5899"/>
                </a:lnTo>
                <a:lnTo>
                  <a:pt x="11519" y="5922"/>
                </a:lnTo>
                <a:lnTo>
                  <a:pt x="11373" y="5952"/>
                </a:lnTo>
                <a:lnTo>
                  <a:pt x="11227" y="5989"/>
                </a:lnTo>
                <a:lnTo>
                  <a:pt x="11080" y="6033"/>
                </a:lnTo>
                <a:lnTo>
                  <a:pt x="10932" y="6087"/>
                </a:lnTo>
                <a:lnTo>
                  <a:pt x="10785" y="6147"/>
                </a:lnTo>
                <a:lnTo>
                  <a:pt x="10637" y="6218"/>
                </a:lnTo>
                <a:lnTo>
                  <a:pt x="10491" y="6297"/>
                </a:lnTo>
                <a:lnTo>
                  <a:pt x="10346" y="6386"/>
                </a:lnTo>
                <a:lnTo>
                  <a:pt x="10203" y="6487"/>
                </a:lnTo>
                <a:lnTo>
                  <a:pt x="10064" y="6598"/>
                </a:lnTo>
                <a:lnTo>
                  <a:pt x="9926" y="6721"/>
                </a:lnTo>
                <a:lnTo>
                  <a:pt x="9793" y="6847"/>
                </a:lnTo>
                <a:lnTo>
                  <a:pt x="9668" y="6971"/>
                </a:lnTo>
                <a:lnTo>
                  <a:pt x="9548" y="7092"/>
                </a:lnTo>
                <a:lnTo>
                  <a:pt x="9436" y="7209"/>
                </a:lnTo>
                <a:lnTo>
                  <a:pt x="9329" y="7324"/>
                </a:lnTo>
                <a:lnTo>
                  <a:pt x="9228" y="7435"/>
                </a:lnTo>
                <a:lnTo>
                  <a:pt x="9133" y="7542"/>
                </a:lnTo>
                <a:lnTo>
                  <a:pt x="9043" y="7646"/>
                </a:lnTo>
                <a:lnTo>
                  <a:pt x="8960" y="7746"/>
                </a:lnTo>
                <a:lnTo>
                  <a:pt x="8881" y="7843"/>
                </a:lnTo>
                <a:lnTo>
                  <a:pt x="8808" y="7936"/>
                </a:lnTo>
                <a:lnTo>
                  <a:pt x="8739" y="8026"/>
                </a:lnTo>
                <a:lnTo>
                  <a:pt x="8676" y="8112"/>
                </a:lnTo>
                <a:lnTo>
                  <a:pt x="8617" y="8193"/>
                </a:lnTo>
                <a:lnTo>
                  <a:pt x="8564" y="8271"/>
                </a:lnTo>
                <a:lnTo>
                  <a:pt x="8514" y="8345"/>
                </a:lnTo>
                <a:lnTo>
                  <a:pt x="8469" y="8415"/>
                </a:lnTo>
                <a:lnTo>
                  <a:pt x="8427" y="8481"/>
                </a:lnTo>
                <a:lnTo>
                  <a:pt x="8390" y="8542"/>
                </a:lnTo>
                <a:lnTo>
                  <a:pt x="8356" y="8600"/>
                </a:lnTo>
                <a:lnTo>
                  <a:pt x="8326" y="8654"/>
                </a:lnTo>
                <a:lnTo>
                  <a:pt x="8299" y="8703"/>
                </a:lnTo>
                <a:lnTo>
                  <a:pt x="8276" y="8747"/>
                </a:lnTo>
                <a:lnTo>
                  <a:pt x="8256" y="8787"/>
                </a:lnTo>
                <a:lnTo>
                  <a:pt x="8225" y="8854"/>
                </a:lnTo>
                <a:lnTo>
                  <a:pt x="8204" y="8902"/>
                </a:lnTo>
                <a:lnTo>
                  <a:pt x="8191" y="8931"/>
                </a:lnTo>
                <a:lnTo>
                  <a:pt x="8188" y="8942"/>
                </a:lnTo>
                <a:lnTo>
                  <a:pt x="8185" y="8914"/>
                </a:lnTo>
                <a:lnTo>
                  <a:pt x="8178" y="8834"/>
                </a:lnTo>
                <a:lnTo>
                  <a:pt x="8175" y="8776"/>
                </a:lnTo>
                <a:lnTo>
                  <a:pt x="8171" y="8707"/>
                </a:lnTo>
                <a:lnTo>
                  <a:pt x="8168" y="8629"/>
                </a:lnTo>
                <a:lnTo>
                  <a:pt x="8165" y="8541"/>
                </a:lnTo>
                <a:lnTo>
                  <a:pt x="8163" y="8444"/>
                </a:lnTo>
                <a:lnTo>
                  <a:pt x="8163" y="8338"/>
                </a:lnTo>
                <a:lnTo>
                  <a:pt x="8164" y="8225"/>
                </a:lnTo>
                <a:lnTo>
                  <a:pt x="8168" y="8106"/>
                </a:lnTo>
                <a:lnTo>
                  <a:pt x="8174" y="7980"/>
                </a:lnTo>
                <a:lnTo>
                  <a:pt x="8182" y="7850"/>
                </a:lnTo>
                <a:lnTo>
                  <a:pt x="8192" y="7715"/>
                </a:lnTo>
                <a:lnTo>
                  <a:pt x="8207" y="7575"/>
                </a:lnTo>
                <a:lnTo>
                  <a:pt x="8226" y="7432"/>
                </a:lnTo>
                <a:lnTo>
                  <a:pt x="8248" y="7287"/>
                </a:lnTo>
                <a:lnTo>
                  <a:pt x="8273" y="7140"/>
                </a:lnTo>
                <a:lnTo>
                  <a:pt x="8305" y="6991"/>
                </a:lnTo>
                <a:lnTo>
                  <a:pt x="8341" y="6843"/>
                </a:lnTo>
                <a:lnTo>
                  <a:pt x="8381" y="6694"/>
                </a:lnTo>
                <a:lnTo>
                  <a:pt x="8429" y="6545"/>
                </a:lnTo>
                <a:lnTo>
                  <a:pt x="8481" y="6399"/>
                </a:lnTo>
                <a:lnTo>
                  <a:pt x="8541" y="6255"/>
                </a:lnTo>
                <a:lnTo>
                  <a:pt x="8606" y="6114"/>
                </a:lnTo>
                <a:lnTo>
                  <a:pt x="8678" y="5976"/>
                </a:lnTo>
                <a:lnTo>
                  <a:pt x="8758" y="5844"/>
                </a:lnTo>
                <a:lnTo>
                  <a:pt x="8845" y="5716"/>
                </a:lnTo>
                <a:lnTo>
                  <a:pt x="8939" y="5593"/>
                </a:lnTo>
                <a:lnTo>
                  <a:pt x="9042" y="5477"/>
                </a:lnTo>
                <a:lnTo>
                  <a:pt x="9154" y="5369"/>
                </a:lnTo>
                <a:lnTo>
                  <a:pt x="9272" y="5265"/>
                </a:lnTo>
                <a:lnTo>
                  <a:pt x="9396" y="5164"/>
                </a:lnTo>
                <a:lnTo>
                  <a:pt x="9524" y="5065"/>
                </a:lnTo>
                <a:lnTo>
                  <a:pt x="9657" y="4968"/>
                </a:lnTo>
                <a:lnTo>
                  <a:pt x="9793" y="4873"/>
                </a:lnTo>
                <a:lnTo>
                  <a:pt x="9934" y="4780"/>
                </a:lnTo>
                <a:lnTo>
                  <a:pt x="10077" y="4689"/>
                </a:lnTo>
                <a:lnTo>
                  <a:pt x="10222" y="4598"/>
                </a:lnTo>
                <a:lnTo>
                  <a:pt x="10370" y="4510"/>
                </a:lnTo>
                <a:lnTo>
                  <a:pt x="10520" y="4422"/>
                </a:lnTo>
                <a:lnTo>
                  <a:pt x="10671" y="4334"/>
                </a:lnTo>
                <a:lnTo>
                  <a:pt x="10823" y="4247"/>
                </a:lnTo>
                <a:lnTo>
                  <a:pt x="11128" y="4074"/>
                </a:lnTo>
                <a:lnTo>
                  <a:pt x="11433" y="3901"/>
                </a:lnTo>
                <a:lnTo>
                  <a:pt x="11582" y="3814"/>
                </a:lnTo>
                <a:lnTo>
                  <a:pt x="11732" y="3726"/>
                </a:lnTo>
                <a:lnTo>
                  <a:pt x="11878" y="3638"/>
                </a:lnTo>
                <a:lnTo>
                  <a:pt x="12024" y="3547"/>
                </a:lnTo>
                <a:lnTo>
                  <a:pt x="12165" y="3457"/>
                </a:lnTo>
                <a:lnTo>
                  <a:pt x="12303" y="3364"/>
                </a:lnTo>
                <a:lnTo>
                  <a:pt x="12439" y="3270"/>
                </a:lnTo>
                <a:lnTo>
                  <a:pt x="12569" y="3175"/>
                </a:lnTo>
                <a:lnTo>
                  <a:pt x="12696" y="3077"/>
                </a:lnTo>
                <a:lnTo>
                  <a:pt x="12818" y="2976"/>
                </a:lnTo>
                <a:lnTo>
                  <a:pt x="12934" y="2874"/>
                </a:lnTo>
                <a:lnTo>
                  <a:pt x="13044" y="2768"/>
                </a:lnTo>
                <a:lnTo>
                  <a:pt x="13149" y="2660"/>
                </a:lnTo>
                <a:lnTo>
                  <a:pt x="13247" y="2550"/>
                </a:lnTo>
                <a:lnTo>
                  <a:pt x="13338" y="2435"/>
                </a:lnTo>
                <a:lnTo>
                  <a:pt x="13421" y="2318"/>
                </a:lnTo>
                <a:lnTo>
                  <a:pt x="13499" y="2199"/>
                </a:lnTo>
                <a:lnTo>
                  <a:pt x="13572" y="2083"/>
                </a:lnTo>
                <a:lnTo>
                  <a:pt x="13642" y="1968"/>
                </a:lnTo>
                <a:lnTo>
                  <a:pt x="13707" y="1857"/>
                </a:lnTo>
                <a:lnTo>
                  <a:pt x="13770" y="1747"/>
                </a:lnTo>
                <a:lnTo>
                  <a:pt x="13828" y="1641"/>
                </a:lnTo>
                <a:lnTo>
                  <a:pt x="13882" y="1537"/>
                </a:lnTo>
                <a:lnTo>
                  <a:pt x="13933" y="1435"/>
                </a:lnTo>
                <a:lnTo>
                  <a:pt x="13981" y="1338"/>
                </a:lnTo>
                <a:lnTo>
                  <a:pt x="14026" y="1242"/>
                </a:lnTo>
                <a:lnTo>
                  <a:pt x="14068" y="1150"/>
                </a:lnTo>
                <a:lnTo>
                  <a:pt x="14106" y="1061"/>
                </a:lnTo>
                <a:lnTo>
                  <a:pt x="14141" y="975"/>
                </a:lnTo>
                <a:lnTo>
                  <a:pt x="14175" y="893"/>
                </a:lnTo>
                <a:lnTo>
                  <a:pt x="14205" y="814"/>
                </a:lnTo>
                <a:lnTo>
                  <a:pt x="14232" y="738"/>
                </a:lnTo>
                <a:lnTo>
                  <a:pt x="14257" y="668"/>
                </a:lnTo>
                <a:lnTo>
                  <a:pt x="14279" y="599"/>
                </a:lnTo>
                <a:lnTo>
                  <a:pt x="14300" y="536"/>
                </a:lnTo>
                <a:lnTo>
                  <a:pt x="14319" y="476"/>
                </a:lnTo>
                <a:lnTo>
                  <a:pt x="14334" y="420"/>
                </a:lnTo>
                <a:lnTo>
                  <a:pt x="14349" y="369"/>
                </a:lnTo>
                <a:lnTo>
                  <a:pt x="14361" y="323"/>
                </a:lnTo>
                <a:lnTo>
                  <a:pt x="14371" y="281"/>
                </a:lnTo>
                <a:lnTo>
                  <a:pt x="14387" y="210"/>
                </a:lnTo>
                <a:lnTo>
                  <a:pt x="14399" y="158"/>
                </a:lnTo>
                <a:lnTo>
                  <a:pt x="14405" y="127"/>
                </a:lnTo>
                <a:lnTo>
                  <a:pt x="14406" y="116"/>
                </a:lnTo>
                <a:lnTo>
                  <a:pt x="14396" y="142"/>
                </a:lnTo>
                <a:lnTo>
                  <a:pt x="14363" y="214"/>
                </a:lnTo>
                <a:lnTo>
                  <a:pt x="14339" y="266"/>
                </a:lnTo>
                <a:lnTo>
                  <a:pt x="14310" y="327"/>
                </a:lnTo>
                <a:lnTo>
                  <a:pt x="14275" y="398"/>
                </a:lnTo>
                <a:lnTo>
                  <a:pt x="14235" y="477"/>
                </a:lnTo>
                <a:lnTo>
                  <a:pt x="14191" y="563"/>
                </a:lnTo>
                <a:lnTo>
                  <a:pt x="14142" y="655"/>
                </a:lnTo>
                <a:lnTo>
                  <a:pt x="14089" y="754"/>
                </a:lnTo>
                <a:lnTo>
                  <a:pt x="14030" y="857"/>
                </a:lnTo>
                <a:lnTo>
                  <a:pt x="13967" y="965"/>
                </a:lnTo>
                <a:lnTo>
                  <a:pt x="13900" y="1076"/>
                </a:lnTo>
                <a:lnTo>
                  <a:pt x="13828" y="1191"/>
                </a:lnTo>
                <a:lnTo>
                  <a:pt x="13752" y="1309"/>
                </a:lnTo>
                <a:lnTo>
                  <a:pt x="13671" y="1427"/>
                </a:lnTo>
                <a:lnTo>
                  <a:pt x="13586" y="1545"/>
                </a:lnTo>
                <a:lnTo>
                  <a:pt x="13498" y="1665"/>
                </a:lnTo>
                <a:lnTo>
                  <a:pt x="13405" y="1783"/>
                </a:lnTo>
                <a:lnTo>
                  <a:pt x="13309" y="1900"/>
                </a:lnTo>
                <a:lnTo>
                  <a:pt x="13209" y="2015"/>
                </a:lnTo>
                <a:lnTo>
                  <a:pt x="13104" y="2126"/>
                </a:lnTo>
                <a:lnTo>
                  <a:pt x="12997" y="2234"/>
                </a:lnTo>
                <a:lnTo>
                  <a:pt x="12885" y="2337"/>
                </a:lnTo>
                <a:lnTo>
                  <a:pt x="12770" y="2436"/>
                </a:lnTo>
                <a:lnTo>
                  <a:pt x="12652" y="2529"/>
                </a:lnTo>
                <a:lnTo>
                  <a:pt x="12530" y="2615"/>
                </a:lnTo>
                <a:lnTo>
                  <a:pt x="12406" y="2693"/>
                </a:lnTo>
                <a:lnTo>
                  <a:pt x="12277" y="2763"/>
                </a:lnTo>
                <a:lnTo>
                  <a:pt x="12145" y="2825"/>
                </a:lnTo>
                <a:lnTo>
                  <a:pt x="12012" y="2877"/>
                </a:lnTo>
                <a:lnTo>
                  <a:pt x="11875" y="2927"/>
                </a:lnTo>
                <a:lnTo>
                  <a:pt x="11739" y="2981"/>
                </a:lnTo>
                <a:lnTo>
                  <a:pt x="11603" y="3038"/>
                </a:lnTo>
                <a:lnTo>
                  <a:pt x="11467" y="3098"/>
                </a:lnTo>
                <a:lnTo>
                  <a:pt x="11332" y="3162"/>
                </a:lnTo>
                <a:lnTo>
                  <a:pt x="11197" y="3228"/>
                </a:lnTo>
                <a:lnTo>
                  <a:pt x="11065" y="3296"/>
                </a:lnTo>
                <a:lnTo>
                  <a:pt x="10933" y="3367"/>
                </a:lnTo>
                <a:lnTo>
                  <a:pt x="10803" y="3439"/>
                </a:lnTo>
                <a:lnTo>
                  <a:pt x="10676" y="3512"/>
                </a:lnTo>
                <a:lnTo>
                  <a:pt x="10550" y="3586"/>
                </a:lnTo>
                <a:lnTo>
                  <a:pt x="10428" y="3660"/>
                </a:lnTo>
                <a:lnTo>
                  <a:pt x="10309" y="3734"/>
                </a:lnTo>
                <a:lnTo>
                  <a:pt x="10193" y="3808"/>
                </a:lnTo>
                <a:lnTo>
                  <a:pt x="10080" y="3882"/>
                </a:lnTo>
                <a:lnTo>
                  <a:pt x="9972" y="3954"/>
                </a:lnTo>
                <a:lnTo>
                  <a:pt x="9868" y="4024"/>
                </a:lnTo>
                <a:lnTo>
                  <a:pt x="9768" y="4094"/>
                </a:lnTo>
                <a:lnTo>
                  <a:pt x="9674" y="4160"/>
                </a:lnTo>
                <a:lnTo>
                  <a:pt x="9583" y="4224"/>
                </a:lnTo>
                <a:lnTo>
                  <a:pt x="9500" y="4286"/>
                </a:lnTo>
                <a:lnTo>
                  <a:pt x="9421" y="4344"/>
                </a:lnTo>
                <a:lnTo>
                  <a:pt x="9349" y="4397"/>
                </a:lnTo>
                <a:lnTo>
                  <a:pt x="9282" y="4447"/>
                </a:lnTo>
                <a:lnTo>
                  <a:pt x="9171" y="4533"/>
                </a:lnTo>
                <a:lnTo>
                  <a:pt x="9087" y="4598"/>
                </a:lnTo>
                <a:lnTo>
                  <a:pt x="9036" y="4640"/>
                </a:lnTo>
                <a:lnTo>
                  <a:pt x="9019" y="4654"/>
                </a:lnTo>
                <a:lnTo>
                  <a:pt x="9029" y="4640"/>
                </a:lnTo>
                <a:lnTo>
                  <a:pt x="9062" y="4599"/>
                </a:lnTo>
                <a:lnTo>
                  <a:pt x="9112" y="4534"/>
                </a:lnTo>
                <a:lnTo>
                  <a:pt x="9178" y="4446"/>
                </a:lnTo>
                <a:lnTo>
                  <a:pt x="9257" y="4339"/>
                </a:lnTo>
                <a:lnTo>
                  <a:pt x="9345" y="4214"/>
                </a:lnTo>
                <a:lnTo>
                  <a:pt x="9393" y="4144"/>
                </a:lnTo>
                <a:lnTo>
                  <a:pt x="9441" y="4072"/>
                </a:lnTo>
                <a:lnTo>
                  <a:pt x="9491" y="3997"/>
                </a:lnTo>
                <a:lnTo>
                  <a:pt x="9542" y="3918"/>
                </a:lnTo>
                <a:lnTo>
                  <a:pt x="9594" y="3836"/>
                </a:lnTo>
                <a:lnTo>
                  <a:pt x="9645" y="3753"/>
                </a:lnTo>
                <a:lnTo>
                  <a:pt x="9697" y="3667"/>
                </a:lnTo>
                <a:lnTo>
                  <a:pt x="9747" y="3579"/>
                </a:lnTo>
                <a:lnTo>
                  <a:pt x="9797" y="3488"/>
                </a:lnTo>
                <a:lnTo>
                  <a:pt x="9845" y="3397"/>
                </a:lnTo>
                <a:lnTo>
                  <a:pt x="9893" y="3305"/>
                </a:lnTo>
                <a:lnTo>
                  <a:pt x="9938" y="3212"/>
                </a:lnTo>
                <a:lnTo>
                  <a:pt x="9982" y="3119"/>
                </a:lnTo>
                <a:lnTo>
                  <a:pt x="10023" y="3025"/>
                </a:lnTo>
                <a:lnTo>
                  <a:pt x="10061" y="2931"/>
                </a:lnTo>
                <a:lnTo>
                  <a:pt x="10096" y="2838"/>
                </a:lnTo>
                <a:lnTo>
                  <a:pt x="10126" y="2745"/>
                </a:lnTo>
                <a:lnTo>
                  <a:pt x="10154" y="2652"/>
                </a:lnTo>
                <a:lnTo>
                  <a:pt x="10178" y="2561"/>
                </a:lnTo>
                <a:lnTo>
                  <a:pt x="10196" y="2472"/>
                </a:lnTo>
                <a:lnTo>
                  <a:pt x="10211" y="2385"/>
                </a:lnTo>
                <a:lnTo>
                  <a:pt x="10224" y="2300"/>
                </a:lnTo>
                <a:lnTo>
                  <a:pt x="10234" y="2219"/>
                </a:lnTo>
                <a:lnTo>
                  <a:pt x="10244" y="2141"/>
                </a:lnTo>
                <a:lnTo>
                  <a:pt x="10251" y="2066"/>
                </a:lnTo>
                <a:lnTo>
                  <a:pt x="10255" y="1994"/>
                </a:lnTo>
                <a:lnTo>
                  <a:pt x="10259" y="1925"/>
                </a:lnTo>
                <a:lnTo>
                  <a:pt x="10260" y="1859"/>
                </a:lnTo>
                <a:lnTo>
                  <a:pt x="10261" y="1795"/>
                </a:lnTo>
                <a:lnTo>
                  <a:pt x="10260" y="1735"/>
                </a:lnTo>
                <a:lnTo>
                  <a:pt x="10258" y="1677"/>
                </a:lnTo>
                <a:lnTo>
                  <a:pt x="10254" y="1622"/>
                </a:lnTo>
                <a:lnTo>
                  <a:pt x="10250" y="1570"/>
                </a:lnTo>
                <a:lnTo>
                  <a:pt x="10245" y="1521"/>
                </a:lnTo>
                <a:lnTo>
                  <a:pt x="10239" y="1475"/>
                </a:lnTo>
                <a:lnTo>
                  <a:pt x="10232" y="1432"/>
                </a:lnTo>
                <a:lnTo>
                  <a:pt x="10225" y="1391"/>
                </a:lnTo>
                <a:lnTo>
                  <a:pt x="10218" y="1353"/>
                </a:lnTo>
                <a:lnTo>
                  <a:pt x="10210" y="1318"/>
                </a:lnTo>
                <a:lnTo>
                  <a:pt x="10202" y="1285"/>
                </a:lnTo>
                <a:lnTo>
                  <a:pt x="10187" y="1228"/>
                </a:lnTo>
                <a:lnTo>
                  <a:pt x="10172" y="1182"/>
                </a:lnTo>
                <a:lnTo>
                  <a:pt x="10159" y="1146"/>
                </a:lnTo>
                <a:lnTo>
                  <a:pt x="10149" y="1120"/>
                </a:lnTo>
                <a:lnTo>
                  <a:pt x="10140" y="1105"/>
                </a:lnTo>
                <a:lnTo>
                  <a:pt x="10138" y="1101"/>
                </a:lnTo>
                <a:lnTo>
                  <a:pt x="10140" y="1116"/>
                </a:lnTo>
                <a:lnTo>
                  <a:pt x="10145" y="1159"/>
                </a:lnTo>
                <a:lnTo>
                  <a:pt x="10147" y="1190"/>
                </a:lnTo>
                <a:lnTo>
                  <a:pt x="10151" y="1227"/>
                </a:lnTo>
                <a:lnTo>
                  <a:pt x="10152" y="1271"/>
                </a:lnTo>
                <a:lnTo>
                  <a:pt x="10153" y="1320"/>
                </a:lnTo>
                <a:lnTo>
                  <a:pt x="10153" y="1375"/>
                </a:lnTo>
                <a:lnTo>
                  <a:pt x="10152" y="1434"/>
                </a:lnTo>
                <a:lnTo>
                  <a:pt x="10150" y="1499"/>
                </a:lnTo>
                <a:lnTo>
                  <a:pt x="10145" y="1569"/>
                </a:lnTo>
                <a:lnTo>
                  <a:pt x="10137" y="1642"/>
                </a:lnTo>
                <a:lnTo>
                  <a:pt x="10128" y="1720"/>
                </a:lnTo>
                <a:lnTo>
                  <a:pt x="10115" y="1801"/>
                </a:lnTo>
                <a:lnTo>
                  <a:pt x="10100" y="1886"/>
                </a:lnTo>
                <a:lnTo>
                  <a:pt x="10081" y="1973"/>
                </a:lnTo>
                <a:lnTo>
                  <a:pt x="10058" y="2064"/>
                </a:lnTo>
                <a:lnTo>
                  <a:pt x="10031" y="2157"/>
                </a:lnTo>
                <a:lnTo>
                  <a:pt x="10001" y="2254"/>
                </a:lnTo>
                <a:lnTo>
                  <a:pt x="9965" y="2352"/>
                </a:lnTo>
                <a:lnTo>
                  <a:pt x="9924" y="2452"/>
                </a:lnTo>
                <a:lnTo>
                  <a:pt x="9879" y="2554"/>
                </a:lnTo>
                <a:lnTo>
                  <a:pt x="9829" y="2657"/>
                </a:lnTo>
                <a:lnTo>
                  <a:pt x="9772" y="2761"/>
                </a:lnTo>
                <a:lnTo>
                  <a:pt x="9710" y="2866"/>
                </a:lnTo>
                <a:lnTo>
                  <a:pt x="9641" y="2971"/>
                </a:lnTo>
                <a:lnTo>
                  <a:pt x="9566" y="3077"/>
                </a:lnTo>
                <a:lnTo>
                  <a:pt x="9483" y="3181"/>
                </a:lnTo>
                <a:lnTo>
                  <a:pt x="9394" y="3287"/>
                </a:lnTo>
                <a:lnTo>
                  <a:pt x="9296" y="3392"/>
                </a:lnTo>
                <a:lnTo>
                  <a:pt x="9192" y="3495"/>
                </a:lnTo>
                <a:lnTo>
                  <a:pt x="9085" y="3602"/>
                </a:lnTo>
                <a:lnTo>
                  <a:pt x="8982" y="3716"/>
                </a:lnTo>
                <a:lnTo>
                  <a:pt x="8881" y="3836"/>
                </a:lnTo>
                <a:lnTo>
                  <a:pt x="8783" y="3962"/>
                </a:lnTo>
                <a:lnTo>
                  <a:pt x="8689" y="4092"/>
                </a:lnTo>
                <a:lnTo>
                  <a:pt x="8597" y="4226"/>
                </a:lnTo>
                <a:lnTo>
                  <a:pt x="8510" y="4365"/>
                </a:lnTo>
                <a:lnTo>
                  <a:pt x="8426" y="4506"/>
                </a:lnTo>
                <a:lnTo>
                  <a:pt x="8344" y="4649"/>
                </a:lnTo>
                <a:lnTo>
                  <a:pt x="8266" y="4794"/>
                </a:lnTo>
                <a:lnTo>
                  <a:pt x="8192" y="4939"/>
                </a:lnTo>
                <a:lnTo>
                  <a:pt x="8121" y="5086"/>
                </a:lnTo>
                <a:lnTo>
                  <a:pt x="8053" y="5231"/>
                </a:lnTo>
                <a:lnTo>
                  <a:pt x="7988" y="5375"/>
                </a:lnTo>
                <a:lnTo>
                  <a:pt x="7927" y="5517"/>
                </a:lnTo>
                <a:lnTo>
                  <a:pt x="7869" y="5656"/>
                </a:lnTo>
                <a:lnTo>
                  <a:pt x="7815" y="5792"/>
                </a:lnTo>
                <a:lnTo>
                  <a:pt x="7764" y="5925"/>
                </a:lnTo>
                <a:lnTo>
                  <a:pt x="7716" y="6053"/>
                </a:lnTo>
                <a:lnTo>
                  <a:pt x="7672" y="6175"/>
                </a:lnTo>
                <a:lnTo>
                  <a:pt x="7631" y="6292"/>
                </a:lnTo>
                <a:lnTo>
                  <a:pt x="7594" y="6402"/>
                </a:lnTo>
                <a:lnTo>
                  <a:pt x="7561" y="6505"/>
                </a:lnTo>
                <a:lnTo>
                  <a:pt x="7530" y="6600"/>
                </a:lnTo>
                <a:lnTo>
                  <a:pt x="7480" y="6762"/>
                </a:lnTo>
                <a:lnTo>
                  <a:pt x="7444" y="6885"/>
                </a:lnTo>
                <a:lnTo>
                  <a:pt x="7422" y="6963"/>
                </a:lnTo>
                <a:lnTo>
                  <a:pt x="7415" y="6991"/>
                </a:lnTo>
                <a:lnTo>
                  <a:pt x="7402" y="6971"/>
                </a:lnTo>
                <a:lnTo>
                  <a:pt x="7360" y="6912"/>
                </a:lnTo>
                <a:lnTo>
                  <a:pt x="7331" y="6869"/>
                </a:lnTo>
                <a:lnTo>
                  <a:pt x="7297" y="6817"/>
                </a:lnTo>
                <a:lnTo>
                  <a:pt x="7259" y="6757"/>
                </a:lnTo>
                <a:lnTo>
                  <a:pt x="7216" y="6687"/>
                </a:lnTo>
                <a:lnTo>
                  <a:pt x="7169" y="6610"/>
                </a:lnTo>
                <a:lnTo>
                  <a:pt x="7119" y="6526"/>
                </a:lnTo>
                <a:lnTo>
                  <a:pt x="7067" y="6433"/>
                </a:lnTo>
                <a:lnTo>
                  <a:pt x="7014" y="6333"/>
                </a:lnTo>
                <a:lnTo>
                  <a:pt x="6958" y="6226"/>
                </a:lnTo>
                <a:lnTo>
                  <a:pt x="6901" y="6112"/>
                </a:lnTo>
                <a:lnTo>
                  <a:pt x="6843" y="5993"/>
                </a:lnTo>
                <a:lnTo>
                  <a:pt x="6785" y="5866"/>
                </a:lnTo>
                <a:lnTo>
                  <a:pt x="6728" y="5734"/>
                </a:lnTo>
                <a:lnTo>
                  <a:pt x="6672" y="5595"/>
                </a:lnTo>
                <a:lnTo>
                  <a:pt x="6617" y="5451"/>
                </a:lnTo>
                <a:lnTo>
                  <a:pt x="6564" y="5303"/>
                </a:lnTo>
                <a:lnTo>
                  <a:pt x="6513" y="5150"/>
                </a:lnTo>
                <a:lnTo>
                  <a:pt x="6466" y="4991"/>
                </a:lnTo>
                <a:lnTo>
                  <a:pt x="6422" y="4828"/>
                </a:lnTo>
                <a:lnTo>
                  <a:pt x="6381" y="4661"/>
                </a:lnTo>
                <a:lnTo>
                  <a:pt x="6345" y="4490"/>
                </a:lnTo>
                <a:lnTo>
                  <a:pt x="6314" y="4315"/>
                </a:lnTo>
                <a:lnTo>
                  <a:pt x="6288" y="4137"/>
                </a:lnTo>
                <a:lnTo>
                  <a:pt x="6268" y="3956"/>
                </a:lnTo>
                <a:lnTo>
                  <a:pt x="6254" y="3772"/>
                </a:lnTo>
                <a:lnTo>
                  <a:pt x="6247" y="3586"/>
                </a:lnTo>
                <a:lnTo>
                  <a:pt x="6249" y="3396"/>
                </a:lnTo>
                <a:lnTo>
                  <a:pt x="6257" y="3206"/>
                </a:lnTo>
                <a:lnTo>
                  <a:pt x="6273" y="3017"/>
                </a:lnTo>
                <a:lnTo>
                  <a:pt x="6295" y="2832"/>
                </a:lnTo>
                <a:lnTo>
                  <a:pt x="6323" y="2653"/>
                </a:lnTo>
                <a:lnTo>
                  <a:pt x="6357" y="2480"/>
                </a:lnTo>
                <a:lnTo>
                  <a:pt x="6396" y="2312"/>
                </a:lnTo>
                <a:lnTo>
                  <a:pt x="6439" y="2149"/>
                </a:lnTo>
                <a:lnTo>
                  <a:pt x="6487" y="1992"/>
                </a:lnTo>
                <a:lnTo>
                  <a:pt x="6538" y="1842"/>
                </a:lnTo>
                <a:lnTo>
                  <a:pt x="6591" y="1695"/>
                </a:lnTo>
                <a:lnTo>
                  <a:pt x="6648" y="1555"/>
                </a:lnTo>
                <a:lnTo>
                  <a:pt x="6707" y="1420"/>
                </a:lnTo>
                <a:lnTo>
                  <a:pt x="6769" y="1292"/>
                </a:lnTo>
                <a:lnTo>
                  <a:pt x="6830" y="1169"/>
                </a:lnTo>
                <a:lnTo>
                  <a:pt x="6894" y="1052"/>
                </a:lnTo>
                <a:lnTo>
                  <a:pt x="6958" y="941"/>
                </a:lnTo>
                <a:lnTo>
                  <a:pt x="7022" y="835"/>
                </a:lnTo>
                <a:lnTo>
                  <a:pt x="7086" y="736"/>
                </a:lnTo>
                <a:lnTo>
                  <a:pt x="7148" y="643"/>
                </a:lnTo>
                <a:lnTo>
                  <a:pt x="7210" y="555"/>
                </a:lnTo>
                <a:lnTo>
                  <a:pt x="7269" y="475"/>
                </a:lnTo>
                <a:lnTo>
                  <a:pt x="7327" y="399"/>
                </a:lnTo>
                <a:lnTo>
                  <a:pt x="7382" y="331"/>
                </a:lnTo>
                <a:lnTo>
                  <a:pt x="7433" y="269"/>
                </a:lnTo>
                <a:lnTo>
                  <a:pt x="7482" y="212"/>
                </a:lnTo>
                <a:lnTo>
                  <a:pt x="7526" y="164"/>
                </a:lnTo>
                <a:lnTo>
                  <a:pt x="7565" y="121"/>
                </a:lnTo>
                <a:lnTo>
                  <a:pt x="7600" y="84"/>
                </a:lnTo>
                <a:lnTo>
                  <a:pt x="7630" y="53"/>
                </a:lnTo>
                <a:lnTo>
                  <a:pt x="7671" y="14"/>
                </a:lnTo>
                <a:lnTo>
                  <a:pt x="7686" y="0"/>
                </a:lnTo>
                <a:lnTo>
                  <a:pt x="7678" y="1"/>
                </a:lnTo>
                <a:lnTo>
                  <a:pt x="7653" y="7"/>
                </a:lnTo>
                <a:lnTo>
                  <a:pt x="7615" y="19"/>
                </a:lnTo>
                <a:lnTo>
                  <a:pt x="7563" y="36"/>
                </a:lnTo>
                <a:lnTo>
                  <a:pt x="7533" y="48"/>
                </a:lnTo>
                <a:lnTo>
                  <a:pt x="7499" y="62"/>
                </a:lnTo>
                <a:lnTo>
                  <a:pt x="7462" y="77"/>
                </a:lnTo>
                <a:lnTo>
                  <a:pt x="7424" y="95"/>
                </a:lnTo>
                <a:lnTo>
                  <a:pt x="7382" y="117"/>
                </a:lnTo>
                <a:lnTo>
                  <a:pt x="7337" y="140"/>
                </a:lnTo>
                <a:lnTo>
                  <a:pt x="7290" y="168"/>
                </a:lnTo>
                <a:lnTo>
                  <a:pt x="7241" y="197"/>
                </a:lnTo>
                <a:lnTo>
                  <a:pt x="7191" y="231"/>
                </a:lnTo>
                <a:lnTo>
                  <a:pt x="7138" y="268"/>
                </a:lnTo>
                <a:lnTo>
                  <a:pt x="7083" y="309"/>
                </a:lnTo>
                <a:lnTo>
                  <a:pt x="7028" y="353"/>
                </a:lnTo>
                <a:lnTo>
                  <a:pt x="6970" y="401"/>
                </a:lnTo>
                <a:lnTo>
                  <a:pt x="6912" y="453"/>
                </a:lnTo>
                <a:lnTo>
                  <a:pt x="6851" y="510"/>
                </a:lnTo>
                <a:lnTo>
                  <a:pt x="6790" y="570"/>
                </a:lnTo>
                <a:lnTo>
                  <a:pt x="6727" y="636"/>
                </a:lnTo>
                <a:lnTo>
                  <a:pt x="6664" y="706"/>
                </a:lnTo>
                <a:lnTo>
                  <a:pt x="6600" y="781"/>
                </a:lnTo>
                <a:lnTo>
                  <a:pt x="6537" y="862"/>
                </a:lnTo>
                <a:lnTo>
                  <a:pt x="6472" y="946"/>
                </a:lnTo>
                <a:lnTo>
                  <a:pt x="6407" y="1038"/>
                </a:lnTo>
                <a:lnTo>
                  <a:pt x="6342" y="1134"/>
                </a:lnTo>
                <a:lnTo>
                  <a:pt x="6277" y="1235"/>
                </a:lnTo>
                <a:lnTo>
                  <a:pt x="6214" y="1340"/>
                </a:lnTo>
                <a:lnTo>
                  <a:pt x="6157" y="1441"/>
                </a:lnTo>
                <a:lnTo>
                  <a:pt x="6105" y="1538"/>
                </a:lnTo>
                <a:lnTo>
                  <a:pt x="6057" y="1634"/>
                </a:lnTo>
                <a:lnTo>
                  <a:pt x="6015" y="1727"/>
                </a:lnTo>
                <a:lnTo>
                  <a:pt x="5977" y="1816"/>
                </a:lnTo>
                <a:lnTo>
                  <a:pt x="5943" y="1902"/>
                </a:lnTo>
                <a:lnTo>
                  <a:pt x="5913" y="1986"/>
                </a:lnTo>
                <a:lnTo>
                  <a:pt x="5888" y="2067"/>
                </a:lnTo>
                <a:lnTo>
                  <a:pt x="5865" y="2145"/>
                </a:lnTo>
                <a:lnTo>
                  <a:pt x="5846" y="2219"/>
                </a:lnTo>
                <a:lnTo>
                  <a:pt x="5831" y="2291"/>
                </a:lnTo>
                <a:lnTo>
                  <a:pt x="5817" y="2358"/>
                </a:lnTo>
                <a:lnTo>
                  <a:pt x="5806" y="2423"/>
                </a:lnTo>
                <a:lnTo>
                  <a:pt x="5799" y="2486"/>
                </a:lnTo>
                <a:lnTo>
                  <a:pt x="5794" y="2544"/>
                </a:lnTo>
                <a:lnTo>
                  <a:pt x="5790" y="2600"/>
                </a:lnTo>
                <a:lnTo>
                  <a:pt x="5788" y="2652"/>
                </a:lnTo>
                <a:lnTo>
                  <a:pt x="5788" y="2701"/>
                </a:lnTo>
                <a:lnTo>
                  <a:pt x="5789" y="2746"/>
                </a:lnTo>
                <a:lnTo>
                  <a:pt x="5791" y="2788"/>
                </a:lnTo>
                <a:lnTo>
                  <a:pt x="5795" y="2826"/>
                </a:lnTo>
                <a:lnTo>
                  <a:pt x="5799" y="2861"/>
                </a:lnTo>
                <a:lnTo>
                  <a:pt x="5804" y="2892"/>
                </a:lnTo>
                <a:lnTo>
                  <a:pt x="5809" y="2920"/>
                </a:lnTo>
                <a:lnTo>
                  <a:pt x="5813" y="2945"/>
                </a:lnTo>
                <a:lnTo>
                  <a:pt x="5818" y="2966"/>
                </a:lnTo>
                <a:lnTo>
                  <a:pt x="5823" y="2982"/>
                </a:lnTo>
                <a:lnTo>
                  <a:pt x="5830" y="3005"/>
                </a:lnTo>
                <a:lnTo>
                  <a:pt x="5832" y="3013"/>
                </a:lnTo>
                <a:lnTo>
                  <a:pt x="5830" y="3006"/>
                </a:lnTo>
                <a:lnTo>
                  <a:pt x="5823" y="2985"/>
                </a:lnTo>
                <a:lnTo>
                  <a:pt x="5811" y="2950"/>
                </a:lnTo>
                <a:lnTo>
                  <a:pt x="5792" y="2902"/>
                </a:lnTo>
                <a:lnTo>
                  <a:pt x="5768" y="2840"/>
                </a:lnTo>
                <a:lnTo>
                  <a:pt x="5737" y="2765"/>
                </a:lnTo>
                <a:lnTo>
                  <a:pt x="5697" y="2676"/>
                </a:lnTo>
                <a:lnTo>
                  <a:pt x="5648" y="2575"/>
                </a:lnTo>
                <a:lnTo>
                  <a:pt x="5622" y="2521"/>
                </a:lnTo>
                <a:lnTo>
                  <a:pt x="5591" y="2462"/>
                </a:lnTo>
                <a:lnTo>
                  <a:pt x="5559" y="2400"/>
                </a:lnTo>
                <a:lnTo>
                  <a:pt x="5524" y="2335"/>
                </a:lnTo>
                <a:lnTo>
                  <a:pt x="5487" y="2267"/>
                </a:lnTo>
                <a:lnTo>
                  <a:pt x="5448" y="2196"/>
                </a:lnTo>
                <a:lnTo>
                  <a:pt x="5405" y="2120"/>
                </a:lnTo>
                <a:lnTo>
                  <a:pt x="5359" y="2044"/>
                </a:lnTo>
                <a:lnTo>
                  <a:pt x="5312" y="1962"/>
                </a:lnTo>
                <a:lnTo>
                  <a:pt x="5259" y="1879"/>
                </a:lnTo>
                <a:lnTo>
                  <a:pt x="5206" y="1792"/>
                </a:lnTo>
                <a:lnTo>
                  <a:pt x="5148" y="1702"/>
                </a:lnTo>
                <a:lnTo>
                  <a:pt x="5088" y="1609"/>
                </a:lnTo>
                <a:lnTo>
                  <a:pt x="5024" y="1514"/>
                </a:lnTo>
                <a:lnTo>
                  <a:pt x="4956" y="1415"/>
                </a:lnTo>
                <a:lnTo>
                  <a:pt x="4886" y="1313"/>
                </a:lnTo>
                <a:lnTo>
                  <a:pt x="4810" y="1213"/>
                </a:lnTo>
                <a:lnTo>
                  <a:pt x="4729" y="1119"/>
                </a:lnTo>
                <a:lnTo>
                  <a:pt x="4642" y="1032"/>
                </a:lnTo>
                <a:lnTo>
                  <a:pt x="4550" y="950"/>
                </a:lnTo>
                <a:lnTo>
                  <a:pt x="4455" y="873"/>
                </a:lnTo>
                <a:lnTo>
                  <a:pt x="4355" y="802"/>
                </a:lnTo>
                <a:lnTo>
                  <a:pt x="4252" y="737"/>
                </a:lnTo>
                <a:lnTo>
                  <a:pt x="4146" y="677"/>
                </a:lnTo>
                <a:lnTo>
                  <a:pt x="4039" y="621"/>
                </a:lnTo>
                <a:lnTo>
                  <a:pt x="3930" y="570"/>
                </a:lnTo>
                <a:lnTo>
                  <a:pt x="3820" y="524"/>
                </a:lnTo>
                <a:lnTo>
                  <a:pt x="3709" y="481"/>
                </a:lnTo>
                <a:lnTo>
                  <a:pt x="3599" y="442"/>
                </a:lnTo>
                <a:lnTo>
                  <a:pt x="3489" y="409"/>
                </a:lnTo>
                <a:lnTo>
                  <a:pt x="3380" y="377"/>
                </a:lnTo>
                <a:lnTo>
                  <a:pt x="3273" y="349"/>
                </a:lnTo>
                <a:lnTo>
                  <a:pt x="3168" y="326"/>
                </a:lnTo>
                <a:lnTo>
                  <a:pt x="3066" y="304"/>
                </a:lnTo>
                <a:lnTo>
                  <a:pt x="2969" y="287"/>
                </a:lnTo>
                <a:lnTo>
                  <a:pt x="2874" y="271"/>
                </a:lnTo>
                <a:lnTo>
                  <a:pt x="2783" y="257"/>
                </a:lnTo>
                <a:lnTo>
                  <a:pt x="2698" y="246"/>
                </a:lnTo>
                <a:lnTo>
                  <a:pt x="2618" y="237"/>
                </a:lnTo>
                <a:lnTo>
                  <a:pt x="2545" y="230"/>
                </a:lnTo>
                <a:lnTo>
                  <a:pt x="2478" y="224"/>
                </a:lnTo>
                <a:lnTo>
                  <a:pt x="2418" y="219"/>
                </a:lnTo>
                <a:lnTo>
                  <a:pt x="2366" y="217"/>
                </a:lnTo>
                <a:lnTo>
                  <a:pt x="2322" y="215"/>
                </a:lnTo>
                <a:lnTo>
                  <a:pt x="2262" y="212"/>
                </a:lnTo>
                <a:lnTo>
                  <a:pt x="2241" y="212"/>
                </a:lnTo>
                <a:lnTo>
                  <a:pt x="2270" y="221"/>
                </a:lnTo>
                <a:lnTo>
                  <a:pt x="2356" y="244"/>
                </a:lnTo>
                <a:lnTo>
                  <a:pt x="2417" y="264"/>
                </a:lnTo>
                <a:lnTo>
                  <a:pt x="2490" y="287"/>
                </a:lnTo>
                <a:lnTo>
                  <a:pt x="2573" y="315"/>
                </a:lnTo>
                <a:lnTo>
                  <a:pt x="2666" y="348"/>
                </a:lnTo>
                <a:lnTo>
                  <a:pt x="2767" y="387"/>
                </a:lnTo>
                <a:lnTo>
                  <a:pt x="2876" y="431"/>
                </a:lnTo>
                <a:lnTo>
                  <a:pt x="2991" y="481"/>
                </a:lnTo>
                <a:lnTo>
                  <a:pt x="3113" y="536"/>
                </a:lnTo>
                <a:lnTo>
                  <a:pt x="3240" y="598"/>
                </a:lnTo>
                <a:lnTo>
                  <a:pt x="3370" y="665"/>
                </a:lnTo>
                <a:lnTo>
                  <a:pt x="3505" y="740"/>
                </a:lnTo>
                <a:lnTo>
                  <a:pt x="3642" y="821"/>
                </a:lnTo>
                <a:lnTo>
                  <a:pt x="3781" y="908"/>
                </a:lnTo>
                <a:lnTo>
                  <a:pt x="3921" y="1003"/>
                </a:lnTo>
                <a:lnTo>
                  <a:pt x="4060" y="1104"/>
                </a:lnTo>
                <a:lnTo>
                  <a:pt x="4198" y="1213"/>
                </a:lnTo>
                <a:lnTo>
                  <a:pt x="4335" y="1331"/>
                </a:lnTo>
                <a:lnTo>
                  <a:pt x="4469" y="1455"/>
                </a:lnTo>
                <a:lnTo>
                  <a:pt x="4599" y="1587"/>
                </a:lnTo>
                <a:lnTo>
                  <a:pt x="4725" y="1728"/>
                </a:lnTo>
                <a:lnTo>
                  <a:pt x="4845" y="1876"/>
                </a:lnTo>
                <a:lnTo>
                  <a:pt x="4960" y="2034"/>
                </a:lnTo>
                <a:lnTo>
                  <a:pt x="5067" y="2200"/>
                </a:lnTo>
                <a:lnTo>
                  <a:pt x="5165" y="2375"/>
                </a:lnTo>
                <a:lnTo>
                  <a:pt x="5256" y="2559"/>
                </a:lnTo>
                <a:lnTo>
                  <a:pt x="5336" y="2752"/>
                </a:lnTo>
                <a:lnTo>
                  <a:pt x="5407" y="2955"/>
                </a:lnTo>
                <a:lnTo>
                  <a:pt x="5465" y="3168"/>
                </a:lnTo>
                <a:lnTo>
                  <a:pt x="5516" y="3378"/>
                </a:lnTo>
                <a:lnTo>
                  <a:pt x="5562" y="3576"/>
                </a:lnTo>
                <a:lnTo>
                  <a:pt x="5605" y="3762"/>
                </a:lnTo>
                <a:lnTo>
                  <a:pt x="5645" y="3937"/>
                </a:lnTo>
                <a:lnTo>
                  <a:pt x="5716" y="4254"/>
                </a:lnTo>
                <a:lnTo>
                  <a:pt x="5776" y="4535"/>
                </a:lnTo>
                <a:lnTo>
                  <a:pt x="5827" y="4782"/>
                </a:lnTo>
                <a:lnTo>
                  <a:pt x="5874" y="5001"/>
                </a:lnTo>
                <a:lnTo>
                  <a:pt x="5914" y="5197"/>
                </a:lnTo>
                <a:lnTo>
                  <a:pt x="5953" y="5376"/>
                </a:lnTo>
                <a:lnTo>
                  <a:pt x="5971" y="5460"/>
                </a:lnTo>
                <a:lnTo>
                  <a:pt x="5991" y="5541"/>
                </a:lnTo>
                <a:lnTo>
                  <a:pt x="6011" y="5621"/>
                </a:lnTo>
                <a:lnTo>
                  <a:pt x="6030" y="5699"/>
                </a:lnTo>
                <a:lnTo>
                  <a:pt x="6051" y="5777"/>
                </a:lnTo>
                <a:lnTo>
                  <a:pt x="6073" y="5853"/>
                </a:lnTo>
                <a:lnTo>
                  <a:pt x="6097" y="5931"/>
                </a:lnTo>
                <a:lnTo>
                  <a:pt x="6122" y="6010"/>
                </a:lnTo>
                <a:lnTo>
                  <a:pt x="6149" y="6091"/>
                </a:lnTo>
                <a:lnTo>
                  <a:pt x="6178" y="6175"/>
                </a:lnTo>
                <a:lnTo>
                  <a:pt x="6210" y="6261"/>
                </a:lnTo>
                <a:lnTo>
                  <a:pt x="6244" y="6350"/>
                </a:lnTo>
                <a:lnTo>
                  <a:pt x="6281" y="6444"/>
                </a:lnTo>
                <a:lnTo>
                  <a:pt x="6321" y="6544"/>
                </a:lnTo>
                <a:lnTo>
                  <a:pt x="6365" y="6649"/>
                </a:lnTo>
                <a:lnTo>
                  <a:pt x="6411" y="6759"/>
                </a:lnTo>
                <a:lnTo>
                  <a:pt x="6459" y="6870"/>
                </a:lnTo>
                <a:lnTo>
                  <a:pt x="6505" y="6975"/>
                </a:lnTo>
                <a:lnTo>
                  <a:pt x="6549" y="7074"/>
                </a:lnTo>
                <a:lnTo>
                  <a:pt x="6591" y="7166"/>
                </a:lnTo>
                <a:lnTo>
                  <a:pt x="6631" y="7254"/>
                </a:lnTo>
                <a:lnTo>
                  <a:pt x="6669" y="7336"/>
                </a:lnTo>
                <a:lnTo>
                  <a:pt x="6705" y="7413"/>
                </a:lnTo>
                <a:lnTo>
                  <a:pt x="6740" y="7483"/>
                </a:lnTo>
                <a:lnTo>
                  <a:pt x="6804" y="7612"/>
                </a:lnTo>
                <a:lnTo>
                  <a:pt x="6860" y="7721"/>
                </a:lnTo>
                <a:lnTo>
                  <a:pt x="6910" y="7814"/>
                </a:lnTo>
                <a:lnTo>
                  <a:pt x="6955" y="7891"/>
                </a:lnTo>
                <a:lnTo>
                  <a:pt x="6992" y="7954"/>
                </a:lnTo>
                <a:lnTo>
                  <a:pt x="7024" y="8004"/>
                </a:lnTo>
                <a:lnTo>
                  <a:pt x="7050" y="8042"/>
                </a:lnTo>
                <a:lnTo>
                  <a:pt x="7071" y="8071"/>
                </a:lnTo>
                <a:lnTo>
                  <a:pt x="7087" y="8091"/>
                </a:lnTo>
                <a:lnTo>
                  <a:pt x="7099" y="8102"/>
                </a:lnTo>
                <a:lnTo>
                  <a:pt x="7104" y="8109"/>
                </a:lnTo>
                <a:lnTo>
                  <a:pt x="7107" y="8110"/>
                </a:lnTo>
                <a:lnTo>
                  <a:pt x="7183" y="9752"/>
                </a:lnTo>
                <a:lnTo>
                  <a:pt x="7157" y="9748"/>
                </a:lnTo>
                <a:lnTo>
                  <a:pt x="7079" y="9729"/>
                </a:lnTo>
                <a:lnTo>
                  <a:pt x="7023" y="9715"/>
                </a:lnTo>
                <a:lnTo>
                  <a:pt x="6956" y="9698"/>
                </a:lnTo>
                <a:lnTo>
                  <a:pt x="6880" y="9674"/>
                </a:lnTo>
                <a:lnTo>
                  <a:pt x="6794" y="9649"/>
                </a:lnTo>
                <a:lnTo>
                  <a:pt x="6700" y="9618"/>
                </a:lnTo>
                <a:lnTo>
                  <a:pt x="6598" y="9582"/>
                </a:lnTo>
                <a:lnTo>
                  <a:pt x="6489" y="9540"/>
                </a:lnTo>
                <a:lnTo>
                  <a:pt x="6374" y="9493"/>
                </a:lnTo>
                <a:lnTo>
                  <a:pt x="6253" y="9440"/>
                </a:lnTo>
                <a:lnTo>
                  <a:pt x="6127" y="9382"/>
                </a:lnTo>
                <a:lnTo>
                  <a:pt x="5997" y="9317"/>
                </a:lnTo>
                <a:lnTo>
                  <a:pt x="5863" y="9246"/>
                </a:lnTo>
                <a:lnTo>
                  <a:pt x="5726" y="9167"/>
                </a:lnTo>
                <a:lnTo>
                  <a:pt x="5588" y="9082"/>
                </a:lnTo>
                <a:lnTo>
                  <a:pt x="5448" y="8989"/>
                </a:lnTo>
                <a:lnTo>
                  <a:pt x="5306" y="8890"/>
                </a:lnTo>
                <a:lnTo>
                  <a:pt x="5165" y="8782"/>
                </a:lnTo>
                <a:lnTo>
                  <a:pt x="5025" y="8665"/>
                </a:lnTo>
                <a:lnTo>
                  <a:pt x="4886" y="8541"/>
                </a:lnTo>
                <a:lnTo>
                  <a:pt x="4747" y="8408"/>
                </a:lnTo>
                <a:lnTo>
                  <a:pt x="4613" y="8266"/>
                </a:lnTo>
                <a:lnTo>
                  <a:pt x="4482" y="8115"/>
                </a:lnTo>
                <a:lnTo>
                  <a:pt x="4355" y="7955"/>
                </a:lnTo>
                <a:lnTo>
                  <a:pt x="4232" y="7784"/>
                </a:lnTo>
                <a:lnTo>
                  <a:pt x="4115" y="7604"/>
                </a:lnTo>
                <a:lnTo>
                  <a:pt x="4004" y="7414"/>
                </a:lnTo>
                <a:lnTo>
                  <a:pt x="3901" y="7213"/>
                </a:lnTo>
                <a:lnTo>
                  <a:pt x="3805" y="7000"/>
                </a:lnTo>
                <a:lnTo>
                  <a:pt x="3707" y="6786"/>
                </a:lnTo>
                <a:lnTo>
                  <a:pt x="3599" y="6575"/>
                </a:lnTo>
                <a:lnTo>
                  <a:pt x="3483" y="6371"/>
                </a:lnTo>
                <a:lnTo>
                  <a:pt x="3358" y="6171"/>
                </a:lnTo>
                <a:lnTo>
                  <a:pt x="3226" y="5976"/>
                </a:lnTo>
                <a:lnTo>
                  <a:pt x="3087" y="5787"/>
                </a:lnTo>
                <a:lnTo>
                  <a:pt x="2943" y="5604"/>
                </a:lnTo>
                <a:lnTo>
                  <a:pt x="2795" y="5426"/>
                </a:lnTo>
                <a:lnTo>
                  <a:pt x="2641" y="5253"/>
                </a:lnTo>
                <a:lnTo>
                  <a:pt x="2486" y="5087"/>
                </a:lnTo>
                <a:lnTo>
                  <a:pt x="2328" y="4927"/>
                </a:lnTo>
                <a:lnTo>
                  <a:pt x="2168" y="4772"/>
                </a:lnTo>
                <a:lnTo>
                  <a:pt x="2007" y="4625"/>
                </a:lnTo>
                <a:lnTo>
                  <a:pt x="1848" y="4483"/>
                </a:lnTo>
                <a:lnTo>
                  <a:pt x="1689" y="4348"/>
                </a:lnTo>
                <a:lnTo>
                  <a:pt x="1533" y="4220"/>
                </a:lnTo>
                <a:lnTo>
                  <a:pt x="1379" y="4098"/>
                </a:lnTo>
                <a:lnTo>
                  <a:pt x="1230" y="3984"/>
                </a:lnTo>
                <a:lnTo>
                  <a:pt x="1084" y="3876"/>
                </a:lnTo>
                <a:lnTo>
                  <a:pt x="944" y="3776"/>
                </a:lnTo>
                <a:lnTo>
                  <a:pt x="810" y="3683"/>
                </a:lnTo>
                <a:lnTo>
                  <a:pt x="684" y="3597"/>
                </a:lnTo>
                <a:lnTo>
                  <a:pt x="565" y="3519"/>
                </a:lnTo>
                <a:lnTo>
                  <a:pt x="456" y="3449"/>
                </a:lnTo>
                <a:lnTo>
                  <a:pt x="356" y="3386"/>
                </a:lnTo>
                <a:lnTo>
                  <a:pt x="267" y="3331"/>
                </a:lnTo>
                <a:lnTo>
                  <a:pt x="189" y="3285"/>
                </a:lnTo>
                <a:lnTo>
                  <a:pt x="123" y="3247"/>
                </a:lnTo>
                <a:lnTo>
                  <a:pt x="31" y="3194"/>
                </a:lnTo>
                <a:lnTo>
                  <a:pt x="0" y="3177"/>
                </a:lnTo>
                <a:lnTo>
                  <a:pt x="28" y="3199"/>
                </a:lnTo>
                <a:lnTo>
                  <a:pt x="108" y="3262"/>
                </a:lnTo>
                <a:lnTo>
                  <a:pt x="166" y="3309"/>
                </a:lnTo>
                <a:lnTo>
                  <a:pt x="235" y="3367"/>
                </a:lnTo>
                <a:lnTo>
                  <a:pt x="313" y="3435"/>
                </a:lnTo>
                <a:lnTo>
                  <a:pt x="402" y="3511"/>
                </a:lnTo>
                <a:lnTo>
                  <a:pt x="499" y="3598"/>
                </a:lnTo>
                <a:lnTo>
                  <a:pt x="605" y="3695"/>
                </a:lnTo>
                <a:lnTo>
                  <a:pt x="718" y="3802"/>
                </a:lnTo>
                <a:lnTo>
                  <a:pt x="836" y="3916"/>
                </a:lnTo>
                <a:lnTo>
                  <a:pt x="961" y="4041"/>
                </a:lnTo>
                <a:lnTo>
                  <a:pt x="1091" y="4173"/>
                </a:lnTo>
                <a:lnTo>
                  <a:pt x="1226" y="4316"/>
                </a:lnTo>
                <a:lnTo>
                  <a:pt x="1364" y="4466"/>
                </a:lnTo>
                <a:lnTo>
                  <a:pt x="1505" y="4625"/>
                </a:lnTo>
                <a:lnTo>
                  <a:pt x="1649" y="4792"/>
                </a:lnTo>
                <a:lnTo>
                  <a:pt x="1794" y="4967"/>
                </a:lnTo>
                <a:lnTo>
                  <a:pt x="1940" y="5152"/>
                </a:lnTo>
                <a:lnTo>
                  <a:pt x="2085" y="5342"/>
                </a:lnTo>
                <a:lnTo>
                  <a:pt x="2231" y="5542"/>
                </a:lnTo>
                <a:lnTo>
                  <a:pt x="2375" y="5749"/>
                </a:lnTo>
                <a:lnTo>
                  <a:pt x="2517" y="5964"/>
                </a:lnTo>
                <a:lnTo>
                  <a:pt x="2656" y="6184"/>
                </a:lnTo>
                <a:lnTo>
                  <a:pt x="2792" y="6413"/>
                </a:lnTo>
                <a:lnTo>
                  <a:pt x="2925" y="6649"/>
                </a:lnTo>
                <a:lnTo>
                  <a:pt x="3051" y="6891"/>
                </a:lnTo>
                <a:lnTo>
                  <a:pt x="3172" y="7141"/>
                </a:lnTo>
                <a:lnTo>
                  <a:pt x="3287" y="7396"/>
                </a:lnTo>
                <a:lnTo>
                  <a:pt x="3395" y="7659"/>
                </a:lnTo>
                <a:lnTo>
                  <a:pt x="3495" y="7927"/>
                </a:lnTo>
                <a:lnTo>
                  <a:pt x="3597" y="8192"/>
                </a:lnTo>
                <a:lnTo>
                  <a:pt x="3707" y="8443"/>
                </a:lnTo>
                <a:lnTo>
                  <a:pt x="3828" y="8678"/>
                </a:lnTo>
                <a:lnTo>
                  <a:pt x="3956" y="8901"/>
                </a:lnTo>
                <a:lnTo>
                  <a:pt x="4091" y="9111"/>
                </a:lnTo>
                <a:lnTo>
                  <a:pt x="4233" y="9308"/>
                </a:lnTo>
                <a:lnTo>
                  <a:pt x="4381" y="9492"/>
                </a:lnTo>
                <a:lnTo>
                  <a:pt x="4534" y="9665"/>
                </a:lnTo>
                <a:lnTo>
                  <a:pt x="4689" y="9827"/>
                </a:lnTo>
                <a:lnTo>
                  <a:pt x="4848" y="9978"/>
                </a:lnTo>
                <a:lnTo>
                  <a:pt x="5010" y="10117"/>
                </a:lnTo>
                <a:lnTo>
                  <a:pt x="5174" y="10246"/>
                </a:lnTo>
                <a:lnTo>
                  <a:pt x="5336" y="10364"/>
                </a:lnTo>
                <a:lnTo>
                  <a:pt x="5499" y="10473"/>
                </a:lnTo>
                <a:lnTo>
                  <a:pt x="5660" y="10574"/>
                </a:lnTo>
                <a:lnTo>
                  <a:pt x="5820" y="10665"/>
                </a:lnTo>
                <a:lnTo>
                  <a:pt x="5976" y="10747"/>
                </a:lnTo>
                <a:lnTo>
                  <a:pt x="6129" y="10823"/>
                </a:lnTo>
                <a:lnTo>
                  <a:pt x="6277" y="10889"/>
                </a:lnTo>
                <a:lnTo>
                  <a:pt x="6418" y="10948"/>
                </a:lnTo>
                <a:lnTo>
                  <a:pt x="6554" y="11002"/>
                </a:lnTo>
                <a:lnTo>
                  <a:pt x="6683" y="11047"/>
                </a:lnTo>
                <a:lnTo>
                  <a:pt x="6802" y="11088"/>
                </a:lnTo>
                <a:lnTo>
                  <a:pt x="6914" y="11121"/>
                </a:lnTo>
                <a:lnTo>
                  <a:pt x="7015" y="11150"/>
                </a:lnTo>
                <a:lnTo>
                  <a:pt x="7107" y="11174"/>
                </a:lnTo>
                <a:lnTo>
                  <a:pt x="7186" y="11192"/>
                </a:lnTo>
                <a:lnTo>
                  <a:pt x="7252" y="11207"/>
                </a:lnTo>
                <a:lnTo>
                  <a:pt x="7345" y="11225"/>
                </a:lnTo>
                <a:lnTo>
                  <a:pt x="7377" y="11230"/>
                </a:lnTo>
                <a:lnTo>
                  <a:pt x="7378" y="11257"/>
                </a:lnTo>
                <a:lnTo>
                  <a:pt x="7382" y="11335"/>
                </a:lnTo>
                <a:lnTo>
                  <a:pt x="7386" y="11459"/>
                </a:lnTo>
                <a:lnTo>
                  <a:pt x="7391" y="11628"/>
                </a:lnTo>
                <a:lnTo>
                  <a:pt x="7393" y="11726"/>
                </a:lnTo>
                <a:lnTo>
                  <a:pt x="7395" y="11835"/>
                </a:lnTo>
                <a:lnTo>
                  <a:pt x="7396" y="11953"/>
                </a:lnTo>
                <a:lnTo>
                  <a:pt x="7397" y="12078"/>
                </a:lnTo>
                <a:lnTo>
                  <a:pt x="7397" y="12212"/>
                </a:lnTo>
                <a:lnTo>
                  <a:pt x="7396" y="12353"/>
                </a:lnTo>
                <a:lnTo>
                  <a:pt x="7395" y="12502"/>
                </a:lnTo>
                <a:lnTo>
                  <a:pt x="7391" y="12656"/>
                </a:lnTo>
                <a:lnTo>
                  <a:pt x="7386" y="12818"/>
                </a:lnTo>
                <a:lnTo>
                  <a:pt x="7381" y="12984"/>
                </a:lnTo>
                <a:lnTo>
                  <a:pt x="7374" y="13156"/>
                </a:lnTo>
                <a:lnTo>
                  <a:pt x="7366" y="13332"/>
                </a:lnTo>
                <a:lnTo>
                  <a:pt x="7355" y="13512"/>
                </a:lnTo>
                <a:lnTo>
                  <a:pt x="7342" y="13697"/>
                </a:lnTo>
                <a:lnTo>
                  <a:pt x="7328" y="13884"/>
                </a:lnTo>
                <a:lnTo>
                  <a:pt x="7311" y="14073"/>
                </a:lnTo>
                <a:lnTo>
                  <a:pt x="7292" y="14266"/>
                </a:lnTo>
                <a:lnTo>
                  <a:pt x="7272" y="14459"/>
                </a:lnTo>
                <a:lnTo>
                  <a:pt x="7247" y="14655"/>
                </a:lnTo>
                <a:lnTo>
                  <a:pt x="7222" y="14851"/>
                </a:lnTo>
                <a:lnTo>
                  <a:pt x="7193" y="15047"/>
                </a:lnTo>
                <a:lnTo>
                  <a:pt x="7160" y="15243"/>
                </a:lnTo>
                <a:lnTo>
                  <a:pt x="7125" y="15438"/>
                </a:lnTo>
                <a:lnTo>
                  <a:pt x="7087" y="15633"/>
                </a:lnTo>
                <a:lnTo>
                  <a:pt x="7045" y="15824"/>
                </a:lnTo>
                <a:lnTo>
                  <a:pt x="6997" y="16006"/>
                </a:lnTo>
                <a:lnTo>
                  <a:pt x="6946" y="16183"/>
                </a:lnTo>
                <a:lnTo>
                  <a:pt x="6891" y="16353"/>
                </a:lnTo>
                <a:lnTo>
                  <a:pt x="6833" y="16516"/>
                </a:lnTo>
                <a:lnTo>
                  <a:pt x="6771" y="16673"/>
                </a:lnTo>
                <a:lnTo>
                  <a:pt x="6706" y="16822"/>
                </a:lnTo>
                <a:lnTo>
                  <a:pt x="6639" y="16965"/>
                </a:lnTo>
                <a:lnTo>
                  <a:pt x="6570" y="17101"/>
                </a:lnTo>
                <a:lnTo>
                  <a:pt x="6501" y="17232"/>
                </a:lnTo>
                <a:lnTo>
                  <a:pt x="6429" y="17355"/>
                </a:lnTo>
                <a:lnTo>
                  <a:pt x="6357" y="17473"/>
                </a:lnTo>
                <a:lnTo>
                  <a:pt x="6285" y="17584"/>
                </a:lnTo>
                <a:lnTo>
                  <a:pt x="6211" y="17689"/>
                </a:lnTo>
                <a:lnTo>
                  <a:pt x="6140" y="17787"/>
                </a:lnTo>
                <a:lnTo>
                  <a:pt x="6069" y="17880"/>
                </a:lnTo>
                <a:lnTo>
                  <a:pt x="5999" y="17967"/>
                </a:lnTo>
                <a:lnTo>
                  <a:pt x="5931" y="18047"/>
                </a:lnTo>
                <a:lnTo>
                  <a:pt x="5864" y="18123"/>
                </a:lnTo>
                <a:lnTo>
                  <a:pt x="5800" y="18191"/>
                </a:lnTo>
                <a:lnTo>
                  <a:pt x="5739" y="18254"/>
                </a:lnTo>
                <a:lnTo>
                  <a:pt x="5682" y="18311"/>
                </a:lnTo>
                <a:lnTo>
                  <a:pt x="5627" y="18363"/>
                </a:lnTo>
                <a:lnTo>
                  <a:pt x="5578" y="18408"/>
                </a:lnTo>
                <a:lnTo>
                  <a:pt x="5532" y="18449"/>
                </a:lnTo>
                <a:lnTo>
                  <a:pt x="5490" y="18483"/>
                </a:lnTo>
                <a:lnTo>
                  <a:pt x="5456" y="18513"/>
                </a:lnTo>
                <a:lnTo>
                  <a:pt x="5425" y="18536"/>
                </a:lnTo>
                <a:lnTo>
                  <a:pt x="5384" y="18568"/>
                </a:lnTo>
                <a:lnTo>
                  <a:pt x="5369" y="18578"/>
                </a:lnTo>
              </a:path>
            </a:pathLst>
          </a:custGeom>
          <a:solidFill>
            <a:schemeClr val="dk2">
              <a:alpha val="2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3" name="Freeform 3"/>
          <p:cNvSpPr/>
          <p:nvPr/>
        </p:nvSpPr>
        <p:spPr>
          <a:xfrm rot="3600000">
            <a:off x="9499161" y="2814542"/>
            <a:ext cx="502920" cy="253841"/>
          </a:xfrm>
          <a:custGeom>
            <a:avLst/>
            <a:gdLst/>
            <a:ahLst/>
            <a:cxnLst/>
            <a:rect l="l" t="t" r="r" b="b"/>
            <a:pathLst>
              <a:path w="8085" h="16320">
                <a:moveTo>
                  <a:pt x="4043" y="0"/>
                </a:moveTo>
                <a:lnTo>
                  <a:pt x="4251" y="19"/>
                </a:lnTo>
                <a:lnTo>
                  <a:pt x="4456" y="75"/>
                </a:lnTo>
                <a:lnTo>
                  <a:pt x="4658" y="167"/>
                </a:lnTo>
                <a:lnTo>
                  <a:pt x="4857" y="292"/>
                </a:lnTo>
                <a:lnTo>
                  <a:pt x="5053" y="448"/>
                </a:lnTo>
                <a:lnTo>
                  <a:pt x="5245" y="632"/>
                </a:lnTo>
                <a:lnTo>
                  <a:pt x="5432" y="845"/>
                </a:lnTo>
                <a:lnTo>
                  <a:pt x="5616" y="1081"/>
                </a:lnTo>
                <a:lnTo>
                  <a:pt x="5795" y="1340"/>
                </a:lnTo>
                <a:lnTo>
                  <a:pt x="5969" y="1622"/>
                </a:lnTo>
                <a:lnTo>
                  <a:pt x="6138" y="1921"/>
                </a:lnTo>
                <a:lnTo>
                  <a:pt x="6302" y="2237"/>
                </a:lnTo>
                <a:lnTo>
                  <a:pt x="6461" y="2568"/>
                </a:lnTo>
                <a:lnTo>
                  <a:pt x="6613" y="2912"/>
                </a:lnTo>
                <a:lnTo>
                  <a:pt x="6761" y="3267"/>
                </a:lnTo>
                <a:lnTo>
                  <a:pt x="6901" y="3630"/>
                </a:lnTo>
                <a:lnTo>
                  <a:pt x="7035" y="4000"/>
                </a:lnTo>
                <a:lnTo>
                  <a:pt x="7162" y="4375"/>
                </a:lnTo>
                <a:lnTo>
                  <a:pt x="7282" y="4752"/>
                </a:lnTo>
                <a:lnTo>
                  <a:pt x="7395" y="5130"/>
                </a:lnTo>
                <a:lnTo>
                  <a:pt x="7500" y="5506"/>
                </a:lnTo>
                <a:lnTo>
                  <a:pt x="7597" y="5879"/>
                </a:lnTo>
                <a:lnTo>
                  <a:pt x="7687" y="6246"/>
                </a:lnTo>
                <a:lnTo>
                  <a:pt x="7767" y="6606"/>
                </a:lnTo>
                <a:lnTo>
                  <a:pt x="7840" y="6956"/>
                </a:lnTo>
                <a:lnTo>
                  <a:pt x="7903" y="7295"/>
                </a:lnTo>
                <a:lnTo>
                  <a:pt x="7958" y="7619"/>
                </a:lnTo>
                <a:lnTo>
                  <a:pt x="8003" y="7928"/>
                </a:lnTo>
                <a:lnTo>
                  <a:pt x="8038" y="8220"/>
                </a:lnTo>
                <a:lnTo>
                  <a:pt x="8064" y="8492"/>
                </a:lnTo>
                <a:lnTo>
                  <a:pt x="8080" y="8741"/>
                </a:lnTo>
                <a:lnTo>
                  <a:pt x="8085" y="8968"/>
                </a:lnTo>
                <a:lnTo>
                  <a:pt x="8080" y="9189"/>
                </a:lnTo>
                <a:lnTo>
                  <a:pt x="8064" y="9426"/>
                </a:lnTo>
                <a:lnTo>
                  <a:pt x="8038" y="9675"/>
                </a:lnTo>
                <a:lnTo>
                  <a:pt x="8003" y="9937"/>
                </a:lnTo>
                <a:lnTo>
                  <a:pt x="7958" y="10210"/>
                </a:lnTo>
                <a:lnTo>
                  <a:pt x="7903" y="10492"/>
                </a:lnTo>
                <a:lnTo>
                  <a:pt x="7840" y="10781"/>
                </a:lnTo>
                <a:lnTo>
                  <a:pt x="7767" y="11077"/>
                </a:lnTo>
                <a:lnTo>
                  <a:pt x="7687" y="11377"/>
                </a:lnTo>
                <a:lnTo>
                  <a:pt x="7597" y="11682"/>
                </a:lnTo>
                <a:lnTo>
                  <a:pt x="7500" y="11988"/>
                </a:lnTo>
                <a:lnTo>
                  <a:pt x="7395" y="12294"/>
                </a:lnTo>
                <a:lnTo>
                  <a:pt x="7282" y="12600"/>
                </a:lnTo>
                <a:lnTo>
                  <a:pt x="7162" y="12904"/>
                </a:lnTo>
                <a:lnTo>
                  <a:pt x="7035" y="13203"/>
                </a:lnTo>
                <a:lnTo>
                  <a:pt x="6901" y="13498"/>
                </a:lnTo>
                <a:lnTo>
                  <a:pt x="6761" y="13785"/>
                </a:lnTo>
                <a:lnTo>
                  <a:pt x="6613" y="14065"/>
                </a:lnTo>
                <a:lnTo>
                  <a:pt x="6461" y="14335"/>
                </a:lnTo>
                <a:lnTo>
                  <a:pt x="6302" y="14594"/>
                </a:lnTo>
                <a:lnTo>
                  <a:pt x="6138" y="14841"/>
                </a:lnTo>
                <a:lnTo>
                  <a:pt x="5969" y="15074"/>
                </a:lnTo>
                <a:lnTo>
                  <a:pt x="5795" y="15291"/>
                </a:lnTo>
                <a:lnTo>
                  <a:pt x="5616" y="15492"/>
                </a:lnTo>
                <a:lnTo>
                  <a:pt x="5432" y="15673"/>
                </a:lnTo>
                <a:lnTo>
                  <a:pt x="5245" y="15837"/>
                </a:lnTo>
                <a:lnTo>
                  <a:pt x="5053" y="15978"/>
                </a:lnTo>
                <a:lnTo>
                  <a:pt x="4857" y="16098"/>
                </a:lnTo>
                <a:lnTo>
                  <a:pt x="4658" y="16193"/>
                </a:lnTo>
                <a:lnTo>
                  <a:pt x="4456" y="16263"/>
                </a:lnTo>
                <a:lnTo>
                  <a:pt x="4251" y="16306"/>
                </a:lnTo>
                <a:lnTo>
                  <a:pt x="4043" y="16320"/>
                </a:lnTo>
                <a:lnTo>
                  <a:pt x="3834" y="16306"/>
                </a:lnTo>
                <a:lnTo>
                  <a:pt x="3629" y="16263"/>
                </a:lnTo>
                <a:lnTo>
                  <a:pt x="3427" y="16193"/>
                </a:lnTo>
                <a:lnTo>
                  <a:pt x="3228" y="16098"/>
                </a:lnTo>
                <a:lnTo>
                  <a:pt x="3032" y="15978"/>
                </a:lnTo>
                <a:lnTo>
                  <a:pt x="2840" y="15837"/>
                </a:lnTo>
                <a:lnTo>
                  <a:pt x="2653" y="15673"/>
                </a:lnTo>
                <a:lnTo>
                  <a:pt x="2469" y="15492"/>
                </a:lnTo>
                <a:lnTo>
                  <a:pt x="2290" y="15291"/>
                </a:lnTo>
                <a:lnTo>
                  <a:pt x="2116" y="15074"/>
                </a:lnTo>
                <a:lnTo>
                  <a:pt x="1947" y="14841"/>
                </a:lnTo>
                <a:lnTo>
                  <a:pt x="1783" y="14594"/>
                </a:lnTo>
                <a:lnTo>
                  <a:pt x="1624" y="14335"/>
                </a:lnTo>
                <a:lnTo>
                  <a:pt x="1472" y="14065"/>
                </a:lnTo>
                <a:lnTo>
                  <a:pt x="1324" y="13785"/>
                </a:lnTo>
                <a:lnTo>
                  <a:pt x="1184" y="13498"/>
                </a:lnTo>
                <a:lnTo>
                  <a:pt x="1050" y="13203"/>
                </a:lnTo>
                <a:lnTo>
                  <a:pt x="923" y="12904"/>
                </a:lnTo>
                <a:lnTo>
                  <a:pt x="803" y="12600"/>
                </a:lnTo>
                <a:lnTo>
                  <a:pt x="690" y="12294"/>
                </a:lnTo>
                <a:lnTo>
                  <a:pt x="585" y="11988"/>
                </a:lnTo>
                <a:lnTo>
                  <a:pt x="488" y="11682"/>
                </a:lnTo>
                <a:lnTo>
                  <a:pt x="398" y="11377"/>
                </a:lnTo>
                <a:lnTo>
                  <a:pt x="318" y="11077"/>
                </a:lnTo>
                <a:lnTo>
                  <a:pt x="245" y="10781"/>
                </a:lnTo>
                <a:lnTo>
                  <a:pt x="182" y="10492"/>
                </a:lnTo>
                <a:lnTo>
                  <a:pt x="127" y="10210"/>
                </a:lnTo>
                <a:lnTo>
                  <a:pt x="82" y="9937"/>
                </a:lnTo>
                <a:lnTo>
                  <a:pt x="47" y="9675"/>
                </a:lnTo>
                <a:lnTo>
                  <a:pt x="21" y="9426"/>
                </a:lnTo>
                <a:lnTo>
                  <a:pt x="5" y="9189"/>
                </a:lnTo>
                <a:lnTo>
                  <a:pt x="0" y="8968"/>
                </a:lnTo>
                <a:lnTo>
                  <a:pt x="5" y="8741"/>
                </a:lnTo>
                <a:lnTo>
                  <a:pt x="21" y="8492"/>
                </a:lnTo>
                <a:lnTo>
                  <a:pt x="47" y="8220"/>
                </a:lnTo>
                <a:lnTo>
                  <a:pt x="82" y="7928"/>
                </a:lnTo>
                <a:lnTo>
                  <a:pt x="127" y="7619"/>
                </a:lnTo>
                <a:lnTo>
                  <a:pt x="182" y="7295"/>
                </a:lnTo>
                <a:lnTo>
                  <a:pt x="245" y="6956"/>
                </a:lnTo>
                <a:lnTo>
                  <a:pt x="318" y="6606"/>
                </a:lnTo>
                <a:lnTo>
                  <a:pt x="398" y="6246"/>
                </a:lnTo>
                <a:lnTo>
                  <a:pt x="488" y="5879"/>
                </a:lnTo>
                <a:lnTo>
                  <a:pt x="585" y="5506"/>
                </a:lnTo>
                <a:lnTo>
                  <a:pt x="690" y="5130"/>
                </a:lnTo>
                <a:lnTo>
                  <a:pt x="803" y="4752"/>
                </a:lnTo>
                <a:lnTo>
                  <a:pt x="923" y="4375"/>
                </a:lnTo>
                <a:lnTo>
                  <a:pt x="1050" y="4000"/>
                </a:lnTo>
                <a:lnTo>
                  <a:pt x="1184" y="3630"/>
                </a:lnTo>
                <a:lnTo>
                  <a:pt x="1324" y="3267"/>
                </a:lnTo>
                <a:lnTo>
                  <a:pt x="1472" y="2912"/>
                </a:lnTo>
                <a:lnTo>
                  <a:pt x="1624" y="2568"/>
                </a:lnTo>
                <a:lnTo>
                  <a:pt x="1783" y="2237"/>
                </a:lnTo>
                <a:lnTo>
                  <a:pt x="1947" y="1921"/>
                </a:lnTo>
                <a:lnTo>
                  <a:pt x="2116" y="1622"/>
                </a:lnTo>
                <a:lnTo>
                  <a:pt x="2290" y="1340"/>
                </a:lnTo>
                <a:lnTo>
                  <a:pt x="2469" y="1081"/>
                </a:lnTo>
                <a:lnTo>
                  <a:pt x="2653" y="845"/>
                </a:lnTo>
                <a:lnTo>
                  <a:pt x="2840" y="632"/>
                </a:lnTo>
                <a:lnTo>
                  <a:pt x="3032" y="448"/>
                </a:lnTo>
                <a:lnTo>
                  <a:pt x="3228" y="292"/>
                </a:lnTo>
                <a:lnTo>
                  <a:pt x="3427" y="167"/>
                </a:lnTo>
                <a:lnTo>
                  <a:pt x="3629" y="75"/>
                </a:lnTo>
                <a:lnTo>
                  <a:pt x="3834" y="19"/>
                </a:lnTo>
                <a:lnTo>
                  <a:pt x="4043" y="0"/>
                </a:lnTo>
              </a:path>
            </a:pathLst>
          </a:custGeom>
          <a:solidFill>
            <a:schemeClr val="dk2">
              <a:alpha val="5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4" name="AutoShape 4"/>
          <p:cNvSpPr/>
          <p:nvPr/>
        </p:nvSpPr>
        <p:spPr>
          <a:xfrm>
            <a:off x="10388711" y="3630578"/>
            <a:ext cx="1333289" cy="1333289"/>
          </a:xfrm>
          <a:prstGeom prst="ellipse">
            <a:avLst/>
          </a:prstGeom>
          <a:solidFill>
            <a:schemeClr val="lt2">
              <a:alpha val="100000"/>
            </a:schemeClr>
          </a:solidFill>
          <a:ln w="12668">
            <a:solidFill>
              <a:schemeClr val="accent1">
                <a:alpha val="100000"/>
                <a:lumMod val="40000"/>
                <a:lumMod val="6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5" name="AutoShape 5"/>
          <p:cNvSpPr/>
          <p:nvPr/>
        </p:nvSpPr>
        <p:spPr>
          <a:xfrm>
            <a:off x="10711636" y="2414061"/>
            <a:ext cx="988232" cy="988232"/>
          </a:xfrm>
          <a:prstGeom prst="ellipse">
            <a:avLst/>
          </a:prstGeom>
          <a:solidFill>
            <a:schemeClr val="lt2">
              <a:alpha val="100000"/>
            </a:schemeClr>
          </a:solidFill>
          <a:ln w="12668">
            <a:solidFill>
              <a:schemeClr val="accent1">
                <a:alpha val="100000"/>
                <a:lumMod val="40000"/>
                <a:lumMod val="6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6" name="AutoShape 6"/>
          <p:cNvSpPr/>
          <p:nvPr/>
        </p:nvSpPr>
        <p:spPr>
          <a:xfrm>
            <a:off x="7632070" y="2414061"/>
            <a:ext cx="589896" cy="589896"/>
          </a:xfrm>
          <a:prstGeom prst="ellipse">
            <a:avLst/>
          </a:prstGeom>
          <a:solidFill>
            <a:schemeClr val="lt2">
              <a:alpha val="100000"/>
            </a:schemeClr>
          </a:solidFill>
          <a:ln w="12668">
            <a:solidFill>
              <a:schemeClr val="accent1">
                <a:alpha val="100000"/>
                <a:lumMod val="40000"/>
                <a:lumMod val="6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7" name="AutoShape 7"/>
          <p:cNvSpPr/>
          <p:nvPr/>
        </p:nvSpPr>
        <p:spPr>
          <a:xfrm>
            <a:off x="7026716" y="3431392"/>
            <a:ext cx="1043690" cy="1043690"/>
          </a:xfrm>
          <a:prstGeom prst="ellipse">
            <a:avLst/>
          </a:prstGeom>
          <a:solidFill>
            <a:schemeClr val="lt2">
              <a:alpha val="100000"/>
            </a:schemeClr>
          </a:solidFill>
          <a:ln w="12668">
            <a:solidFill>
              <a:schemeClr val="accent1">
                <a:alpha val="100000"/>
                <a:lumMod val="40000"/>
                <a:lumMod val="6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8" name="AutoShape 8"/>
          <p:cNvSpPr/>
          <p:nvPr/>
        </p:nvSpPr>
        <p:spPr>
          <a:xfrm>
            <a:off x="8941003" y="1583774"/>
            <a:ext cx="1128889" cy="1128889"/>
          </a:xfrm>
          <a:prstGeom prst="ellipse">
            <a:avLst/>
          </a:prstGeom>
          <a:solidFill>
            <a:schemeClr val="lt2">
              <a:alpha val="100000"/>
            </a:schemeClr>
          </a:solidFill>
          <a:ln w="12668">
            <a:solidFill>
              <a:schemeClr val="accent1">
                <a:alpha val="100000"/>
                <a:lumMod val="40000"/>
                <a:lumMod val="6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第一级成果展示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eyJfdGVtcGxhdGVEYXRhIjp7ImNvbnRlbnRUeXBlIjoiJHRpdGxlIiwibGluZUNvdW50IjoiMSIsIndvcmRDb3VudCI6IjI3In0sInRhZyI6IiR0aXRsZSJ9</bd:templateData>
          </p:ext>
        </p:extLst>
      </p:sp>
      <p:sp>
        <p:nvSpPr>
          <p:cNvPr id="10" name="TextBox 10"/>
          <p:cNvSpPr txBox="1"/>
          <p:nvPr/>
        </p:nvSpPr>
        <p:spPr>
          <a:xfrm>
            <a:off x="10576575" y="4805528"/>
            <a:ext cx="1428750" cy="142875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endParaRPr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1" name="Freeform 11"/>
          <p:cNvSpPr/>
          <p:nvPr/>
        </p:nvSpPr>
        <p:spPr>
          <a:xfrm>
            <a:off x="9136068" y="1778839"/>
            <a:ext cx="738759" cy="738759"/>
          </a:xfrm>
          <a:custGeom>
            <a:avLst/>
            <a:gdLst/>
            <a:ahLst/>
            <a:cxnLst/>
            <a:rect l="l" t="t" r="r" b="b"/>
            <a:pathLst>
              <a:path w="20741" h="20742">
                <a:moveTo>
                  <a:pt x="10370" y="1"/>
                </a:moveTo>
                <a:cubicBezTo>
                  <a:pt x="4644" y="1"/>
                  <a:pt x="0" y="4644"/>
                  <a:pt x="0" y="10371"/>
                </a:cubicBezTo>
                <a:cubicBezTo>
                  <a:pt x="0" y="16098"/>
                  <a:pt x="4644" y="20741"/>
                  <a:pt x="10370" y="20741"/>
                </a:cubicBezTo>
                <a:cubicBezTo>
                  <a:pt x="16097" y="20741"/>
                  <a:pt x="20741" y="16098"/>
                  <a:pt x="20741" y="10371"/>
                </a:cubicBezTo>
                <a:cubicBezTo>
                  <a:pt x="20741" y="4644"/>
                  <a:pt x="16097" y="1"/>
                  <a:pt x="10370" y="1"/>
                </a:cubicBezTo>
              </a:path>
            </a:pathLst>
          </a:custGeom>
          <a:gradFill>
            <a:gsLst>
              <a:gs pos="0">
                <a:schemeClr val="accent1">
                  <a:alpha val="100000"/>
                  <a:lumMod val="60000"/>
                  <a:lumOff val="40000"/>
                </a:schemeClr>
              </a:gs>
              <a:gs pos="60000">
                <a:schemeClr val="accent1">
                  <a:alpha val="100000"/>
                </a:schemeClr>
              </a:gs>
            </a:gsLst>
            <a:lin ang="2700000"/>
          </a:gradFill>
          <a:ln/>
        </p:spPr>
        <p:txBody>
          <a:bodyPr vert="horz" wrap="square" rtlCol="0" anchor="ctr" anchorCtr="0">
            <a:noAutofit/>
          </a:bodyPr>
          <a:lstStyle/>
          <a:p>
            <a:pPr algn="ctr">
              <a:defRPr/>
            </a:pPr>
            <a:r>
              <a:rPr lang="en-US" sz="14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01</a:t>
            </a:r>
            <a:endParaRPr lang="en-US" sz="1100"/>
          </a:p>
        </p:txBody>
        <p:extLst>
          <p:ext uri="http://schemas.baidu.com/office/drawing/2023/templateData">
            <bd:templateData xmlns="" xmlns:bd="http://schemas.baidu.com/office/drawing/2023/templateData">eyJfdGVtcGxhdGVEYXRhIjp7ImxpbmVDb3VudCI6IjMiLCJ3b3JkQ291bnQiOiIyIn0sInRhZyI6Im5vRWRpdCJ9</bd:templateData>
          </p:ext>
        </p:extLst>
      </p:sp>
      <p:sp>
        <p:nvSpPr>
          <p:cNvPr id="12" name="Freeform 12"/>
          <p:cNvSpPr/>
          <p:nvPr/>
        </p:nvSpPr>
        <p:spPr>
          <a:xfrm>
            <a:off x="7178276" y="3582953"/>
            <a:ext cx="740569" cy="740569"/>
          </a:xfrm>
          <a:custGeom>
            <a:avLst/>
            <a:gdLst/>
            <a:ahLst/>
            <a:cxnLst/>
            <a:rect l="l" t="t" r="r" b="b"/>
            <a:pathLst>
              <a:path w="20741" h="20742">
                <a:moveTo>
                  <a:pt x="10370" y="1"/>
                </a:moveTo>
                <a:cubicBezTo>
                  <a:pt x="4644" y="1"/>
                  <a:pt x="0" y="4644"/>
                  <a:pt x="0" y="10371"/>
                </a:cubicBezTo>
                <a:cubicBezTo>
                  <a:pt x="0" y="16098"/>
                  <a:pt x="4644" y="20741"/>
                  <a:pt x="10370" y="20741"/>
                </a:cubicBezTo>
                <a:cubicBezTo>
                  <a:pt x="16097" y="20741"/>
                  <a:pt x="20741" y="16098"/>
                  <a:pt x="20741" y="10371"/>
                </a:cubicBezTo>
                <a:cubicBezTo>
                  <a:pt x="20741" y="4644"/>
                  <a:pt x="16097" y="1"/>
                  <a:pt x="10370" y="1"/>
                </a:cubicBezTo>
              </a:path>
            </a:pathLst>
          </a:custGeom>
          <a:gradFill>
            <a:gsLst>
              <a:gs pos="0">
                <a:schemeClr val="accent1">
                  <a:alpha val="100000"/>
                  <a:lumMod val="60000"/>
                  <a:lumOff val="40000"/>
                </a:schemeClr>
              </a:gs>
              <a:gs pos="60000">
                <a:schemeClr val="accent1">
                  <a:alpha val="100000"/>
                </a:schemeClr>
              </a:gs>
            </a:gsLst>
            <a:lin ang="2700000"/>
          </a:gradFill>
          <a:ln/>
        </p:spPr>
        <p:txBody>
          <a:bodyPr vert="horz" wrap="square" rtlCol="0" anchor="ctr" anchorCtr="0">
            <a:noAutofit/>
          </a:bodyPr>
          <a:lstStyle/>
          <a:p>
            <a:pPr algn="ctr">
              <a:defRPr/>
            </a:pPr>
            <a:r>
              <a:rPr lang="en-US" sz="14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02</a:t>
            </a:r>
            <a:endParaRPr lang="en-US" sz="1100"/>
          </a:p>
        </p:txBody>
        <p:extLst>
          <p:ext uri="http://schemas.baidu.com/office/drawing/2023/templateData">
            <bd:templateData xmlns="" xmlns:bd="http://schemas.baidu.com/office/drawing/2023/templateData">eyJfdGVtcGxhdGVEYXRhIjp7ImxpbmVDb3VudCI6IjMiLCJ3b3JkQ291bnQiOiIyIn0sInRhZyI6Im5vRWRpdCJ9</bd:templateData>
          </p:ext>
        </p:extLst>
      </p:sp>
      <p:sp>
        <p:nvSpPr>
          <p:cNvPr id="13" name="Freeform 13"/>
          <p:cNvSpPr/>
          <p:nvPr/>
        </p:nvSpPr>
        <p:spPr>
          <a:xfrm>
            <a:off x="10552816" y="3780854"/>
            <a:ext cx="1005078" cy="1005078"/>
          </a:xfrm>
          <a:custGeom>
            <a:avLst/>
            <a:gdLst/>
            <a:ahLst/>
            <a:cxnLst/>
            <a:rect l="l" t="t" r="r" b="b"/>
            <a:pathLst>
              <a:path w="20741" h="20742">
                <a:moveTo>
                  <a:pt x="10370" y="1"/>
                </a:moveTo>
                <a:cubicBezTo>
                  <a:pt x="4644" y="1"/>
                  <a:pt x="0" y="4644"/>
                  <a:pt x="0" y="10371"/>
                </a:cubicBezTo>
                <a:cubicBezTo>
                  <a:pt x="0" y="16098"/>
                  <a:pt x="4644" y="20741"/>
                  <a:pt x="10370" y="20741"/>
                </a:cubicBezTo>
                <a:cubicBezTo>
                  <a:pt x="16097" y="20741"/>
                  <a:pt x="20741" y="16098"/>
                  <a:pt x="20741" y="10371"/>
                </a:cubicBezTo>
                <a:cubicBezTo>
                  <a:pt x="20741" y="4644"/>
                  <a:pt x="16097" y="1"/>
                  <a:pt x="10370" y="1"/>
                </a:cubicBezTo>
              </a:path>
            </a:pathLst>
          </a:custGeom>
          <a:gradFill>
            <a:gsLst>
              <a:gs pos="0">
                <a:schemeClr val="accent1">
                  <a:alpha val="100000"/>
                  <a:lumMod val="60000"/>
                  <a:lumOff val="40000"/>
                </a:schemeClr>
              </a:gs>
              <a:gs pos="60000">
                <a:schemeClr val="accent1">
                  <a:alpha val="100000"/>
                </a:schemeClr>
              </a:gs>
            </a:gsLst>
            <a:lin ang="2700000"/>
          </a:gradFill>
          <a:ln/>
        </p:spPr>
        <p:txBody>
          <a:bodyPr vert="horz" wrap="square" rtlCol="0" anchor="ctr" anchorCtr="0">
            <a:noAutofit/>
          </a:bodyPr>
          <a:lstStyle/>
          <a:p>
            <a:pPr algn="ctr">
              <a:defRPr/>
            </a:pPr>
            <a:r>
              <a:rPr lang="en-US" sz="14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03</a:t>
            </a:r>
            <a:endParaRPr lang="en-US" sz="1100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4" name="Freeform 14"/>
          <p:cNvSpPr/>
          <p:nvPr/>
        </p:nvSpPr>
        <p:spPr>
          <a:xfrm rot="6300000">
            <a:off x="10137145" y="3012377"/>
            <a:ext cx="341376" cy="172307"/>
          </a:xfrm>
          <a:custGeom>
            <a:avLst/>
            <a:gdLst/>
            <a:ahLst/>
            <a:cxnLst/>
            <a:rect l="l" t="t" r="r" b="b"/>
            <a:pathLst>
              <a:path w="8085" h="16320">
                <a:moveTo>
                  <a:pt x="4043" y="0"/>
                </a:moveTo>
                <a:lnTo>
                  <a:pt x="4251" y="19"/>
                </a:lnTo>
                <a:lnTo>
                  <a:pt x="4456" y="75"/>
                </a:lnTo>
                <a:lnTo>
                  <a:pt x="4658" y="167"/>
                </a:lnTo>
                <a:lnTo>
                  <a:pt x="4857" y="292"/>
                </a:lnTo>
                <a:lnTo>
                  <a:pt x="5053" y="448"/>
                </a:lnTo>
                <a:lnTo>
                  <a:pt x="5245" y="632"/>
                </a:lnTo>
                <a:lnTo>
                  <a:pt x="5432" y="845"/>
                </a:lnTo>
                <a:lnTo>
                  <a:pt x="5616" y="1081"/>
                </a:lnTo>
                <a:lnTo>
                  <a:pt x="5795" y="1340"/>
                </a:lnTo>
                <a:lnTo>
                  <a:pt x="5969" y="1622"/>
                </a:lnTo>
                <a:lnTo>
                  <a:pt x="6138" y="1921"/>
                </a:lnTo>
                <a:lnTo>
                  <a:pt x="6302" y="2237"/>
                </a:lnTo>
                <a:lnTo>
                  <a:pt x="6461" y="2568"/>
                </a:lnTo>
                <a:lnTo>
                  <a:pt x="6613" y="2912"/>
                </a:lnTo>
                <a:lnTo>
                  <a:pt x="6761" y="3267"/>
                </a:lnTo>
                <a:lnTo>
                  <a:pt x="6901" y="3630"/>
                </a:lnTo>
                <a:lnTo>
                  <a:pt x="7035" y="4000"/>
                </a:lnTo>
                <a:lnTo>
                  <a:pt x="7162" y="4375"/>
                </a:lnTo>
                <a:lnTo>
                  <a:pt x="7282" y="4752"/>
                </a:lnTo>
                <a:lnTo>
                  <a:pt x="7395" y="5130"/>
                </a:lnTo>
                <a:lnTo>
                  <a:pt x="7500" y="5506"/>
                </a:lnTo>
                <a:lnTo>
                  <a:pt x="7597" y="5879"/>
                </a:lnTo>
                <a:lnTo>
                  <a:pt x="7687" y="6246"/>
                </a:lnTo>
                <a:lnTo>
                  <a:pt x="7767" y="6606"/>
                </a:lnTo>
                <a:lnTo>
                  <a:pt x="7840" y="6956"/>
                </a:lnTo>
                <a:lnTo>
                  <a:pt x="7903" y="7295"/>
                </a:lnTo>
                <a:lnTo>
                  <a:pt x="7958" y="7619"/>
                </a:lnTo>
                <a:lnTo>
                  <a:pt x="8003" y="7928"/>
                </a:lnTo>
                <a:lnTo>
                  <a:pt x="8038" y="8220"/>
                </a:lnTo>
                <a:lnTo>
                  <a:pt x="8064" y="8492"/>
                </a:lnTo>
                <a:lnTo>
                  <a:pt x="8080" y="8741"/>
                </a:lnTo>
                <a:lnTo>
                  <a:pt x="8085" y="8968"/>
                </a:lnTo>
                <a:lnTo>
                  <a:pt x="8080" y="9189"/>
                </a:lnTo>
                <a:lnTo>
                  <a:pt x="8064" y="9426"/>
                </a:lnTo>
                <a:lnTo>
                  <a:pt x="8038" y="9675"/>
                </a:lnTo>
                <a:lnTo>
                  <a:pt x="8003" y="9937"/>
                </a:lnTo>
                <a:lnTo>
                  <a:pt x="7958" y="10210"/>
                </a:lnTo>
                <a:lnTo>
                  <a:pt x="7903" y="10492"/>
                </a:lnTo>
                <a:lnTo>
                  <a:pt x="7840" y="10781"/>
                </a:lnTo>
                <a:lnTo>
                  <a:pt x="7767" y="11077"/>
                </a:lnTo>
                <a:lnTo>
                  <a:pt x="7687" y="11377"/>
                </a:lnTo>
                <a:lnTo>
                  <a:pt x="7597" y="11682"/>
                </a:lnTo>
                <a:lnTo>
                  <a:pt x="7500" y="11988"/>
                </a:lnTo>
                <a:lnTo>
                  <a:pt x="7395" y="12294"/>
                </a:lnTo>
                <a:lnTo>
                  <a:pt x="7282" y="12600"/>
                </a:lnTo>
                <a:lnTo>
                  <a:pt x="7162" y="12904"/>
                </a:lnTo>
                <a:lnTo>
                  <a:pt x="7035" y="13203"/>
                </a:lnTo>
                <a:lnTo>
                  <a:pt x="6901" y="13498"/>
                </a:lnTo>
                <a:lnTo>
                  <a:pt x="6761" y="13785"/>
                </a:lnTo>
                <a:lnTo>
                  <a:pt x="6613" y="14065"/>
                </a:lnTo>
                <a:lnTo>
                  <a:pt x="6461" y="14335"/>
                </a:lnTo>
                <a:lnTo>
                  <a:pt x="6302" y="14594"/>
                </a:lnTo>
                <a:lnTo>
                  <a:pt x="6138" y="14841"/>
                </a:lnTo>
                <a:lnTo>
                  <a:pt x="5969" y="15074"/>
                </a:lnTo>
                <a:lnTo>
                  <a:pt x="5795" y="15291"/>
                </a:lnTo>
                <a:lnTo>
                  <a:pt x="5616" y="15492"/>
                </a:lnTo>
                <a:lnTo>
                  <a:pt x="5432" y="15673"/>
                </a:lnTo>
                <a:lnTo>
                  <a:pt x="5245" y="15837"/>
                </a:lnTo>
                <a:lnTo>
                  <a:pt x="5053" y="15978"/>
                </a:lnTo>
                <a:lnTo>
                  <a:pt x="4857" y="16098"/>
                </a:lnTo>
                <a:lnTo>
                  <a:pt x="4658" y="16193"/>
                </a:lnTo>
                <a:lnTo>
                  <a:pt x="4456" y="16263"/>
                </a:lnTo>
                <a:lnTo>
                  <a:pt x="4251" y="16306"/>
                </a:lnTo>
                <a:lnTo>
                  <a:pt x="4043" y="16320"/>
                </a:lnTo>
                <a:lnTo>
                  <a:pt x="3834" y="16306"/>
                </a:lnTo>
                <a:lnTo>
                  <a:pt x="3629" y="16263"/>
                </a:lnTo>
                <a:lnTo>
                  <a:pt x="3427" y="16193"/>
                </a:lnTo>
                <a:lnTo>
                  <a:pt x="3228" y="16098"/>
                </a:lnTo>
                <a:lnTo>
                  <a:pt x="3032" y="15978"/>
                </a:lnTo>
                <a:lnTo>
                  <a:pt x="2840" y="15837"/>
                </a:lnTo>
                <a:lnTo>
                  <a:pt x="2653" y="15673"/>
                </a:lnTo>
                <a:lnTo>
                  <a:pt x="2469" y="15492"/>
                </a:lnTo>
                <a:lnTo>
                  <a:pt x="2290" y="15291"/>
                </a:lnTo>
                <a:lnTo>
                  <a:pt x="2116" y="15074"/>
                </a:lnTo>
                <a:lnTo>
                  <a:pt x="1947" y="14841"/>
                </a:lnTo>
                <a:lnTo>
                  <a:pt x="1783" y="14594"/>
                </a:lnTo>
                <a:lnTo>
                  <a:pt x="1624" y="14335"/>
                </a:lnTo>
                <a:lnTo>
                  <a:pt x="1472" y="14065"/>
                </a:lnTo>
                <a:lnTo>
                  <a:pt x="1324" y="13785"/>
                </a:lnTo>
                <a:lnTo>
                  <a:pt x="1184" y="13498"/>
                </a:lnTo>
                <a:lnTo>
                  <a:pt x="1050" y="13203"/>
                </a:lnTo>
                <a:lnTo>
                  <a:pt x="923" y="12904"/>
                </a:lnTo>
                <a:lnTo>
                  <a:pt x="803" y="12600"/>
                </a:lnTo>
                <a:lnTo>
                  <a:pt x="690" y="12294"/>
                </a:lnTo>
                <a:lnTo>
                  <a:pt x="585" y="11988"/>
                </a:lnTo>
                <a:lnTo>
                  <a:pt x="488" y="11682"/>
                </a:lnTo>
                <a:lnTo>
                  <a:pt x="398" y="11377"/>
                </a:lnTo>
                <a:lnTo>
                  <a:pt x="318" y="11077"/>
                </a:lnTo>
                <a:lnTo>
                  <a:pt x="245" y="10781"/>
                </a:lnTo>
                <a:lnTo>
                  <a:pt x="182" y="10492"/>
                </a:lnTo>
                <a:lnTo>
                  <a:pt x="127" y="10210"/>
                </a:lnTo>
                <a:lnTo>
                  <a:pt x="82" y="9937"/>
                </a:lnTo>
                <a:lnTo>
                  <a:pt x="47" y="9675"/>
                </a:lnTo>
                <a:lnTo>
                  <a:pt x="21" y="9426"/>
                </a:lnTo>
                <a:lnTo>
                  <a:pt x="5" y="9189"/>
                </a:lnTo>
                <a:lnTo>
                  <a:pt x="0" y="8968"/>
                </a:lnTo>
                <a:lnTo>
                  <a:pt x="5" y="8741"/>
                </a:lnTo>
                <a:lnTo>
                  <a:pt x="21" y="8492"/>
                </a:lnTo>
                <a:lnTo>
                  <a:pt x="47" y="8220"/>
                </a:lnTo>
                <a:lnTo>
                  <a:pt x="82" y="7928"/>
                </a:lnTo>
                <a:lnTo>
                  <a:pt x="127" y="7619"/>
                </a:lnTo>
                <a:lnTo>
                  <a:pt x="182" y="7295"/>
                </a:lnTo>
                <a:lnTo>
                  <a:pt x="245" y="6956"/>
                </a:lnTo>
                <a:lnTo>
                  <a:pt x="318" y="6606"/>
                </a:lnTo>
                <a:lnTo>
                  <a:pt x="398" y="6246"/>
                </a:lnTo>
                <a:lnTo>
                  <a:pt x="488" y="5879"/>
                </a:lnTo>
                <a:lnTo>
                  <a:pt x="585" y="5506"/>
                </a:lnTo>
                <a:lnTo>
                  <a:pt x="690" y="5130"/>
                </a:lnTo>
                <a:lnTo>
                  <a:pt x="803" y="4752"/>
                </a:lnTo>
                <a:lnTo>
                  <a:pt x="923" y="4375"/>
                </a:lnTo>
                <a:lnTo>
                  <a:pt x="1050" y="4000"/>
                </a:lnTo>
                <a:lnTo>
                  <a:pt x="1184" y="3630"/>
                </a:lnTo>
                <a:lnTo>
                  <a:pt x="1324" y="3267"/>
                </a:lnTo>
                <a:lnTo>
                  <a:pt x="1472" y="2912"/>
                </a:lnTo>
                <a:lnTo>
                  <a:pt x="1624" y="2568"/>
                </a:lnTo>
                <a:lnTo>
                  <a:pt x="1783" y="2237"/>
                </a:lnTo>
                <a:lnTo>
                  <a:pt x="1947" y="1921"/>
                </a:lnTo>
                <a:lnTo>
                  <a:pt x="2116" y="1622"/>
                </a:lnTo>
                <a:lnTo>
                  <a:pt x="2290" y="1340"/>
                </a:lnTo>
                <a:lnTo>
                  <a:pt x="2469" y="1081"/>
                </a:lnTo>
                <a:lnTo>
                  <a:pt x="2653" y="845"/>
                </a:lnTo>
                <a:lnTo>
                  <a:pt x="2840" y="632"/>
                </a:lnTo>
                <a:lnTo>
                  <a:pt x="3032" y="448"/>
                </a:lnTo>
                <a:lnTo>
                  <a:pt x="3228" y="292"/>
                </a:lnTo>
                <a:lnTo>
                  <a:pt x="3427" y="167"/>
                </a:lnTo>
                <a:lnTo>
                  <a:pt x="3629" y="75"/>
                </a:lnTo>
                <a:lnTo>
                  <a:pt x="3834" y="19"/>
                </a:lnTo>
                <a:lnTo>
                  <a:pt x="4043" y="0"/>
                </a:lnTo>
              </a:path>
            </a:pathLst>
          </a:custGeom>
          <a:solidFill>
            <a:schemeClr val="dk2">
              <a:alpha val="50000"/>
            </a:schemeClr>
          </a:solidFill>
          <a:ln/>
        </p:spPr>
        <p:txBody>
          <a:bodyPr vert="horz" wrap="square" rtlCol="0" anchor="t" anchorCtr="0">
            <a:noAutofit/>
          </a:bodyPr>
          <a:lstStyle/>
          <a:p>
            <a:pPr algn="l">
              <a:defRPr/>
            </a:pPr>
            <a:endParaRPr lang="en-US" sz="1100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5" name="Freeform 15"/>
          <p:cNvSpPr/>
          <p:nvPr/>
        </p:nvSpPr>
        <p:spPr>
          <a:xfrm rot="900000">
            <a:off x="8112702" y="3056763"/>
            <a:ext cx="359093" cy="181166"/>
          </a:xfrm>
          <a:custGeom>
            <a:avLst/>
            <a:gdLst/>
            <a:ahLst/>
            <a:cxnLst/>
            <a:rect l="l" t="t" r="r" b="b"/>
            <a:pathLst>
              <a:path w="8085" h="16320">
                <a:moveTo>
                  <a:pt x="4043" y="0"/>
                </a:moveTo>
                <a:lnTo>
                  <a:pt x="4251" y="19"/>
                </a:lnTo>
                <a:lnTo>
                  <a:pt x="4456" y="75"/>
                </a:lnTo>
                <a:lnTo>
                  <a:pt x="4658" y="167"/>
                </a:lnTo>
                <a:lnTo>
                  <a:pt x="4857" y="292"/>
                </a:lnTo>
                <a:lnTo>
                  <a:pt x="5053" y="448"/>
                </a:lnTo>
                <a:lnTo>
                  <a:pt x="5245" y="632"/>
                </a:lnTo>
                <a:lnTo>
                  <a:pt x="5432" y="845"/>
                </a:lnTo>
                <a:lnTo>
                  <a:pt x="5616" y="1081"/>
                </a:lnTo>
                <a:lnTo>
                  <a:pt x="5795" y="1340"/>
                </a:lnTo>
                <a:lnTo>
                  <a:pt x="5969" y="1622"/>
                </a:lnTo>
                <a:lnTo>
                  <a:pt x="6138" y="1921"/>
                </a:lnTo>
                <a:lnTo>
                  <a:pt x="6302" y="2237"/>
                </a:lnTo>
                <a:lnTo>
                  <a:pt x="6461" y="2568"/>
                </a:lnTo>
                <a:lnTo>
                  <a:pt x="6613" y="2912"/>
                </a:lnTo>
                <a:lnTo>
                  <a:pt x="6761" y="3267"/>
                </a:lnTo>
                <a:lnTo>
                  <a:pt x="6901" y="3630"/>
                </a:lnTo>
                <a:lnTo>
                  <a:pt x="7035" y="4000"/>
                </a:lnTo>
                <a:lnTo>
                  <a:pt x="7162" y="4375"/>
                </a:lnTo>
                <a:lnTo>
                  <a:pt x="7282" y="4752"/>
                </a:lnTo>
                <a:lnTo>
                  <a:pt x="7395" y="5130"/>
                </a:lnTo>
                <a:lnTo>
                  <a:pt x="7500" y="5506"/>
                </a:lnTo>
                <a:lnTo>
                  <a:pt x="7597" y="5879"/>
                </a:lnTo>
                <a:lnTo>
                  <a:pt x="7687" y="6246"/>
                </a:lnTo>
                <a:lnTo>
                  <a:pt x="7767" y="6606"/>
                </a:lnTo>
                <a:lnTo>
                  <a:pt x="7840" y="6956"/>
                </a:lnTo>
                <a:lnTo>
                  <a:pt x="7903" y="7295"/>
                </a:lnTo>
                <a:lnTo>
                  <a:pt x="7958" y="7619"/>
                </a:lnTo>
                <a:lnTo>
                  <a:pt x="8003" y="7928"/>
                </a:lnTo>
                <a:lnTo>
                  <a:pt x="8038" y="8220"/>
                </a:lnTo>
                <a:lnTo>
                  <a:pt x="8064" y="8492"/>
                </a:lnTo>
                <a:lnTo>
                  <a:pt x="8080" y="8741"/>
                </a:lnTo>
                <a:lnTo>
                  <a:pt x="8085" y="8968"/>
                </a:lnTo>
                <a:lnTo>
                  <a:pt x="8080" y="9189"/>
                </a:lnTo>
                <a:lnTo>
                  <a:pt x="8064" y="9426"/>
                </a:lnTo>
                <a:lnTo>
                  <a:pt x="8038" y="9675"/>
                </a:lnTo>
                <a:lnTo>
                  <a:pt x="8003" y="9937"/>
                </a:lnTo>
                <a:lnTo>
                  <a:pt x="7958" y="10210"/>
                </a:lnTo>
                <a:lnTo>
                  <a:pt x="7903" y="10492"/>
                </a:lnTo>
                <a:lnTo>
                  <a:pt x="7840" y="10781"/>
                </a:lnTo>
                <a:lnTo>
                  <a:pt x="7767" y="11077"/>
                </a:lnTo>
                <a:lnTo>
                  <a:pt x="7687" y="11377"/>
                </a:lnTo>
                <a:lnTo>
                  <a:pt x="7597" y="11682"/>
                </a:lnTo>
                <a:lnTo>
                  <a:pt x="7500" y="11988"/>
                </a:lnTo>
                <a:lnTo>
                  <a:pt x="7395" y="12294"/>
                </a:lnTo>
                <a:lnTo>
                  <a:pt x="7282" y="12600"/>
                </a:lnTo>
                <a:lnTo>
                  <a:pt x="7162" y="12904"/>
                </a:lnTo>
                <a:lnTo>
                  <a:pt x="7035" y="13203"/>
                </a:lnTo>
                <a:lnTo>
                  <a:pt x="6901" y="13498"/>
                </a:lnTo>
                <a:lnTo>
                  <a:pt x="6761" y="13785"/>
                </a:lnTo>
                <a:lnTo>
                  <a:pt x="6613" y="14065"/>
                </a:lnTo>
                <a:lnTo>
                  <a:pt x="6461" y="14335"/>
                </a:lnTo>
                <a:lnTo>
                  <a:pt x="6302" y="14594"/>
                </a:lnTo>
                <a:lnTo>
                  <a:pt x="6138" y="14841"/>
                </a:lnTo>
                <a:lnTo>
                  <a:pt x="5969" y="15074"/>
                </a:lnTo>
                <a:lnTo>
                  <a:pt x="5795" y="15291"/>
                </a:lnTo>
                <a:lnTo>
                  <a:pt x="5616" y="15492"/>
                </a:lnTo>
                <a:lnTo>
                  <a:pt x="5432" y="15673"/>
                </a:lnTo>
                <a:lnTo>
                  <a:pt x="5245" y="15837"/>
                </a:lnTo>
                <a:lnTo>
                  <a:pt x="5053" y="15978"/>
                </a:lnTo>
                <a:lnTo>
                  <a:pt x="4857" y="16098"/>
                </a:lnTo>
                <a:lnTo>
                  <a:pt x="4658" y="16193"/>
                </a:lnTo>
                <a:lnTo>
                  <a:pt x="4456" y="16263"/>
                </a:lnTo>
                <a:lnTo>
                  <a:pt x="4251" y="16306"/>
                </a:lnTo>
                <a:lnTo>
                  <a:pt x="4043" y="16320"/>
                </a:lnTo>
                <a:lnTo>
                  <a:pt x="3834" y="16306"/>
                </a:lnTo>
                <a:lnTo>
                  <a:pt x="3629" y="16263"/>
                </a:lnTo>
                <a:lnTo>
                  <a:pt x="3427" y="16193"/>
                </a:lnTo>
                <a:lnTo>
                  <a:pt x="3228" y="16098"/>
                </a:lnTo>
                <a:lnTo>
                  <a:pt x="3032" y="15978"/>
                </a:lnTo>
                <a:lnTo>
                  <a:pt x="2840" y="15837"/>
                </a:lnTo>
                <a:lnTo>
                  <a:pt x="2653" y="15673"/>
                </a:lnTo>
                <a:lnTo>
                  <a:pt x="2469" y="15492"/>
                </a:lnTo>
                <a:lnTo>
                  <a:pt x="2290" y="15291"/>
                </a:lnTo>
                <a:lnTo>
                  <a:pt x="2116" y="15074"/>
                </a:lnTo>
                <a:lnTo>
                  <a:pt x="1947" y="14841"/>
                </a:lnTo>
                <a:lnTo>
                  <a:pt x="1783" y="14594"/>
                </a:lnTo>
                <a:lnTo>
                  <a:pt x="1624" y="14335"/>
                </a:lnTo>
                <a:lnTo>
                  <a:pt x="1472" y="14065"/>
                </a:lnTo>
                <a:lnTo>
                  <a:pt x="1324" y="13785"/>
                </a:lnTo>
                <a:lnTo>
                  <a:pt x="1184" y="13498"/>
                </a:lnTo>
                <a:lnTo>
                  <a:pt x="1050" y="13203"/>
                </a:lnTo>
                <a:lnTo>
                  <a:pt x="923" y="12904"/>
                </a:lnTo>
                <a:lnTo>
                  <a:pt x="803" y="12600"/>
                </a:lnTo>
                <a:lnTo>
                  <a:pt x="690" y="12294"/>
                </a:lnTo>
                <a:lnTo>
                  <a:pt x="585" y="11988"/>
                </a:lnTo>
                <a:lnTo>
                  <a:pt x="488" y="11682"/>
                </a:lnTo>
                <a:lnTo>
                  <a:pt x="398" y="11377"/>
                </a:lnTo>
                <a:lnTo>
                  <a:pt x="318" y="11077"/>
                </a:lnTo>
                <a:lnTo>
                  <a:pt x="245" y="10781"/>
                </a:lnTo>
                <a:lnTo>
                  <a:pt x="182" y="10492"/>
                </a:lnTo>
                <a:lnTo>
                  <a:pt x="127" y="10210"/>
                </a:lnTo>
                <a:lnTo>
                  <a:pt x="82" y="9937"/>
                </a:lnTo>
                <a:lnTo>
                  <a:pt x="47" y="9675"/>
                </a:lnTo>
                <a:lnTo>
                  <a:pt x="21" y="9426"/>
                </a:lnTo>
                <a:lnTo>
                  <a:pt x="5" y="9189"/>
                </a:lnTo>
                <a:lnTo>
                  <a:pt x="0" y="8968"/>
                </a:lnTo>
                <a:lnTo>
                  <a:pt x="5" y="8741"/>
                </a:lnTo>
                <a:lnTo>
                  <a:pt x="21" y="8492"/>
                </a:lnTo>
                <a:lnTo>
                  <a:pt x="47" y="8220"/>
                </a:lnTo>
                <a:lnTo>
                  <a:pt x="82" y="7928"/>
                </a:lnTo>
                <a:lnTo>
                  <a:pt x="127" y="7619"/>
                </a:lnTo>
                <a:lnTo>
                  <a:pt x="182" y="7295"/>
                </a:lnTo>
                <a:lnTo>
                  <a:pt x="245" y="6956"/>
                </a:lnTo>
                <a:lnTo>
                  <a:pt x="318" y="6606"/>
                </a:lnTo>
                <a:lnTo>
                  <a:pt x="398" y="6246"/>
                </a:lnTo>
                <a:lnTo>
                  <a:pt x="488" y="5879"/>
                </a:lnTo>
                <a:lnTo>
                  <a:pt x="585" y="5506"/>
                </a:lnTo>
                <a:lnTo>
                  <a:pt x="690" y="5130"/>
                </a:lnTo>
                <a:lnTo>
                  <a:pt x="803" y="4752"/>
                </a:lnTo>
                <a:lnTo>
                  <a:pt x="923" y="4375"/>
                </a:lnTo>
                <a:lnTo>
                  <a:pt x="1050" y="4000"/>
                </a:lnTo>
                <a:lnTo>
                  <a:pt x="1184" y="3630"/>
                </a:lnTo>
                <a:lnTo>
                  <a:pt x="1324" y="3267"/>
                </a:lnTo>
                <a:lnTo>
                  <a:pt x="1472" y="2912"/>
                </a:lnTo>
                <a:lnTo>
                  <a:pt x="1624" y="2568"/>
                </a:lnTo>
                <a:lnTo>
                  <a:pt x="1783" y="2237"/>
                </a:lnTo>
                <a:lnTo>
                  <a:pt x="1947" y="1921"/>
                </a:lnTo>
                <a:lnTo>
                  <a:pt x="2116" y="1622"/>
                </a:lnTo>
                <a:lnTo>
                  <a:pt x="2290" y="1340"/>
                </a:lnTo>
                <a:lnTo>
                  <a:pt x="2469" y="1081"/>
                </a:lnTo>
                <a:lnTo>
                  <a:pt x="2653" y="845"/>
                </a:lnTo>
                <a:lnTo>
                  <a:pt x="2840" y="632"/>
                </a:lnTo>
                <a:lnTo>
                  <a:pt x="3032" y="448"/>
                </a:lnTo>
                <a:lnTo>
                  <a:pt x="3228" y="292"/>
                </a:lnTo>
                <a:lnTo>
                  <a:pt x="3427" y="167"/>
                </a:lnTo>
                <a:lnTo>
                  <a:pt x="3629" y="75"/>
                </a:lnTo>
                <a:lnTo>
                  <a:pt x="3834" y="19"/>
                </a:lnTo>
                <a:lnTo>
                  <a:pt x="4043" y="0"/>
                </a:lnTo>
              </a:path>
            </a:pathLst>
          </a:custGeom>
          <a:solidFill>
            <a:schemeClr val="dk2">
              <a:alpha val="5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6" name="Freeform 16"/>
          <p:cNvSpPr/>
          <p:nvPr/>
        </p:nvSpPr>
        <p:spPr>
          <a:xfrm rot="9000000">
            <a:off x="11079930" y="2859881"/>
            <a:ext cx="252984" cy="127635"/>
          </a:xfrm>
          <a:custGeom>
            <a:avLst/>
            <a:gdLst/>
            <a:ahLst/>
            <a:cxnLst/>
            <a:rect l="l" t="t" r="r" b="b"/>
            <a:pathLst>
              <a:path w="8085" h="16320">
                <a:moveTo>
                  <a:pt x="4043" y="0"/>
                </a:moveTo>
                <a:lnTo>
                  <a:pt x="4251" y="19"/>
                </a:lnTo>
                <a:lnTo>
                  <a:pt x="4456" y="75"/>
                </a:lnTo>
                <a:lnTo>
                  <a:pt x="4658" y="167"/>
                </a:lnTo>
                <a:lnTo>
                  <a:pt x="4857" y="292"/>
                </a:lnTo>
                <a:lnTo>
                  <a:pt x="5053" y="448"/>
                </a:lnTo>
                <a:lnTo>
                  <a:pt x="5245" y="632"/>
                </a:lnTo>
                <a:lnTo>
                  <a:pt x="5432" y="845"/>
                </a:lnTo>
                <a:lnTo>
                  <a:pt x="5616" y="1081"/>
                </a:lnTo>
                <a:lnTo>
                  <a:pt x="5795" y="1340"/>
                </a:lnTo>
                <a:lnTo>
                  <a:pt x="5969" y="1622"/>
                </a:lnTo>
                <a:lnTo>
                  <a:pt x="6138" y="1921"/>
                </a:lnTo>
                <a:lnTo>
                  <a:pt x="6302" y="2237"/>
                </a:lnTo>
                <a:lnTo>
                  <a:pt x="6461" y="2568"/>
                </a:lnTo>
                <a:lnTo>
                  <a:pt x="6613" y="2912"/>
                </a:lnTo>
                <a:lnTo>
                  <a:pt x="6761" y="3267"/>
                </a:lnTo>
                <a:lnTo>
                  <a:pt x="6901" y="3630"/>
                </a:lnTo>
                <a:lnTo>
                  <a:pt x="7035" y="4000"/>
                </a:lnTo>
                <a:lnTo>
                  <a:pt x="7162" y="4375"/>
                </a:lnTo>
                <a:lnTo>
                  <a:pt x="7282" y="4752"/>
                </a:lnTo>
                <a:lnTo>
                  <a:pt x="7395" y="5130"/>
                </a:lnTo>
                <a:lnTo>
                  <a:pt x="7500" y="5506"/>
                </a:lnTo>
                <a:lnTo>
                  <a:pt x="7597" y="5879"/>
                </a:lnTo>
                <a:lnTo>
                  <a:pt x="7687" y="6246"/>
                </a:lnTo>
                <a:lnTo>
                  <a:pt x="7767" y="6606"/>
                </a:lnTo>
                <a:lnTo>
                  <a:pt x="7840" y="6956"/>
                </a:lnTo>
                <a:lnTo>
                  <a:pt x="7903" y="7295"/>
                </a:lnTo>
                <a:lnTo>
                  <a:pt x="7958" y="7619"/>
                </a:lnTo>
                <a:lnTo>
                  <a:pt x="8003" y="7928"/>
                </a:lnTo>
                <a:lnTo>
                  <a:pt x="8038" y="8220"/>
                </a:lnTo>
                <a:lnTo>
                  <a:pt x="8064" y="8492"/>
                </a:lnTo>
                <a:lnTo>
                  <a:pt x="8080" y="8741"/>
                </a:lnTo>
                <a:lnTo>
                  <a:pt x="8085" y="8968"/>
                </a:lnTo>
                <a:lnTo>
                  <a:pt x="8080" y="9189"/>
                </a:lnTo>
                <a:lnTo>
                  <a:pt x="8064" y="9426"/>
                </a:lnTo>
                <a:lnTo>
                  <a:pt x="8038" y="9675"/>
                </a:lnTo>
                <a:lnTo>
                  <a:pt x="8003" y="9937"/>
                </a:lnTo>
                <a:lnTo>
                  <a:pt x="7958" y="10210"/>
                </a:lnTo>
                <a:lnTo>
                  <a:pt x="7903" y="10492"/>
                </a:lnTo>
                <a:lnTo>
                  <a:pt x="7840" y="10781"/>
                </a:lnTo>
                <a:lnTo>
                  <a:pt x="7767" y="11077"/>
                </a:lnTo>
                <a:lnTo>
                  <a:pt x="7687" y="11377"/>
                </a:lnTo>
                <a:lnTo>
                  <a:pt x="7597" y="11682"/>
                </a:lnTo>
                <a:lnTo>
                  <a:pt x="7500" y="11988"/>
                </a:lnTo>
                <a:lnTo>
                  <a:pt x="7395" y="12294"/>
                </a:lnTo>
                <a:lnTo>
                  <a:pt x="7282" y="12600"/>
                </a:lnTo>
                <a:lnTo>
                  <a:pt x="7162" y="12904"/>
                </a:lnTo>
                <a:lnTo>
                  <a:pt x="7035" y="13203"/>
                </a:lnTo>
                <a:lnTo>
                  <a:pt x="6901" y="13498"/>
                </a:lnTo>
                <a:lnTo>
                  <a:pt x="6761" y="13785"/>
                </a:lnTo>
                <a:lnTo>
                  <a:pt x="6613" y="14065"/>
                </a:lnTo>
                <a:lnTo>
                  <a:pt x="6461" y="14335"/>
                </a:lnTo>
                <a:lnTo>
                  <a:pt x="6302" y="14594"/>
                </a:lnTo>
                <a:lnTo>
                  <a:pt x="6138" y="14841"/>
                </a:lnTo>
                <a:lnTo>
                  <a:pt x="5969" y="15074"/>
                </a:lnTo>
                <a:lnTo>
                  <a:pt x="5795" y="15291"/>
                </a:lnTo>
                <a:lnTo>
                  <a:pt x="5616" y="15492"/>
                </a:lnTo>
                <a:lnTo>
                  <a:pt x="5432" y="15673"/>
                </a:lnTo>
                <a:lnTo>
                  <a:pt x="5245" y="15837"/>
                </a:lnTo>
                <a:lnTo>
                  <a:pt x="5053" y="15978"/>
                </a:lnTo>
                <a:lnTo>
                  <a:pt x="4857" y="16098"/>
                </a:lnTo>
                <a:lnTo>
                  <a:pt x="4658" y="16193"/>
                </a:lnTo>
                <a:lnTo>
                  <a:pt x="4456" y="16263"/>
                </a:lnTo>
                <a:lnTo>
                  <a:pt x="4251" y="16306"/>
                </a:lnTo>
                <a:lnTo>
                  <a:pt x="4043" y="16320"/>
                </a:lnTo>
                <a:lnTo>
                  <a:pt x="3834" y="16306"/>
                </a:lnTo>
                <a:lnTo>
                  <a:pt x="3629" y="16263"/>
                </a:lnTo>
                <a:lnTo>
                  <a:pt x="3427" y="16193"/>
                </a:lnTo>
                <a:lnTo>
                  <a:pt x="3228" y="16098"/>
                </a:lnTo>
                <a:lnTo>
                  <a:pt x="3032" y="15978"/>
                </a:lnTo>
                <a:lnTo>
                  <a:pt x="2840" y="15837"/>
                </a:lnTo>
                <a:lnTo>
                  <a:pt x="2653" y="15673"/>
                </a:lnTo>
                <a:lnTo>
                  <a:pt x="2469" y="15492"/>
                </a:lnTo>
                <a:lnTo>
                  <a:pt x="2290" y="15291"/>
                </a:lnTo>
                <a:lnTo>
                  <a:pt x="2116" y="15074"/>
                </a:lnTo>
                <a:lnTo>
                  <a:pt x="1947" y="14841"/>
                </a:lnTo>
                <a:lnTo>
                  <a:pt x="1783" y="14594"/>
                </a:lnTo>
                <a:lnTo>
                  <a:pt x="1624" y="14335"/>
                </a:lnTo>
                <a:lnTo>
                  <a:pt x="1472" y="14065"/>
                </a:lnTo>
                <a:lnTo>
                  <a:pt x="1324" y="13785"/>
                </a:lnTo>
                <a:lnTo>
                  <a:pt x="1184" y="13498"/>
                </a:lnTo>
                <a:lnTo>
                  <a:pt x="1050" y="13203"/>
                </a:lnTo>
                <a:lnTo>
                  <a:pt x="923" y="12904"/>
                </a:lnTo>
                <a:lnTo>
                  <a:pt x="803" y="12600"/>
                </a:lnTo>
                <a:lnTo>
                  <a:pt x="690" y="12294"/>
                </a:lnTo>
                <a:lnTo>
                  <a:pt x="585" y="11988"/>
                </a:lnTo>
                <a:lnTo>
                  <a:pt x="488" y="11682"/>
                </a:lnTo>
                <a:lnTo>
                  <a:pt x="398" y="11377"/>
                </a:lnTo>
                <a:lnTo>
                  <a:pt x="318" y="11077"/>
                </a:lnTo>
                <a:lnTo>
                  <a:pt x="245" y="10781"/>
                </a:lnTo>
                <a:lnTo>
                  <a:pt x="182" y="10492"/>
                </a:lnTo>
                <a:lnTo>
                  <a:pt x="127" y="10210"/>
                </a:lnTo>
                <a:lnTo>
                  <a:pt x="82" y="9937"/>
                </a:lnTo>
                <a:lnTo>
                  <a:pt x="47" y="9675"/>
                </a:lnTo>
                <a:lnTo>
                  <a:pt x="21" y="9426"/>
                </a:lnTo>
                <a:lnTo>
                  <a:pt x="5" y="9189"/>
                </a:lnTo>
                <a:lnTo>
                  <a:pt x="0" y="8968"/>
                </a:lnTo>
                <a:lnTo>
                  <a:pt x="5" y="8741"/>
                </a:lnTo>
                <a:lnTo>
                  <a:pt x="21" y="8492"/>
                </a:lnTo>
                <a:lnTo>
                  <a:pt x="47" y="8220"/>
                </a:lnTo>
                <a:lnTo>
                  <a:pt x="82" y="7928"/>
                </a:lnTo>
                <a:lnTo>
                  <a:pt x="127" y="7619"/>
                </a:lnTo>
                <a:lnTo>
                  <a:pt x="182" y="7295"/>
                </a:lnTo>
                <a:lnTo>
                  <a:pt x="245" y="6956"/>
                </a:lnTo>
                <a:lnTo>
                  <a:pt x="318" y="6606"/>
                </a:lnTo>
                <a:lnTo>
                  <a:pt x="398" y="6246"/>
                </a:lnTo>
                <a:lnTo>
                  <a:pt x="488" y="5879"/>
                </a:lnTo>
                <a:lnTo>
                  <a:pt x="585" y="5506"/>
                </a:lnTo>
                <a:lnTo>
                  <a:pt x="690" y="5130"/>
                </a:lnTo>
                <a:lnTo>
                  <a:pt x="803" y="4752"/>
                </a:lnTo>
                <a:lnTo>
                  <a:pt x="923" y="4375"/>
                </a:lnTo>
                <a:lnTo>
                  <a:pt x="1050" y="4000"/>
                </a:lnTo>
                <a:lnTo>
                  <a:pt x="1184" y="3630"/>
                </a:lnTo>
                <a:lnTo>
                  <a:pt x="1324" y="3267"/>
                </a:lnTo>
                <a:lnTo>
                  <a:pt x="1472" y="2912"/>
                </a:lnTo>
                <a:lnTo>
                  <a:pt x="1624" y="2568"/>
                </a:lnTo>
                <a:lnTo>
                  <a:pt x="1783" y="2237"/>
                </a:lnTo>
                <a:lnTo>
                  <a:pt x="1947" y="1921"/>
                </a:lnTo>
                <a:lnTo>
                  <a:pt x="2116" y="1622"/>
                </a:lnTo>
                <a:lnTo>
                  <a:pt x="2290" y="1340"/>
                </a:lnTo>
                <a:lnTo>
                  <a:pt x="2469" y="1081"/>
                </a:lnTo>
                <a:lnTo>
                  <a:pt x="2653" y="845"/>
                </a:lnTo>
                <a:lnTo>
                  <a:pt x="2840" y="632"/>
                </a:lnTo>
                <a:lnTo>
                  <a:pt x="3032" y="448"/>
                </a:lnTo>
                <a:lnTo>
                  <a:pt x="3228" y="292"/>
                </a:lnTo>
                <a:lnTo>
                  <a:pt x="3427" y="167"/>
                </a:lnTo>
                <a:lnTo>
                  <a:pt x="3629" y="75"/>
                </a:lnTo>
                <a:lnTo>
                  <a:pt x="3834" y="19"/>
                </a:lnTo>
                <a:lnTo>
                  <a:pt x="4043" y="0"/>
                </a:lnTo>
              </a:path>
            </a:pathLst>
          </a:custGeom>
          <a:solidFill>
            <a:schemeClr val="dk2">
              <a:alpha val="50000"/>
            </a:schemeClr>
          </a:solidFill>
          <a:ln/>
        </p:spPr>
        <p:txBody>
          <a:bodyPr vert="horz" wrap="square" rtlCol="0" anchor="t" anchorCtr="0">
            <a:noAutofit/>
          </a:bodyPr>
          <a:lstStyle/>
          <a:p>
            <a:pPr algn="l">
              <a:defRPr/>
            </a:pPr>
            <a:endParaRPr lang="en-US" sz="1100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7" name="Freeform 17"/>
          <p:cNvSpPr/>
          <p:nvPr/>
        </p:nvSpPr>
        <p:spPr>
          <a:xfrm rot="14400000">
            <a:off x="9576028" y="3203162"/>
            <a:ext cx="214027" cy="108014"/>
          </a:xfrm>
          <a:custGeom>
            <a:avLst/>
            <a:gdLst/>
            <a:ahLst/>
            <a:cxnLst/>
            <a:rect l="l" t="t" r="r" b="b"/>
            <a:pathLst>
              <a:path w="8085" h="16320">
                <a:moveTo>
                  <a:pt x="4043" y="0"/>
                </a:moveTo>
                <a:lnTo>
                  <a:pt x="4251" y="19"/>
                </a:lnTo>
                <a:lnTo>
                  <a:pt x="4456" y="75"/>
                </a:lnTo>
                <a:lnTo>
                  <a:pt x="4658" y="167"/>
                </a:lnTo>
                <a:lnTo>
                  <a:pt x="4857" y="292"/>
                </a:lnTo>
                <a:lnTo>
                  <a:pt x="5053" y="448"/>
                </a:lnTo>
                <a:lnTo>
                  <a:pt x="5245" y="632"/>
                </a:lnTo>
                <a:lnTo>
                  <a:pt x="5432" y="845"/>
                </a:lnTo>
                <a:lnTo>
                  <a:pt x="5616" y="1081"/>
                </a:lnTo>
                <a:lnTo>
                  <a:pt x="5795" y="1340"/>
                </a:lnTo>
                <a:lnTo>
                  <a:pt x="5969" y="1622"/>
                </a:lnTo>
                <a:lnTo>
                  <a:pt x="6138" y="1921"/>
                </a:lnTo>
                <a:lnTo>
                  <a:pt x="6302" y="2237"/>
                </a:lnTo>
                <a:lnTo>
                  <a:pt x="6461" y="2568"/>
                </a:lnTo>
                <a:lnTo>
                  <a:pt x="6613" y="2912"/>
                </a:lnTo>
                <a:lnTo>
                  <a:pt x="6761" y="3267"/>
                </a:lnTo>
                <a:lnTo>
                  <a:pt x="6901" y="3630"/>
                </a:lnTo>
                <a:lnTo>
                  <a:pt x="7035" y="4000"/>
                </a:lnTo>
                <a:lnTo>
                  <a:pt x="7162" y="4375"/>
                </a:lnTo>
                <a:lnTo>
                  <a:pt x="7282" y="4752"/>
                </a:lnTo>
                <a:lnTo>
                  <a:pt x="7395" y="5130"/>
                </a:lnTo>
                <a:lnTo>
                  <a:pt x="7500" y="5506"/>
                </a:lnTo>
                <a:lnTo>
                  <a:pt x="7597" y="5879"/>
                </a:lnTo>
                <a:lnTo>
                  <a:pt x="7687" y="6246"/>
                </a:lnTo>
                <a:lnTo>
                  <a:pt x="7767" y="6606"/>
                </a:lnTo>
                <a:lnTo>
                  <a:pt x="7840" y="6956"/>
                </a:lnTo>
                <a:lnTo>
                  <a:pt x="7903" y="7295"/>
                </a:lnTo>
                <a:lnTo>
                  <a:pt x="7958" y="7619"/>
                </a:lnTo>
                <a:lnTo>
                  <a:pt x="8003" y="7928"/>
                </a:lnTo>
                <a:lnTo>
                  <a:pt x="8038" y="8220"/>
                </a:lnTo>
                <a:lnTo>
                  <a:pt x="8064" y="8492"/>
                </a:lnTo>
                <a:lnTo>
                  <a:pt x="8080" y="8741"/>
                </a:lnTo>
                <a:lnTo>
                  <a:pt x="8085" y="8968"/>
                </a:lnTo>
                <a:lnTo>
                  <a:pt x="8080" y="9189"/>
                </a:lnTo>
                <a:lnTo>
                  <a:pt x="8064" y="9426"/>
                </a:lnTo>
                <a:lnTo>
                  <a:pt x="8038" y="9675"/>
                </a:lnTo>
                <a:lnTo>
                  <a:pt x="8003" y="9937"/>
                </a:lnTo>
                <a:lnTo>
                  <a:pt x="7958" y="10210"/>
                </a:lnTo>
                <a:lnTo>
                  <a:pt x="7903" y="10492"/>
                </a:lnTo>
                <a:lnTo>
                  <a:pt x="7840" y="10781"/>
                </a:lnTo>
                <a:lnTo>
                  <a:pt x="7767" y="11077"/>
                </a:lnTo>
                <a:lnTo>
                  <a:pt x="7687" y="11377"/>
                </a:lnTo>
                <a:lnTo>
                  <a:pt x="7597" y="11682"/>
                </a:lnTo>
                <a:lnTo>
                  <a:pt x="7500" y="11988"/>
                </a:lnTo>
                <a:lnTo>
                  <a:pt x="7395" y="12294"/>
                </a:lnTo>
                <a:lnTo>
                  <a:pt x="7282" y="12600"/>
                </a:lnTo>
                <a:lnTo>
                  <a:pt x="7162" y="12904"/>
                </a:lnTo>
                <a:lnTo>
                  <a:pt x="7035" y="13203"/>
                </a:lnTo>
                <a:lnTo>
                  <a:pt x="6901" y="13498"/>
                </a:lnTo>
                <a:lnTo>
                  <a:pt x="6761" y="13785"/>
                </a:lnTo>
                <a:lnTo>
                  <a:pt x="6613" y="14065"/>
                </a:lnTo>
                <a:lnTo>
                  <a:pt x="6461" y="14335"/>
                </a:lnTo>
                <a:lnTo>
                  <a:pt x="6302" y="14594"/>
                </a:lnTo>
                <a:lnTo>
                  <a:pt x="6138" y="14841"/>
                </a:lnTo>
                <a:lnTo>
                  <a:pt x="5969" y="15074"/>
                </a:lnTo>
                <a:lnTo>
                  <a:pt x="5795" y="15291"/>
                </a:lnTo>
                <a:lnTo>
                  <a:pt x="5616" y="15492"/>
                </a:lnTo>
                <a:lnTo>
                  <a:pt x="5432" y="15673"/>
                </a:lnTo>
                <a:lnTo>
                  <a:pt x="5245" y="15837"/>
                </a:lnTo>
                <a:lnTo>
                  <a:pt x="5053" y="15978"/>
                </a:lnTo>
                <a:lnTo>
                  <a:pt x="4857" y="16098"/>
                </a:lnTo>
                <a:lnTo>
                  <a:pt x="4658" y="16193"/>
                </a:lnTo>
                <a:lnTo>
                  <a:pt x="4456" y="16263"/>
                </a:lnTo>
                <a:lnTo>
                  <a:pt x="4251" y="16306"/>
                </a:lnTo>
                <a:lnTo>
                  <a:pt x="4043" y="16320"/>
                </a:lnTo>
                <a:lnTo>
                  <a:pt x="3834" y="16306"/>
                </a:lnTo>
                <a:lnTo>
                  <a:pt x="3629" y="16263"/>
                </a:lnTo>
                <a:lnTo>
                  <a:pt x="3427" y="16193"/>
                </a:lnTo>
                <a:lnTo>
                  <a:pt x="3228" y="16098"/>
                </a:lnTo>
                <a:lnTo>
                  <a:pt x="3032" y="15978"/>
                </a:lnTo>
                <a:lnTo>
                  <a:pt x="2840" y="15837"/>
                </a:lnTo>
                <a:lnTo>
                  <a:pt x="2653" y="15673"/>
                </a:lnTo>
                <a:lnTo>
                  <a:pt x="2469" y="15492"/>
                </a:lnTo>
                <a:lnTo>
                  <a:pt x="2290" y="15291"/>
                </a:lnTo>
                <a:lnTo>
                  <a:pt x="2116" y="15074"/>
                </a:lnTo>
                <a:lnTo>
                  <a:pt x="1947" y="14841"/>
                </a:lnTo>
                <a:lnTo>
                  <a:pt x="1783" y="14594"/>
                </a:lnTo>
                <a:lnTo>
                  <a:pt x="1624" y="14335"/>
                </a:lnTo>
                <a:lnTo>
                  <a:pt x="1472" y="14065"/>
                </a:lnTo>
                <a:lnTo>
                  <a:pt x="1324" y="13785"/>
                </a:lnTo>
                <a:lnTo>
                  <a:pt x="1184" y="13498"/>
                </a:lnTo>
                <a:lnTo>
                  <a:pt x="1050" y="13203"/>
                </a:lnTo>
                <a:lnTo>
                  <a:pt x="923" y="12904"/>
                </a:lnTo>
                <a:lnTo>
                  <a:pt x="803" y="12600"/>
                </a:lnTo>
                <a:lnTo>
                  <a:pt x="690" y="12294"/>
                </a:lnTo>
                <a:lnTo>
                  <a:pt x="585" y="11988"/>
                </a:lnTo>
                <a:lnTo>
                  <a:pt x="488" y="11682"/>
                </a:lnTo>
                <a:lnTo>
                  <a:pt x="398" y="11377"/>
                </a:lnTo>
                <a:lnTo>
                  <a:pt x="318" y="11077"/>
                </a:lnTo>
                <a:lnTo>
                  <a:pt x="245" y="10781"/>
                </a:lnTo>
                <a:lnTo>
                  <a:pt x="182" y="10492"/>
                </a:lnTo>
                <a:lnTo>
                  <a:pt x="127" y="10210"/>
                </a:lnTo>
                <a:lnTo>
                  <a:pt x="82" y="9937"/>
                </a:lnTo>
                <a:lnTo>
                  <a:pt x="47" y="9675"/>
                </a:lnTo>
                <a:lnTo>
                  <a:pt x="21" y="9426"/>
                </a:lnTo>
                <a:lnTo>
                  <a:pt x="5" y="9189"/>
                </a:lnTo>
                <a:lnTo>
                  <a:pt x="0" y="8968"/>
                </a:lnTo>
                <a:lnTo>
                  <a:pt x="5" y="8741"/>
                </a:lnTo>
                <a:lnTo>
                  <a:pt x="21" y="8492"/>
                </a:lnTo>
                <a:lnTo>
                  <a:pt x="47" y="8220"/>
                </a:lnTo>
                <a:lnTo>
                  <a:pt x="82" y="7928"/>
                </a:lnTo>
                <a:lnTo>
                  <a:pt x="127" y="7619"/>
                </a:lnTo>
                <a:lnTo>
                  <a:pt x="182" y="7295"/>
                </a:lnTo>
                <a:lnTo>
                  <a:pt x="245" y="6956"/>
                </a:lnTo>
                <a:lnTo>
                  <a:pt x="318" y="6606"/>
                </a:lnTo>
                <a:lnTo>
                  <a:pt x="398" y="6246"/>
                </a:lnTo>
                <a:lnTo>
                  <a:pt x="488" y="5879"/>
                </a:lnTo>
                <a:lnTo>
                  <a:pt x="585" y="5506"/>
                </a:lnTo>
                <a:lnTo>
                  <a:pt x="690" y="5130"/>
                </a:lnTo>
                <a:lnTo>
                  <a:pt x="803" y="4752"/>
                </a:lnTo>
                <a:lnTo>
                  <a:pt x="923" y="4375"/>
                </a:lnTo>
                <a:lnTo>
                  <a:pt x="1050" y="4000"/>
                </a:lnTo>
                <a:lnTo>
                  <a:pt x="1184" y="3630"/>
                </a:lnTo>
                <a:lnTo>
                  <a:pt x="1324" y="3267"/>
                </a:lnTo>
                <a:lnTo>
                  <a:pt x="1472" y="2912"/>
                </a:lnTo>
                <a:lnTo>
                  <a:pt x="1624" y="2568"/>
                </a:lnTo>
                <a:lnTo>
                  <a:pt x="1783" y="2237"/>
                </a:lnTo>
                <a:lnTo>
                  <a:pt x="1947" y="1921"/>
                </a:lnTo>
                <a:lnTo>
                  <a:pt x="2116" y="1622"/>
                </a:lnTo>
                <a:lnTo>
                  <a:pt x="2290" y="1340"/>
                </a:lnTo>
                <a:lnTo>
                  <a:pt x="2469" y="1081"/>
                </a:lnTo>
                <a:lnTo>
                  <a:pt x="2653" y="845"/>
                </a:lnTo>
                <a:lnTo>
                  <a:pt x="2840" y="632"/>
                </a:lnTo>
                <a:lnTo>
                  <a:pt x="3032" y="448"/>
                </a:lnTo>
                <a:lnTo>
                  <a:pt x="3228" y="292"/>
                </a:lnTo>
                <a:lnTo>
                  <a:pt x="3427" y="167"/>
                </a:lnTo>
                <a:lnTo>
                  <a:pt x="3629" y="75"/>
                </a:lnTo>
                <a:lnTo>
                  <a:pt x="3834" y="19"/>
                </a:lnTo>
                <a:lnTo>
                  <a:pt x="4043" y="0"/>
                </a:lnTo>
              </a:path>
            </a:pathLst>
          </a:custGeom>
          <a:solidFill>
            <a:schemeClr val="dk2">
              <a:alpha val="50000"/>
            </a:schemeClr>
          </a:solidFill>
          <a:ln/>
        </p:spPr>
        <p:txBody>
          <a:bodyPr vert="horz" wrap="square" rtlCol="0" anchor="t" anchorCtr="0">
            <a:noAutofit/>
          </a:bodyPr>
          <a:lstStyle/>
          <a:p>
            <a:pPr algn="l">
              <a:defRPr/>
            </a:pPr>
            <a:endParaRPr lang="en-US" sz="1100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8" name="Freeform 18"/>
          <p:cNvSpPr/>
          <p:nvPr/>
        </p:nvSpPr>
        <p:spPr>
          <a:xfrm rot="5400000">
            <a:off x="8595333" y="4273296"/>
            <a:ext cx="303847" cy="153353"/>
          </a:xfrm>
          <a:custGeom>
            <a:avLst/>
            <a:gdLst/>
            <a:ahLst/>
            <a:cxnLst/>
            <a:rect l="l" t="t" r="r" b="b"/>
            <a:pathLst>
              <a:path w="8085" h="16320">
                <a:moveTo>
                  <a:pt x="4043" y="0"/>
                </a:moveTo>
                <a:lnTo>
                  <a:pt x="4251" y="19"/>
                </a:lnTo>
                <a:lnTo>
                  <a:pt x="4456" y="75"/>
                </a:lnTo>
                <a:lnTo>
                  <a:pt x="4658" y="167"/>
                </a:lnTo>
                <a:lnTo>
                  <a:pt x="4857" y="292"/>
                </a:lnTo>
                <a:lnTo>
                  <a:pt x="5053" y="448"/>
                </a:lnTo>
                <a:lnTo>
                  <a:pt x="5245" y="632"/>
                </a:lnTo>
                <a:lnTo>
                  <a:pt x="5432" y="845"/>
                </a:lnTo>
                <a:lnTo>
                  <a:pt x="5616" y="1081"/>
                </a:lnTo>
                <a:lnTo>
                  <a:pt x="5795" y="1340"/>
                </a:lnTo>
                <a:lnTo>
                  <a:pt x="5969" y="1622"/>
                </a:lnTo>
                <a:lnTo>
                  <a:pt x="6138" y="1921"/>
                </a:lnTo>
                <a:lnTo>
                  <a:pt x="6302" y="2237"/>
                </a:lnTo>
                <a:lnTo>
                  <a:pt x="6461" y="2568"/>
                </a:lnTo>
                <a:lnTo>
                  <a:pt x="6613" y="2912"/>
                </a:lnTo>
                <a:lnTo>
                  <a:pt x="6761" y="3267"/>
                </a:lnTo>
                <a:lnTo>
                  <a:pt x="6901" y="3630"/>
                </a:lnTo>
                <a:lnTo>
                  <a:pt x="7035" y="4000"/>
                </a:lnTo>
                <a:lnTo>
                  <a:pt x="7162" y="4375"/>
                </a:lnTo>
                <a:lnTo>
                  <a:pt x="7282" y="4752"/>
                </a:lnTo>
                <a:lnTo>
                  <a:pt x="7395" y="5130"/>
                </a:lnTo>
                <a:lnTo>
                  <a:pt x="7500" y="5506"/>
                </a:lnTo>
                <a:lnTo>
                  <a:pt x="7597" y="5879"/>
                </a:lnTo>
                <a:lnTo>
                  <a:pt x="7687" y="6246"/>
                </a:lnTo>
                <a:lnTo>
                  <a:pt x="7767" y="6606"/>
                </a:lnTo>
                <a:lnTo>
                  <a:pt x="7840" y="6956"/>
                </a:lnTo>
                <a:lnTo>
                  <a:pt x="7903" y="7295"/>
                </a:lnTo>
                <a:lnTo>
                  <a:pt x="7958" y="7619"/>
                </a:lnTo>
                <a:lnTo>
                  <a:pt x="8003" y="7928"/>
                </a:lnTo>
                <a:lnTo>
                  <a:pt x="8038" y="8220"/>
                </a:lnTo>
                <a:lnTo>
                  <a:pt x="8064" y="8492"/>
                </a:lnTo>
                <a:lnTo>
                  <a:pt x="8080" y="8741"/>
                </a:lnTo>
                <a:lnTo>
                  <a:pt x="8085" y="8968"/>
                </a:lnTo>
                <a:lnTo>
                  <a:pt x="8080" y="9189"/>
                </a:lnTo>
                <a:lnTo>
                  <a:pt x="8064" y="9426"/>
                </a:lnTo>
                <a:lnTo>
                  <a:pt x="8038" y="9675"/>
                </a:lnTo>
                <a:lnTo>
                  <a:pt x="8003" y="9937"/>
                </a:lnTo>
                <a:lnTo>
                  <a:pt x="7958" y="10210"/>
                </a:lnTo>
                <a:lnTo>
                  <a:pt x="7903" y="10492"/>
                </a:lnTo>
                <a:lnTo>
                  <a:pt x="7840" y="10781"/>
                </a:lnTo>
                <a:lnTo>
                  <a:pt x="7767" y="11077"/>
                </a:lnTo>
                <a:lnTo>
                  <a:pt x="7687" y="11377"/>
                </a:lnTo>
                <a:lnTo>
                  <a:pt x="7597" y="11682"/>
                </a:lnTo>
                <a:lnTo>
                  <a:pt x="7500" y="11988"/>
                </a:lnTo>
                <a:lnTo>
                  <a:pt x="7395" y="12294"/>
                </a:lnTo>
                <a:lnTo>
                  <a:pt x="7282" y="12600"/>
                </a:lnTo>
                <a:lnTo>
                  <a:pt x="7162" y="12904"/>
                </a:lnTo>
                <a:lnTo>
                  <a:pt x="7035" y="13203"/>
                </a:lnTo>
                <a:lnTo>
                  <a:pt x="6901" y="13498"/>
                </a:lnTo>
                <a:lnTo>
                  <a:pt x="6761" y="13785"/>
                </a:lnTo>
                <a:lnTo>
                  <a:pt x="6613" y="14065"/>
                </a:lnTo>
                <a:lnTo>
                  <a:pt x="6461" y="14335"/>
                </a:lnTo>
                <a:lnTo>
                  <a:pt x="6302" y="14594"/>
                </a:lnTo>
                <a:lnTo>
                  <a:pt x="6138" y="14841"/>
                </a:lnTo>
                <a:lnTo>
                  <a:pt x="5969" y="15074"/>
                </a:lnTo>
                <a:lnTo>
                  <a:pt x="5795" y="15291"/>
                </a:lnTo>
                <a:lnTo>
                  <a:pt x="5616" y="15492"/>
                </a:lnTo>
                <a:lnTo>
                  <a:pt x="5432" y="15673"/>
                </a:lnTo>
                <a:lnTo>
                  <a:pt x="5245" y="15837"/>
                </a:lnTo>
                <a:lnTo>
                  <a:pt x="5053" y="15978"/>
                </a:lnTo>
                <a:lnTo>
                  <a:pt x="4857" y="16098"/>
                </a:lnTo>
                <a:lnTo>
                  <a:pt x="4658" y="16193"/>
                </a:lnTo>
                <a:lnTo>
                  <a:pt x="4456" y="16263"/>
                </a:lnTo>
                <a:lnTo>
                  <a:pt x="4251" y="16306"/>
                </a:lnTo>
                <a:lnTo>
                  <a:pt x="4043" y="16320"/>
                </a:lnTo>
                <a:lnTo>
                  <a:pt x="3834" y="16306"/>
                </a:lnTo>
                <a:lnTo>
                  <a:pt x="3629" y="16263"/>
                </a:lnTo>
                <a:lnTo>
                  <a:pt x="3427" y="16193"/>
                </a:lnTo>
                <a:lnTo>
                  <a:pt x="3228" y="16098"/>
                </a:lnTo>
                <a:lnTo>
                  <a:pt x="3032" y="15978"/>
                </a:lnTo>
                <a:lnTo>
                  <a:pt x="2840" y="15837"/>
                </a:lnTo>
                <a:lnTo>
                  <a:pt x="2653" y="15673"/>
                </a:lnTo>
                <a:lnTo>
                  <a:pt x="2469" y="15492"/>
                </a:lnTo>
                <a:lnTo>
                  <a:pt x="2290" y="15291"/>
                </a:lnTo>
                <a:lnTo>
                  <a:pt x="2116" y="15074"/>
                </a:lnTo>
                <a:lnTo>
                  <a:pt x="1947" y="14841"/>
                </a:lnTo>
                <a:lnTo>
                  <a:pt x="1783" y="14594"/>
                </a:lnTo>
                <a:lnTo>
                  <a:pt x="1624" y="14335"/>
                </a:lnTo>
                <a:lnTo>
                  <a:pt x="1472" y="14065"/>
                </a:lnTo>
                <a:lnTo>
                  <a:pt x="1324" y="13785"/>
                </a:lnTo>
                <a:lnTo>
                  <a:pt x="1184" y="13498"/>
                </a:lnTo>
                <a:lnTo>
                  <a:pt x="1050" y="13203"/>
                </a:lnTo>
                <a:lnTo>
                  <a:pt x="923" y="12904"/>
                </a:lnTo>
                <a:lnTo>
                  <a:pt x="803" y="12600"/>
                </a:lnTo>
                <a:lnTo>
                  <a:pt x="690" y="12294"/>
                </a:lnTo>
                <a:lnTo>
                  <a:pt x="585" y="11988"/>
                </a:lnTo>
                <a:lnTo>
                  <a:pt x="488" y="11682"/>
                </a:lnTo>
                <a:lnTo>
                  <a:pt x="398" y="11377"/>
                </a:lnTo>
                <a:lnTo>
                  <a:pt x="318" y="11077"/>
                </a:lnTo>
                <a:lnTo>
                  <a:pt x="245" y="10781"/>
                </a:lnTo>
                <a:lnTo>
                  <a:pt x="182" y="10492"/>
                </a:lnTo>
                <a:lnTo>
                  <a:pt x="127" y="10210"/>
                </a:lnTo>
                <a:lnTo>
                  <a:pt x="82" y="9937"/>
                </a:lnTo>
                <a:lnTo>
                  <a:pt x="47" y="9675"/>
                </a:lnTo>
                <a:lnTo>
                  <a:pt x="21" y="9426"/>
                </a:lnTo>
                <a:lnTo>
                  <a:pt x="5" y="9189"/>
                </a:lnTo>
                <a:lnTo>
                  <a:pt x="0" y="8968"/>
                </a:lnTo>
                <a:lnTo>
                  <a:pt x="5" y="8741"/>
                </a:lnTo>
                <a:lnTo>
                  <a:pt x="21" y="8492"/>
                </a:lnTo>
                <a:lnTo>
                  <a:pt x="47" y="8220"/>
                </a:lnTo>
                <a:lnTo>
                  <a:pt x="82" y="7928"/>
                </a:lnTo>
                <a:lnTo>
                  <a:pt x="127" y="7619"/>
                </a:lnTo>
                <a:lnTo>
                  <a:pt x="182" y="7295"/>
                </a:lnTo>
                <a:lnTo>
                  <a:pt x="245" y="6956"/>
                </a:lnTo>
                <a:lnTo>
                  <a:pt x="318" y="6606"/>
                </a:lnTo>
                <a:lnTo>
                  <a:pt x="398" y="6246"/>
                </a:lnTo>
                <a:lnTo>
                  <a:pt x="488" y="5879"/>
                </a:lnTo>
                <a:lnTo>
                  <a:pt x="585" y="5506"/>
                </a:lnTo>
                <a:lnTo>
                  <a:pt x="690" y="5130"/>
                </a:lnTo>
                <a:lnTo>
                  <a:pt x="803" y="4752"/>
                </a:lnTo>
                <a:lnTo>
                  <a:pt x="923" y="4375"/>
                </a:lnTo>
                <a:lnTo>
                  <a:pt x="1050" y="4000"/>
                </a:lnTo>
                <a:lnTo>
                  <a:pt x="1184" y="3630"/>
                </a:lnTo>
                <a:lnTo>
                  <a:pt x="1324" y="3267"/>
                </a:lnTo>
                <a:lnTo>
                  <a:pt x="1472" y="2912"/>
                </a:lnTo>
                <a:lnTo>
                  <a:pt x="1624" y="2568"/>
                </a:lnTo>
                <a:lnTo>
                  <a:pt x="1783" y="2237"/>
                </a:lnTo>
                <a:lnTo>
                  <a:pt x="1947" y="1921"/>
                </a:lnTo>
                <a:lnTo>
                  <a:pt x="2116" y="1622"/>
                </a:lnTo>
                <a:lnTo>
                  <a:pt x="2290" y="1340"/>
                </a:lnTo>
                <a:lnTo>
                  <a:pt x="2469" y="1081"/>
                </a:lnTo>
                <a:lnTo>
                  <a:pt x="2653" y="845"/>
                </a:lnTo>
                <a:lnTo>
                  <a:pt x="2840" y="632"/>
                </a:lnTo>
                <a:lnTo>
                  <a:pt x="3032" y="448"/>
                </a:lnTo>
                <a:lnTo>
                  <a:pt x="3228" y="292"/>
                </a:lnTo>
                <a:lnTo>
                  <a:pt x="3427" y="167"/>
                </a:lnTo>
                <a:lnTo>
                  <a:pt x="3629" y="75"/>
                </a:lnTo>
                <a:lnTo>
                  <a:pt x="3834" y="19"/>
                </a:lnTo>
                <a:lnTo>
                  <a:pt x="4043" y="0"/>
                </a:lnTo>
              </a:path>
            </a:pathLst>
          </a:custGeom>
          <a:solidFill>
            <a:schemeClr val="dk2">
              <a:alpha val="50000"/>
            </a:schemeClr>
          </a:solidFill>
          <a:ln/>
        </p:spPr>
        <p:txBody>
          <a:bodyPr vert="horz" wrap="square" rtlCol="0" anchor="t" anchorCtr="0">
            <a:noAutofit/>
          </a:bodyPr>
          <a:lstStyle/>
          <a:p>
            <a:pPr algn="l">
              <a:defRPr/>
            </a:pPr>
            <a:endParaRPr lang="en-US" sz="1100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9" name="Freeform 19"/>
          <p:cNvSpPr/>
          <p:nvPr/>
        </p:nvSpPr>
        <p:spPr>
          <a:xfrm>
            <a:off x="7720993" y="2502983"/>
            <a:ext cx="412051" cy="412051"/>
          </a:xfrm>
          <a:custGeom>
            <a:avLst/>
            <a:gdLst/>
            <a:ahLst/>
            <a:cxnLst/>
            <a:rect l="l" t="t" r="r" b="b"/>
            <a:pathLst>
              <a:path w="20741" h="20742">
                <a:moveTo>
                  <a:pt x="10370" y="1"/>
                </a:moveTo>
                <a:cubicBezTo>
                  <a:pt x="4644" y="1"/>
                  <a:pt x="0" y="4644"/>
                  <a:pt x="0" y="10371"/>
                </a:cubicBezTo>
                <a:cubicBezTo>
                  <a:pt x="0" y="16098"/>
                  <a:pt x="4644" y="20741"/>
                  <a:pt x="10370" y="20741"/>
                </a:cubicBezTo>
                <a:cubicBezTo>
                  <a:pt x="16097" y="20741"/>
                  <a:pt x="20741" y="16098"/>
                  <a:pt x="20741" y="10371"/>
                </a:cubicBezTo>
                <a:cubicBezTo>
                  <a:pt x="20741" y="4644"/>
                  <a:pt x="16097" y="1"/>
                  <a:pt x="10370" y="1"/>
                </a:cubicBezTo>
              </a:path>
            </a:pathLst>
          </a:custGeom>
          <a:gradFill>
            <a:gsLst>
              <a:gs pos="0">
                <a:schemeClr val="accent1">
                  <a:alpha val="100000"/>
                  <a:lumMod val="60000"/>
                  <a:lumOff val="40000"/>
                </a:schemeClr>
              </a:gs>
              <a:gs pos="60000">
                <a:schemeClr val="accent1">
                  <a:alpha val="100000"/>
                </a:schemeClr>
              </a:gs>
            </a:gsLst>
            <a:lin ang="2700000"/>
          </a:gra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20" name="Freeform 20"/>
          <p:cNvSpPr/>
          <p:nvPr/>
        </p:nvSpPr>
        <p:spPr>
          <a:xfrm>
            <a:off x="10897621" y="2605278"/>
            <a:ext cx="612267" cy="612267"/>
          </a:xfrm>
          <a:custGeom>
            <a:avLst/>
            <a:gdLst/>
            <a:ahLst/>
            <a:cxnLst/>
            <a:rect l="l" t="t" r="r" b="b"/>
            <a:pathLst>
              <a:path w="20741" h="20742">
                <a:moveTo>
                  <a:pt x="10370" y="1"/>
                </a:moveTo>
                <a:cubicBezTo>
                  <a:pt x="4644" y="1"/>
                  <a:pt x="0" y="4644"/>
                  <a:pt x="0" y="10371"/>
                </a:cubicBezTo>
                <a:cubicBezTo>
                  <a:pt x="0" y="16098"/>
                  <a:pt x="4644" y="20741"/>
                  <a:pt x="10370" y="20741"/>
                </a:cubicBezTo>
                <a:cubicBezTo>
                  <a:pt x="16097" y="20741"/>
                  <a:pt x="20741" y="16098"/>
                  <a:pt x="20741" y="10371"/>
                </a:cubicBezTo>
                <a:cubicBezTo>
                  <a:pt x="20741" y="4644"/>
                  <a:pt x="16097" y="1"/>
                  <a:pt x="10370" y="1"/>
                </a:cubicBezTo>
              </a:path>
            </a:pathLst>
          </a:custGeom>
          <a:gradFill>
            <a:gsLst>
              <a:gs pos="0">
                <a:schemeClr val="accent1">
                  <a:alpha val="100000"/>
                  <a:lumMod val="60000"/>
                  <a:lumOff val="40000"/>
                </a:schemeClr>
              </a:gs>
              <a:gs pos="60000">
                <a:schemeClr val="accent1">
                  <a:alpha val="100000"/>
                </a:schemeClr>
              </a:gs>
            </a:gsLst>
            <a:lin ang="2700000"/>
          </a:gradFill>
          <a:ln/>
        </p:spPr>
        <p:txBody>
          <a:bodyPr vert="horz" wrap="square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21" name="AutoShape 21"/>
          <p:cNvSpPr/>
          <p:nvPr/>
        </p:nvSpPr>
        <p:spPr>
          <a:xfrm>
            <a:off x="630668" y="2160365"/>
            <a:ext cx="108014" cy="10801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defRPr/>
            </a:pPr>
            <a:endParaRPr lang="en-US" sz="1100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22" name="AutoShape 22"/>
          <p:cNvSpPr/>
          <p:nvPr/>
        </p:nvSpPr>
        <p:spPr>
          <a:xfrm>
            <a:off x="630668" y="3439439"/>
            <a:ext cx="108014" cy="10801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defRPr/>
            </a:pPr>
            <a:endParaRPr lang="en-US" sz="1100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23" name="AutoShape 23"/>
          <p:cNvSpPr/>
          <p:nvPr/>
        </p:nvSpPr>
        <p:spPr>
          <a:xfrm>
            <a:off x="630668" y="4770077"/>
            <a:ext cx="108014" cy="10801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defRPr/>
            </a:pPr>
            <a:endParaRPr lang="en-US" sz="1100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24" name="TextBox 24"/>
          <p:cNvSpPr txBox="1"/>
          <p:nvPr/>
        </p:nvSpPr>
        <p:spPr>
          <a:xfrm>
            <a:off x="906618" y="3328836"/>
            <a:ext cx="2349840" cy="333405"/>
          </a:xfrm>
          <a:prstGeom prst="rect">
            <a:avLst/>
          </a:prstGeom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结构化数据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eyJfdGVtcGxhdGVEYXRhIjp7ImNvbnRlbnRUeXBlIjoiJGl0ZW0yX3RpdGxlIiwibGluZUNvdW50IjoiMSIsIndvcmRDb3VudCI6IjcifSwidGFnIjoiJGl0ZW0yX3RpdGxlIn0=</bd:templateData>
          </p:ext>
        </p:extLst>
      </p:sp>
      <p:sp>
        <p:nvSpPr>
          <p:cNvPr id="25" name="TextBox 25"/>
          <p:cNvSpPr txBox="1"/>
          <p:nvPr/>
        </p:nvSpPr>
        <p:spPr>
          <a:xfrm>
            <a:off x="906618" y="3785085"/>
            <a:ext cx="5761589" cy="689998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50000"/>
              </a:lnSpc>
              <a:spcBef>
                <a:spcPts val="375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indopacom_bases.geojson 22个基地坐标与属性数据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eyJfdGVtcGxhdGVEYXRhIjp7ImNvbnRlbnRUeXBlIjoiJGl0ZW0yX2MiLCJsaW5lQ291bnQiOiIyIiwid29yZENvdW50IjoiMzAifSwidGFnIjoiJGl0ZW0yX2MifQ==</bd:templateData>
          </p:ext>
        </p:extLst>
      </p:sp>
      <p:sp>
        <p:nvSpPr>
          <p:cNvPr id="26" name="TextBox 26"/>
          <p:cNvSpPr txBox="1"/>
          <p:nvPr/>
        </p:nvSpPr>
        <p:spPr>
          <a:xfrm>
            <a:off x="906618" y="2049762"/>
            <a:ext cx="2126192" cy="333405"/>
          </a:xfrm>
          <a:prstGeom prst="rect">
            <a:avLst/>
          </a:prstGeom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交互地图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eyJfdGVtcGxhdGVEYXRhIjp7ImNvbnRlbnRUeXBlIjoiJGl0ZW0xX3RpdGxlIiwibGluZUNvdW50IjoiMSIsIndvcmRDb3VudCI6IjYifSwidGFnIjoiJGl0ZW0xX3RpdGxlIn0=</bd:templateData>
          </p:ext>
        </p:extLst>
      </p:sp>
      <p:sp>
        <p:nvSpPr>
          <p:cNvPr id="27" name="TextBox 27"/>
          <p:cNvSpPr txBox="1"/>
          <p:nvPr/>
        </p:nvSpPr>
        <p:spPr>
          <a:xfrm>
            <a:off x="906618" y="2506010"/>
            <a:ext cx="5761589" cy="711535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50000"/>
              </a:lnSpc>
              <a:spcBef>
                <a:spcPts val="375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INDOPACOM-Bases-Map.html Leaflet引擎 22个基地可视化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eyJfdGVtcGxhdGVEYXRhIjp7ImNvbnRlbnRUeXBlIjoiJGl0ZW0xX2MiLCJsaW5lQ291bnQiOiIyIiwid29yZENvdW50IjoiMzAifSwidGFnIjoiJGl0ZW0xX2MifQ==</bd:templateData>
          </p:ext>
        </p:extLst>
      </p:sp>
      <p:sp>
        <p:nvSpPr>
          <p:cNvPr id="28" name="TextBox 28"/>
          <p:cNvSpPr txBox="1"/>
          <p:nvPr/>
        </p:nvSpPr>
        <p:spPr>
          <a:xfrm>
            <a:off x="906618" y="4659474"/>
            <a:ext cx="2413739" cy="333405"/>
          </a:xfrm>
          <a:prstGeom prst="rect">
            <a:avLst/>
          </a:prstGeom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基地档案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eyJfdGVtcGxhdGVEYXRhIjp7ImNvbnRlbnRUeXBlIjoiJGl0ZW0zX3RpdGxlIiwibGluZUNvdW50IjoiMSIsIndvcmRDb3VudCI6IjcifSwidGFnIjoiJGl0ZW0zX3RpdGxlIn0=</bd:templateData>
          </p:ext>
        </p:extLst>
      </p:sp>
      <p:sp>
        <p:nvSpPr>
          <p:cNvPr id="29" name="TextBox 29"/>
          <p:cNvSpPr txBox="1"/>
          <p:nvPr/>
        </p:nvSpPr>
        <p:spPr>
          <a:xfrm>
            <a:off x="906618" y="5115723"/>
            <a:ext cx="5761589" cy="737868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50000"/>
              </a:lnSpc>
              <a:spcBef>
                <a:spcPts val="375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INDOPACOM基地标绘档案.docx 详细情报说明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eyJfdGVtcGxhdGVEYXRhIjp7ImNvbnRlbnRUeXBlIjoiJGl0ZW0zX2MiLCJsaW5lQ291bnQiOiIyIiwid29yZENvdW50IjoiMzAifSwidGFnIjoiJGl0ZW0zX2MifQ==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="" xmlns:bd="http://schemas.baidu.com/office/drawing/2023/templateData">eyJtZCI6IiMjIOivt+i+k+WFpeacrOmhteagh+mimFxuIyMjIOa3u+WKoOWwj+agh+mimFxu6K+35Zyo5q2k5aSE6L6T5YWl5oKo55qE5q2j5paH5YaF5a6544CC5paH5a2X5Luj6KGo5oKo55qE5Li76aKY5oCd5oOz77yM6K+35Yqb5rGC566A5piO5Zyw6KGo6L6+5oKo55qE6KeC54K544CC5Y+v6YCC5bqm5Yig5YeP5paH5a2X5Lul56Gu5L+d5L+h5oGv55qE5riF5pmw5ZKM57K+56Gu5Lyg6L6+77yM5ZCM5pe2XG4jIyMg5re75Yqg5bCP5qCH6aKYXG7or7flnKjmraTlpITovpPlhaXmgqjnmoTmraPmloflhoXlrrnjgILmloflrZfku6PooajmgqjnmoTkuLvpopjmgJ3mg7PvvIzor7flipvmsYLnroDmmI7lnLDooajovr7mgqjnmoTop4LngrnjgILlj6/pgILluqbliKDlh4/mloflrZfku6Xnoa7kv53kv6Hmga/nmoTmuIXmmbDlkoznsr7noa7kvKDovr7vvIzlkIzml7ZcbiMjIyDmt7vliqDlsI/moIfpophcbuivt+WcqOatpOWkhOi+k+WFpeaCqOeahOato+aWh+WGheWuueOAguaWh+Wtl+S7o+ihqOaCqOeahOS4u+mimOaAneaDs++8jOivt+WKm+axgueugOaYjuWcsOihqOi+vuaCqOeahOingueCueOAguWPr+mAguW6puWIoOWHj+aWh+Wtl+S7peehruS/neS/oeaBr+eahOa4heaZsOWSjOeyvuehruS8oOi+vu+8jOWQjOaXtiIsInRwbGlkIjoiNjkiLCJ0cGxOYW1lIjoibGlzdDNfMjAyNTA2MjYyMiIsImVkaXRlZCI6ImZhbHNlIn0=</bd:templateData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第二级 ACE部署与攻防分析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eyJfdGVtcGxhdGVEYXRhIjp7ImNvbnRlbnRUeXBlIjoiJHRpdGxlIiwibGluZUNvdW50IjoiMSIsIndvcmRDb3VudCI6IjI3In0sInRhZyI6IiR0aXRsZSJ9</bd:templateData>
          </p:ext>
        </p:extLst>
      </p:sp>
      <p:sp>
        <p:nvSpPr>
          <p:cNvPr id="3" name="TextBox 3"/>
          <p:cNvSpPr txBox="1"/>
          <p:nvPr/>
        </p:nvSpPr>
        <p:spPr>
          <a:xfrm>
            <a:off x="6335558" y="2007224"/>
            <a:ext cx="4868828" cy="659451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多目标贪心+局部搜索 60%分散率 F-35优先分配最佳评分节点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eyJfdGVtcGxhdGVEYXRhIjp7ImNvbnRlbnRUeXBlIjoiJGl0ZW0xX2MiLCJsaW5lQ291bnQiOiIyIiwid29yZENvdW50IjoiMjgifSwidGFnIjoiJGl0ZW0xX2MifQ==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6335558" y="1635526"/>
            <a:ext cx="2742637" cy="560391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1700" b="1">
                <a:solidFill>
                  <a:schemeClr val="accent3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部署优化器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eyJfdGVtcGxhdGVEYXRhIjp7ImNvbnRlbnRUeXBlIjoiJGl0ZW0xX3RpdGxlIiwibGluZUNvdW50IjoiMSIsIndvcmRDb3VudCI6IjEwIn0sInRhZyI6IiRpdGVtMV90aXRsZSJ9</bd:templateData>
          </p:ext>
        </p:extLst>
      </p:sp>
      <p:sp>
        <p:nvSpPr>
          <p:cNvPr id="5" name="AutoShape 5"/>
          <p:cNvSpPr/>
          <p:nvPr/>
        </p:nvSpPr>
        <p:spPr>
          <a:xfrm rot="5400000">
            <a:off x="2529037" y="5216143"/>
            <a:ext cx="889927" cy="875801"/>
          </a:xfrm>
          <a:prstGeom prst="triangle">
            <a:avLst>
              <a:gd name="adj" fmla="val 50000"/>
            </a:avLst>
          </a:prstGeom>
          <a:solidFill>
            <a:schemeClr val="accent6">
              <a:alpha val="100000"/>
              <a:lumMod val="40000"/>
              <a:lumOff val="6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6" name="AutoShape 6"/>
          <p:cNvSpPr/>
          <p:nvPr/>
        </p:nvSpPr>
        <p:spPr>
          <a:xfrm rot="-5400000">
            <a:off x="1667361" y="5216143"/>
            <a:ext cx="889927" cy="875801"/>
          </a:xfrm>
          <a:prstGeom prst="triangle">
            <a:avLst>
              <a:gd name="adj" fmla="val 50000"/>
            </a:avLst>
          </a:prstGeom>
          <a:solidFill>
            <a:schemeClr val="accent6">
              <a:alpha val="100000"/>
              <a:lumMod val="60000"/>
              <a:lumOff val="4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7" name="AutoShape 7"/>
          <p:cNvSpPr/>
          <p:nvPr/>
        </p:nvSpPr>
        <p:spPr>
          <a:xfrm rot="5400000">
            <a:off x="2966937" y="1932026"/>
            <a:ext cx="1017059" cy="1878735"/>
          </a:xfrm>
          <a:prstGeom prst="triangle">
            <a:avLst>
              <a:gd name="adj" fmla="val 50000"/>
            </a:avLst>
          </a:prstGeom>
          <a:solidFill>
            <a:schemeClr val="accent3">
              <a:alpha val="100000"/>
              <a:lumMod val="40000"/>
              <a:lumOff val="6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8" name="AutoShape 8"/>
          <p:cNvSpPr/>
          <p:nvPr/>
        </p:nvSpPr>
        <p:spPr>
          <a:xfrm rot="-5400000">
            <a:off x="1074077" y="1932026"/>
            <a:ext cx="1031185" cy="1892861"/>
          </a:xfrm>
          <a:prstGeom prst="triangle">
            <a:avLst>
              <a:gd name="adj" fmla="val 50000"/>
            </a:avLst>
          </a:prstGeom>
          <a:solidFill>
            <a:schemeClr val="accent3">
              <a:alpha val="100000"/>
              <a:lumMod val="60000"/>
              <a:lumOff val="4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9" name="AutoShape 9"/>
          <p:cNvSpPr/>
          <p:nvPr/>
        </p:nvSpPr>
        <p:spPr>
          <a:xfrm rot="5400000" flipH="1">
            <a:off x="969248" y="1296804"/>
            <a:ext cx="1269094" cy="1892861"/>
          </a:xfrm>
          <a:prstGeom prst="parallelogram">
            <a:avLst>
              <a:gd name="adj" fmla="val 20330"/>
            </a:avLst>
          </a:prstGeom>
          <a:solidFill>
            <a:schemeClr val="accent3">
              <a:alpha val="100000"/>
              <a:lumMod val="5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0" name="AutoShape 10"/>
          <p:cNvSpPr/>
          <p:nvPr/>
        </p:nvSpPr>
        <p:spPr>
          <a:xfrm rot="5400000">
            <a:off x="2836918" y="1296804"/>
            <a:ext cx="1269094" cy="1892861"/>
          </a:xfrm>
          <a:prstGeom prst="parallelogram">
            <a:avLst>
              <a:gd name="adj" fmla="val 20330"/>
            </a:avLst>
          </a:prstGeom>
          <a:solidFill>
            <a:schemeClr val="accent3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1" name="AutoShape 11"/>
          <p:cNvSpPr/>
          <p:nvPr/>
        </p:nvSpPr>
        <p:spPr>
          <a:xfrm rot="-5400000">
            <a:off x="1374151" y="3324240"/>
            <a:ext cx="805172" cy="1567967"/>
          </a:xfrm>
          <a:prstGeom prst="triangle">
            <a:avLst>
              <a:gd name="adj" fmla="val 50000"/>
            </a:avLst>
          </a:prstGeom>
          <a:solidFill>
            <a:schemeClr val="accent4">
              <a:alpha val="100000"/>
              <a:lumMod val="60000"/>
              <a:lumOff val="4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2" name="AutoShape 12"/>
          <p:cNvSpPr/>
          <p:nvPr/>
        </p:nvSpPr>
        <p:spPr>
          <a:xfrm rot="5400000">
            <a:off x="2912249" y="3352491"/>
            <a:ext cx="805172" cy="1511463"/>
          </a:xfrm>
          <a:prstGeom prst="triangle">
            <a:avLst>
              <a:gd name="adj" fmla="val 50000"/>
            </a:avLst>
          </a:prstGeom>
          <a:solidFill>
            <a:schemeClr val="accent4">
              <a:alpha val="100000"/>
              <a:lumMod val="40000"/>
              <a:lumOff val="6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3" name="AutoShape 13"/>
          <p:cNvSpPr/>
          <p:nvPr/>
        </p:nvSpPr>
        <p:spPr>
          <a:xfrm rot="5400000">
            <a:off x="2750675" y="2791166"/>
            <a:ext cx="1121888" cy="1516668"/>
          </a:xfrm>
          <a:prstGeom prst="parallelogram">
            <a:avLst>
              <a:gd name="adj" fmla="val 20330"/>
            </a:avLst>
          </a:prstGeom>
          <a:solidFill>
            <a:schemeClr val="accent4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4" name="AutoShape 14"/>
          <p:cNvSpPr/>
          <p:nvPr/>
        </p:nvSpPr>
        <p:spPr>
          <a:xfrm rot="5400000" flipH="1">
            <a:off x="1216822" y="2777040"/>
            <a:ext cx="1121888" cy="1544919"/>
          </a:xfrm>
          <a:prstGeom prst="parallelogram">
            <a:avLst>
              <a:gd name="adj" fmla="val 20330"/>
            </a:avLst>
          </a:prstGeom>
          <a:solidFill>
            <a:schemeClr val="accent4">
              <a:alpha val="100000"/>
              <a:lumMod val="5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5" name="AutoShape 15"/>
          <p:cNvSpPr/>
          <p:nvPr/>
        </p:nvSpPr>
        <p:spPr>
          <a:xfrm rot="-5400000">
            <a:off x="1657802" y="4328737"/>
            <a:ext cx="635662" cy="1172444"/>
          </a:xfrm>
          <a:prstGeom prst="triangle">
            <a:avLst>
              <a:gd name="adj" fmla="val 50000"/>
            </a:avLst>
          </a:prstGeom>
          <a:solidFill>
            <a:schemeClr val="accent5">
              <a:alpha val="100000"/>
              <a:lumMod val="60000"/>
              <a:lumOff val="4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6" name="AutoShape 16"/>
          <p:cNvSpPr/>
          <p:nvPr/>
        </p:nvSpPr>
        <p:spPr>
          <a:xfrm rot="5400000">
            <a:off x="2785117" y="4356988"/>
            <a:ext cx="635662" cy="1115940"/>
          </a:xfrm>
          <a:prstGeom prst="triangle">
            <a:avLst>
              <a:gd name="adj" fmla="val 50000"/>
            </a:avLst>
          </a:prstGeom>
          <a:solidFill>
            <a:schemeClr val="accent5">
              <a:alpha val="100000"/>
              <a:lumMod val="40000"/>
              <a:lumOff val="6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7" name="AutoShape 17"/>
          <p:cNvSpPr/>
          <p:nvPr/>
        </p:nvSpPr>
        <p:spPr>
          <a:xfrm rot="5400000">
            <a:off x="2696403" y="4961512"/>
            <a:ext cx="519682" cy="862419"/>
          </a:xfrm>
          <a:prstGeom prst="parallelogram">
            <a:avLst>
              <a:gd name="adj" fmla="val 20330"/>
            </a:avLst>
          </a:prstGeom>
          <a:solidFill>
            <a:schemeClr val="accent6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8" name="AutoShape 18"/>
          <p:cNvSpPr/>
          <p:nvPr/>
        </p:nvSpPr>
        <p:spPr>
          <a:xfrm rot="5400000" flipH="1">
            <a:off x="1859175" y="4961512"/>
            <a:ext cx="519682" cy="862419"/>
          </a:xfrm>
          <a:prstGeom prst="parallelogram">
            <a:avLst>
              <a:gd name="adj" fmla="val 20330"/>
            </a:avLst>
          </a:prstGeom>
          <a:solidFill>
            <a:schemeClr val="accent6">
              <a:alpha val="100000"/>
              <a:lumMod val="5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9" name="AutoShape 19"/>
          <p:cNvSpPr/>
          <p:nvPr/>
        </p:nvSpPr>
        <p:spPr>
          <a:xfrm rot="5400000">
            <a:off x="2749932" y="3983026"/>
            <a:ext cx="707035" cy="1156831"/>
          </a:xfrm>
          <a:prstGeom prst="parallelogram">
            <a:avLst>
              <a:gd name="adj" fmla="val 20330"/>
            </a:avLst>
          </a:prstGeom>
          <a:solidFill>
            <a:schemeClr val="accent5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20" name="AutoShape 20"/>
          <p:cNvSpPr/>
          <p:nvPr/>
        </p:nvSpPr>
        <p:spPr>
          <a:xfrm rot="5400000" flipH="1">
            <a:off x="1618293" y="3983026"/>
            <a:ext cx="707035" cy="1156831"/>
          </a:xfrm>
          <a:prstGeom prst="parallelogram">
            <a:avLst>
              <a:gd name="adj" fmla="val 20330"/>
            </a:avLst>
          </a:prstGeom>
          <a:solidFill>
            <a:schemeClr val="accent5">
              <a:alpha val="100000"/>
              <a:lumMod val="5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21" name="AutoShape 21"/>
          <p:cNvSpPr/>
          <p:nvPr/>
        </p:nvSpPr>
        <p:spPr>
          <a:xfrm>
            <a:off x="5460404" y="1721474"/>
            <a:ext cx="571500" cy="571500"/>
          </a:xfrm>
          <a:prstGeom prst="ellipse">
            <a:avLst/>
          </a:prstGeom>
          <a:solidFill>
            <a:schemeClr val="accent3">
              <a:alpha val="100000"/>
            </a:schemeClr>
          </a:solidFill>
          <a:ln/>
        </p:spPr>
        <p:txBody>
          <a:bodyPr vert="horz" wrap="square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  <a:defRPr/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01</a:t>
            </a:r>
            <a:endParaRPr lang="en-US" sz="1100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22" name="TextBox 22"/>
          <p:cNvSpPr txBox="1"/>
          <p:nvPr/>
        </p:nvSpPr>
        <p:spPr>
          <a:xfrm>
            <a:off x="5945606" y="3243358"/>
            <a:ext cx="4802292" cy="659451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优先级驱动F-35大于F-22 约束转移时间小于威胁到达时间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eyJfdGVtcGxhdGVEYXRhIjp7ImNvbnRlbnRUeXBlIjoiJGl0ZW0yX2MiLCJsaW5lQ291bnQiOiIyIiwid29yZENvdW50IjoiMjcifSwidGFnIjoiJGl0ZW0yX2MifQ==</bd:templateData>
          </p:ext>
        </p:extLst>
      </p:sp>
      <p:sp>
        <p:nvSpPr>
          <p:cNvPr id="23" name="TextBox 23"/>
          <p:cNvSpPr txBox="1"/>
          <p:nvPr/>
        </p:nvSpPr>
        <p:spPr>
          <a:xfrm>
            <a:off x="5945606" y="2871660"/>
            <a:ext cx="2742637" cy="560391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1700" b="1">
                <a:solidFill>
                  <a:schemeClr val="accent4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转移规划器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eyJfdGVtcGxhdGVEYXRhIjp7ImNvbnRlbnRUeXBlIjoiJGl0ZW0yX3RpdGxlIiwibGluZUNvdW50IjoiMSIsIndvcmRDb3VudCI6IjEwIn0sInRhZyI6IiRpdGVtMl90aXRsZSJ9</bd:templateData>
          </p:ext>
        </p:extLst>
      </p:sp>
      <p:sp>
        <p:nvSpPr>
          <p:cNvPr id="24" name="TextBox 24"/>
          <p:cNvSpPr txBox="1"/>
          <p:nvPr/>
        </p:nvSpPr>
        <p:spPr>
          <a:xfrm>
            <a:off x="5746154" y="4427267"/>
            <a:ext cx="4762370" cy="659451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Monte Carlo 100次迭代 CEP-based打击点 掩体与露天损伤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eyJfdGVtcGxhdGVEYXRhIjp7ImNvbnRlbnRUeXBlIjoiJGl0ZW0zX2MiLCJsaW5lQ291bnQiOiIyIiwid29yZENvdW50IjoiMjgifSwidGFnIjoiJGl0ZW0zX2MifQ==</bd:templateData>
          </p:ext>
        </p:extLst>
      </p:sp>
      <p:sp>
        <p:nvSpPr>
          <p:cNvPr id="25" name="TextBox 25"/>
          <p:cNvSpPr txBox="1"/>
          <p:nvPr/>
        </p:nvSpPr>
        <p:spPr>
          <a:xfrm>
            <a:off x="5746154" y="4055569"/>
            <a:ext cx="2742637" cy="560391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1700" b="1">
                <a:solidFill>
                  <a:schemeClr val="accent5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损伤评估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eyJfdGVtcGxhdGVEYXRhIjp7ImNvbnRlbnRUeXBlIjoiJGl0ZW0zX3RpdGxlIiwibGluZUNvdW50IjoiMSIsIndvcmRDb3VudCI6IjEwIn0sInRhZyI6IiRpdGVtM190aXRsZSJ9</bd:templateData>
          </p:ext>
        </p:extLst>
      </p:sp>
      <p:sp>
        <p:nvSpPr>
          <p:cNvPr id="26" name="TextBox 26"/>
          <p:cNvSpPr txBox="1"/>
          <p:nvPr/>
        </p:nvSpPr>
        <p:spPr>
          <a:xfrm>
            <a:off x="5395271" y="5573076"/>
            <a:ext cx="4762370" cy="659451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5目标 脆弱性 打击力 多样性 单点风险 防御覆盖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eyJfdGVtcGxhdGVEYXRhIjp7ImNvbnRlbnRUeXBlIjoiJGl0ZW00X2MiLCJsaW5lQ291bnQiOiIyIiwid29yZENvdW50IjoiMjcifSwidGFnIjoiJGl0ZW00X2MifQ==</bd:templateData>
          </p:ext>
        </p:extLst>
      </p:sp>
      <p:sp>
        <p:nvSpPr>
          <p:cNvPr id="27" name="TextBox 27"/>
          <p:cNvSpPr txBox="1"/>
          <p:nvPr/>
        </p:nvSpPr>
        <p:spPr>
          <a:xfrm>
            <a:off x="5395271" y="5201377"/>
            <a:ext cx="2742637" cy="560391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1700" b="1">
                <a:solidFill>
                  <a:schemeClr val="accent6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多目标优化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eyJfdGVtcGxhdGVEYXRhIjp7ImNvbnRlbnRUeXBlIjoiJGl0ZW00X3RpdGxlIiwibGluZUNvdW50IjoiMSIsIndvcmRDb3VudCI6IjEwIn0sInRhZyI6IiRpdGVtNF90aXRsZSJ9</bd:templateData>
          </p:ext>
        </p:extLst>
      </p:sp>
      <p:sp>
        <p:nvSpPr>
          <p:cNvPr id="28" name="Freeform 28"/>
          <p:cNvSpPr/>
          <p:nvPr/>
        </p:nvSpPr>
        <p:spPr>
          <a:xfrm>
            <a:off x="3249454" y="2007224"/>
            <a:ext cx="452026" cy="452026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8693" y="85468"/>
                </a:moveTo>
                <a:lnTo>
                  <a:pt x="193700" y="180461"/>
                </a:lnTo>
                <a:lnTo>
                  <a:pt x="301971" y="180461"/>
                </a:lnTo>
                <a:cubicBezTo>
                  <a:pt x="303686" y="171298"/>
                  <a:pt x="304800" y="162001"/>
                  <a:pt x="304800" y="152400"/>
                </a:cubicBezTo>
                <a:cubicBezTo>
                  <a:pt x="304800" y="128273"/>
                  <a:pt x="298694" y="105747"/>
                  <a:pt x="288693" y="85468"/>
                </a:cubicBezTo>
                <a:close/>
              </a:path>
              <a:path w="304800" h="304800">
                <a:moveTo>
                  <a:pt x="200549" y="145161"/>
                </a:moveTo>
                <a:lnTo>
                  <a:pt x="278682" y="67066"/>
                </a:lnTo>
                <a:cubicBezTo>
                  <a:pt x="260080" y="39643"/>
                  <a:pt x="232543" y="19241"/>
                  <a:pt x="200549" y="8525"/>
                </a:cubicBezTo>
                <a:lnTo>
                  <a:pt x="200549" y="145161"/>
                </a:lnTo>
                <a:close/>
              </a:path>
              <a:path w="304800" h="304800">
                <a:moveTo>
                  <a:pt x="159525" y="200549"/>
                </a:moveTo>
                <a:lnTo>
                  <a:pt x="237677" y="278721"/>
                </a:lnTo>
                <a:cubicBezTo>
                  <a:pt x="265138" y="260156"/>
                  <a:pt x="285560" y="232581"/>
                  <a:pt x="296275" y="200549"/>
                </a:cubicBezTo>
                <a:lnTo>
                  <a:pt x="159525" y="200549"/>
                </a:lnTo>
                <a:close/>
              </a:path>
              <a:path w="304800" h="304800">
                <a:moveTo>
                  <a:pt x="180432" y="111862"/>
                </a:moveTo>
                <a:lnTo>
                  <a:pt x="180432" y="2829"/>
                </a:lnTo>
                <a:cubicBezTo>
                  <a:pt x="171317" y="1133"/>
                  <a:pt x="162001" y="0"/>
                  <a:pt x="152400" y="0"/>
                </a:cubicBezTo>
                <a:cubicBezTo>
                  <a:pt x="128064" y="0"/>
                  <a:pt x="105366" y="6229"/>
                  <a:pt x="84963" y="16393"/>
                </a:cubicBezTo>
                <a:lnTo>
                  <a:pt x="180432" y="111862"/>
                </a:lnTo>
                <a:close/>
              </a:path>
              <a:path w="304800" h="304800">
                <a:moveTo>
                  <a:pt x="124368" y="193853"/>
                </a:moveTo>
                <a:lnTo>
                  <a:pt x="124368" y="301981"/>
                </a:lnTo>
                <a:cubicBezTo>
                  <a:pt x="133483" y="303686"/>
                  <a:pt x="142799" y="304800"/>
                  <a:pt x="152400" y="304800"/>
                </a:cubicBezTo>
                <a:cubicBezTo>
                  <a:pt x="176508" y="304800"/>
                  <a:pt x="198987" y="298694"/>
                  <a:pt x="219266" y="288722"/>
                </a:cubicBezTo>
                <a:lnTo>
                  <a:pt x="124368" y="193853"/>
                </a:lnTo>
                <a:close/>
              </a:path>
              <a:path w="304800" h="304800">
                <a:moveTo>
                  <a:pt x="104232" y="159763"/>
                </a:moveTo>
                <a:lnTo>
                  <a:pt x="26194" y="237792"/>
                </a:lnTo>
                <a:cubicBezTo>
                  <a:pt x="44758" y="265176"/>
                  <a:pt x="72276" y="285569"/>
                  <a:pt x="104232" y="296285"/>
                </a:cubicBezTo>
                <a:lnTo>
                  <a:pt x="104232" y="159763"/>
                </a:lnTo>
                <a:close/>
              </a:path>
              <a:path w="304800" h="304800">
                <a:moveTo>
                  <a:pt x="2829" y="124368"/>
                </a:moveTo>
                <a:cubicBezTo>
                  <a:pt x="1133" y="133483"/>
                  <a:pt x="0" y="142799"/>
                  <a:pt x="0" y="152400"/>
                </a:cubicBezTo>
                <a:cubicBezTo>
                  <a:pt x="0" y="176584"/>
                  <a:pt x="6144" y="199130"/>
                  <a:pt x="16145" y="219408"/>
                </a:cubicBezTo>
                <a:lnTo>
                  <a:pt x="111195" y="124358"/>
                </a:lnTo>
                <a:lnTo>
                  <a:pt x="2829" y="124358"/>
                </a:lnTo>
                <a:close/>
              </a:path>
              <a:path w="304800" h="304800">
                <a:moveTo>
                  <a:pt x="66637" y="26489"/>
                </a:moveTo>
                <a:cubicBezTo>
                  <a:pt x="39443" y="45053"/>
                  <a:pt x="19183" y="72428"/>
                  <a:pt x="8525" y="104232"/>
                </a:cubicBezTo>
                <a:lnTo>
                  <a:pt x="144389" y="104232"/>
                </a:lnTo>
                <a:lnTo>
                  <a:pt x="66637" y="26489"/>
                </a:lnTo>
              </a:path>
            </a:pathLst>
          </a:cu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29" name="Freeform 29"/>
          <p:cNvSpPr/>
          <p:nvPr/>
        </p:nvSpPr>
        <p:spPr>
          <a:xfrm>
            <a:off x="2805807" y="5209080"/>
            <a:ext cx="336386" cy="336386"/>
          </a:xfrm>
          <a:custGeom>
            <a:avLst/>
            <a:gdLst/>
            <a:ahLst/>
            <a:cxnLst/>
            <a:rect l="l" t="t" r="r" b="b"/>
            <a:pathLst>
              <a:path w="333375" h="304800">
                <a:moveTo>
                  <a:pt x="202444" y="162220"/>
                </a:moveTo>
                <a:cubicBezTo>
                  <a:pt x="202444" y="162220"/>
                  <a:pt x="207007" y="100841"/>
                  <a:pt x="150752" y="93840"/>
                </a:cubicBezTo>
                <a:cubicBezTo>
                  <a:pt x="102537" y="88916"/>
                  <a:pt x="87868" y="133721"/>
                  <a:pt x="87868" y="133721"/>
                </a:cubicBezTo>
                <a:cubicBezTo>
                  <a:pt x="87868" y="133721"/>
                  <a:pt x="73352" y="119758"/>
                  <a:pt x="53654" y="131159"/>
                </a:cubicBezTo>
                <a:cubicBezTo>
                  <a:pt x="36024" y="142046"/>
                  <a:pt x="39148" y="161963"/>
                  <a:pt x="39148" y="161963"/>
                </a:cubicBezTo>
                <a:cubicBezTo>
                  <a:pt x="39148" y="161963"/>
                  <a:pt x="0" y="169574"/>
                  <a:pt x="0" y="209493"/>
                </a:cubicBezTo>
                <a:cubicBezTo>
                  <a:pt x="1076" y="250031"/>
                  <a:pt x="42262" y="249022"/>
                  <a:pt x="42262" y="249022"/>
                </a:cubicBezTo>
                <a:lnTo>
                  <a:pt x="196310" y="249431"/>
                </a:lnTo>
                <a:cubicBezTo>
                  <a:pt x="196310" y="249431"/>
                  <a:pt x="233182" y="249860"/>
                  <a:pt x="239897" y="211874"/>
                </a:cubicBezTo>
                <a:cubicBezTo>
                  <a:pt x="242497" y="170412"/>
                  <a:pt x="202444" y="162220"/>
                  <a:pt x="202444" y="162220"/>
                </a:cubicBezTo>
                <a:close/>
              </a:path>
              <a:path w="333375" h="304800">
                <a:moveTo>
                  <a:pt x="297694" y="124130"/>
                </a:moveTo>
                <a:cubicBezTo>
                  <a:pt x="297694" y="124130"/>
                  <a:pt x="302257" y="62751"/>
                  <a:pt x="246012" y="55740"/>
                </a:cubicBezTo>
                <a:cubicBezTo>
                  <a:pt x="197796" y="50816"/>
                  <a:pt x="182537" y="96212"/>
                  <a:pt x="182537" y="96212"/>
                </a:cubicBezTo>
                <a:cubicBezTo>
                  <a:pt x="182537" y="96212"/>
                  <a:pt x="210626" y="112509"/>
                  <a:pt x="211817" y="156562"/>
                </a:cubicBezTo>
                <a:cubicBezTo>
                  <a:pt x="229676" y="161925"/>
                  <a:pt x="248707" y="176660"/>
                  <a:pt x="249307" y="211188"/>
                </a:cubicBezTo>
                <a:lnTo>
                  <a:pt x="291560" y="211341"/>
                </a:lnTo>
                <a:cubicBezTo>
                  <a:pt x="291560" y="211341"/>
                  <a:pt x="328432" y="211769"/>
                  <a:pt x="335147" y="173784"/>
                </a:cubicBezTo>
                <a:cubicBezTo>
                  <a:pt x="337747" y="132302"/>
                  <a:pt x="297694" y="124130"/>
                  <a:pt x="297694" y="124130"/>
                </a:cubicBezTo>
              </a:path>
            </a:pathLst>
          </a:cu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30" name="Freeform 30"/>
          <p:cNvSpPr/>
          <p:nvPr/>
        </p:nvSpPr>
        <p:spPr>
          <a:xfrm>
            <a:off x="3102948" y="3309361"/>
            <a:ext cx="480278" cy="480278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031" y="114795"/>
                </a:moveTo>
                <a:lnTo>
                  <a:pt x="147647" y="273187"/>
                </a:lnTo>
                <a:lnTo>
                  <a:pt x="96469" y="114795"/>
                </a:lnTo>
                <a:lnTo>
                  <a:pt x="20031" y="114795"/>
                </a:lnTo>
                <a:close/>
              </a:path>
              <a:path w="304800" h="304800">
                <a:moveTo>
                  <a:pt x="110338" y="114795"/>
                </a:moveTo>
                <a:lnTo>
                  <a:pt x="155534" y="273510"/>
                </a:lnTo>
                <a:lnTo>
                  <a:pt x="194424" y="114795"/>
                </a:lnTo>
                <a:lnTo>
                  <a:pt x="110338" y="114795"/>
                </a:lnTo>
                <a:close/>
              </a:path>
              <a:path w="304800" h="304800">
                <a:moveTo>
                  <a:pt x="162411" y="273187"/>
                </a:moveTo>
                <a:lnTo>
                  <a:pt x="285264" y="114795"/>
                </a:lnTo>
                <a:lnTo>
                  <a:pt x="209417" y="114795"/>
                </a:lnTo>
                <a:lnTo>
                  <a:pt x="162411" y="273187"/>
                </a:lnTo>
                <a:close/>
              </a:path>
              <a:path w="304800" h="304800">
                <a:moveTo>
                  <a:pt x="285550" y="104432"/>
                </a:moveTo>
                <a:lnTo>
                  <a:pt x="248717" y="41453"/>
                </a:lnTo>
                <a:lnTo>
                  <a:pt x="211865" y="104432"/>
                </a:lnTo>
                <a:lnTo>
                  <a:pt x="285550" y="104432"/>
                </a:lnTo>
                <a:close/>
              </a:path>
              <a:path w="304800" h="304800">
                <a:moveTo>
                  <a:pt x="237134" y="37843"/>
                </a:moveTo>
                <a:lnTo>
                  <a:pt x="163449" y="37843"/>
                </a:lnTo>
                <a:lnTo>
                  <a:pt x="200282" y="102984"/>
                </a:lnTo>
                <a:lnTo>
                  <a:pt x="237134" y="37843"/>
                </a:lnTo>
                <a:close/>
              </a:path>
              <a:path w="304800" h="304800">
                <a:moveTo>
                  <a:pt x="188957" y="104432"/>
                </a:moveTo>
                <a:lnTo>
                  <a:pt x="152124" y="41453"/>
                </a:lnTo>
                <a:lnTo>
                  <a:pt x="115281" y="104432"/>
                </a:lnTo>
                <a:lnTo>
                  <a:pt x="188957" y="104432"/>
                </a:lnTo>
                <a:close/>
              </a:path>
              <a:path w="304800" h="304800">
                <a:moveTo>
                  <a:pt x="141341" y="37843"/>
                </a:moveTo>
                <a:lnTo>
                  <a:pt x="67666" y="37843"/>
                </a:lnTo>
                <a:lnTo>
                  <a:pt x="104508" y="102984"/>
                </a:lnTo>
                <a:lnTo>
                  <a:pt x="141341" y="37843"/>
                </a:lnTo>
                <a:close/>
              </a:path>
              <a:path w="304800" h="304800">
                <a:moveTo>
                  <a:pt x="56093" y="41453"/>
                </a:moveTo>
                <a:lnTo>
                  <a:pt x="19260" y="104432"/>
                </a:lnTo>
                <a:lnTo>
                  <a:pt x="92935" y="104432"/>
                </a:lnTo>
                <a:lnTo>
                  <a:pt x="56093" y="41453"/>
                </a:lnTo>
              </a:path>
            </a:pathLst>
          </a:cu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31" name="Freeform 31"/>
          <p:cNvSpPr/>
          <p:nvPr/>
        </p:nvSpPr>
        <p:spPr>
          <a:xfrm>
            <a:off x="2974000" y="4401604"/>
            <a:ext cx="327137" cy="327137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25457" y="100803"/>
                </a:moveTo>
                <a:lnTo>
                  <a:pt x="216027" y="120034"/>
                </a:lnTo>
                <a:cubicBezTo>
                  <a:pt x="225047" y="127768"/>
                  <a:pt x="230762" y="139246"/>
                  <a:pt x="230762" y="152048"/>
                </a:cubicBezTo>
                <a:cubicBezTo>
                  <a:pt x="230762" y="166164"/>
                  <a:pt x="227562" y="178927"/>
                  <a:pt x="216922" y="186585"/>
                </a:cubicBezTo>
                <a:lnTo>
                  <a:pt x="226038" y="202844"/>
                </a:lnTo>
                <a:cubicBezTo>
                  <a:pt x="239954" y="190357"/>
                  <a:pt x="248717" y="172241"/>
                  <a:pt x="248717" y="152067"/>
                </a:cubicBezTo>
                <a:cubicBezTo>
                  <a:pt x="248707" y="131636"/>
                  <a:pt x="239706" y="113290"/>
                  <a:pt x="225457" y="100803"/>
                </a:cubicBezTo>
                <a:close/>
              </a:path>
              <a:path w="304800" h="304800">
                <a:moveTo>
                  <a:pt x="295446" y="33461"/>
                </a:moveTo>
                <a:lnTo>
                  <a:pt x="282178" y="49559"/>
                </a:lnTo>
                <a:cubicBezTo>
                  <a:pt x="306924" y="76571"/>
                  <a:pt x="322583" y="112566"/>
                  <a:pt x="322583" y="152086"/>
                </a:cubicBezTo>
                <a:cubicBezTo>
                  <a:pt x="322583" y="191538"/>
                  <a:pt x="306953" y="227486"/>
                  <a:pt x="282292" y="254489"/>
                </a:cubicBezTo>
                <a:lnTo>
                  <a:pt x="295542" y="270920"/>
                </a:lnTo>
                <a:cubicBezTo>
                  <a:pt x="323764" y="239144"/>
                  <a:pt x="340862" y="198072"/>
                  <a:pt x="340862" y="152086"/>
                </a:cubicBezTo>
                <a:cubicBezTo>
                  <a:pt x="340852" y="106223"/>
                  <a:pt x="323536" y="65218"/>
                  <a:pt x="295446" y="33461"/>
                </a:cubicBezTo>
                <a:close/>
              </a:path>
              <a:path w="304800" h="304800">
                <a:moveTo>
                  <a:pt x="260242" y="66351"/>
                </a:moveTo>
                <a:lnTo>
                  <a:pt x="248431" y="83334"/>
                </a:lnTo>
                <a:cubicBezTo>
                  <a:pt x="265976" y="100955"/>
                  <a:pt x="277101" y="125244"/>
                  <a:pt x="277101" y="152076"/>
                </a:cubicBezTo>
                <a:cubicBezTo>
                  <a:pt x="277101" y="179451"/>
                  <a:pt x="265528" y="204168"/>
                  <a:pt x="247355" y="221885"/>
                </a:cubicBezTo>
                <a:lnTo>
                  <a:pt x="259632" y="238182"/>
                </a:lnTo>
                <a:cubicBezTo>
                  <a:pt x="281588" y="215760"/>
                  <a:pt x="294808" y="185947"/>
                  <a:pt x="294808" y="152086"/>
                </a:cubicBezTo>
                <a:cubicBezTo>
                  <a:pt x="294808" y="118853"/>
                  <a:pt x="281492" y="88668"/>
                  <a:pt x="260242" y="66351"/>
                </a:cubicBezTo>
                <a:close/>
              </a:path>
              <a:path w="304800" h="304800">
                <a:moveTo>
                  <a:pt x="0" y="114367"/>
                </a:moveTo>
                <a:lnTo>
                  <a:pt x="0" y="191424"/>
                </a:lnTo>
                <a:cubicBezTo>
                  <a:pt x="0" y="201244"/>
                  <a:pt x="8534" y="213846"/>
                  <a:pt x="19050" y="213846"/>
                </a:cubicBezTo>
                <a:lnTo>
                  <a:pt x="76457" y="213846"/>
                </a:lnTo>
                <a:lnTo>
                  <a:pt x="76457" y="90602"/>
                </a:lnTo>
                <a:lnTo>
                  <a:pt x="19050" y="90602"/>
                </a:lnTo>
                <a:cubicBezTo>
                  <a:pt x="8534" y="90602"/>
                  <a:pt x="0" y="104556"/>
                  <a:pt x="0" y="114367"/>
                </a:cubicBezTo>
                <a:close/>
              </a:path>
              <a:path w="304800" h="304800">
                <a:moveTo>
                  <a:pt x="165173" y="34471"/>
                </a:moveTo>
                <a:lnTo>
                  <a:pt x="85344" y="89497"/>
                </a:lnTo>
                <a:lnTo>
                  <a:pt x="85344" y="215703"/>
                </a:lnTo>
                <a:lnTo>
                  <a:pt x="165173" y="271329"/>
                </a:lnTo>
                <a:cubicBezTo>
                  <a:pt x="175689" y="271329"/>
                  <a:pt x="190776" y="263366"/>
                  <a:pt x="190776" y="253546"/>
                </a:cubicBezTo>
                <a:lnTo>
                  <a:pt x="190776" y="52254"/>
                </a:lnTo>
                <a:cubicBezTo>
                  <a:pt x="190776" y="42434"/>
                  <a:pt x="175689" y="34471"/>
                  <a:pt x="165173" y="34471"/>
                </a:cubicBezTo>
              </a:path>
            </a:pathLst>
          </a:cu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32" name="AutoShape 32"/>
          <p:cNvSpPr/>
          <p:nvPr/>
        </p:nvSpPr>
        <p:spPr>
          <a:xfrm>
            <a:off x="5174654" y="2988555"/>
            <a:ext cx="571500" cy="571500"/>
          </a:xfrm>
          <a:prstGeom prst="ellipse">
            <a:avLst/>
          </a:prstGeom>
          <a:solidFill>
            <a:schemeClr val="accent4">
              <a:alpha val="100000"/>
            </a:schemeClr>
          </a:solidFill>
          <a:ln/>
        </p:spPr>
        <p:txBody>
          <a:bodyPr vert="horz" wrap="square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  <a:defRPr/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02</a:t>
            </a:r>
            <a:endParaRPr lang="en-US" sz="1100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33" name="AutoShape 33"/>
          <p:cNvSpPr/>
          <p:nvPr/>
        </p:nvSpPr>
        <p:spPr>
          <a:xfrm>
            <a:off x="4888904" y="4225059"/>
            <a:ext cx="571500" cy="571500"/>
          </a:xfrm>
          <a:prstGeom prst="ellipse">
            <a:avLst/>
          </a:prstGeom>
          <a:solidFill>
            <a:schemeClr val="accent5">
              <a:alpha val="100000"/>
            </a:schemeClr>
          </a:solidFill>
          <a:ln/>
        </p:spPr>
        <p:txBody>
          <a:bodyPr vert="horz" wrap="square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  <a:defRPr/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03</a:t>
            </a:r>
            <a:endParaRPr lang="en-US" sz="1100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34" name="AutoShape 34"/>
          <p:cNvSpPr/>
          <p:nvPr/>
        </p:nvSpPr>
        <p:spPr>
          <a:xfrm>
            <a:off x="4603154" y="5368294"/>
            <a:ext cx="571500" cy="571500"/>
          </a:xfrm>
          <a:prstGeom prst="ellipse">
            <a:avLst/>
          </a:prstGeom>
          <a:solidFill>
            <a:schemeClr val="accent6">
              <a:alpha val="100000"/>
            </a:schemeClr>
          </a:solidFill>
          <a:ln/>
        </p:spPr>
        <p:txBody>
          <a:bodyPr vert="horz" wrap="square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  <a:defRPr/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04</a:t>
            </a:r>
            <a:endParaRPr lang="en-US" sz="1100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="" xmlns:bd="http://schemas.baidu.com/office/drawing/2023/templateData">eyJtZCI6IiMjIOivt+i+k+WFpeacrOmhteagh+mimFxuIyMjIOa3u+WKoOWwj+agh+mimFxu6K+35Zyo5q2k5aSE6L6T5YWl5oKo55qE5q2j5paH5YaF5a6544CC5paH5a2X5Luj6KGo5oKo55qE5Li76aKY5oCd5oOz77yM6K+35Yqb5rGC566A5piO5Zyw6KGo6L6+5oKo55qE6KeC54K544CC5Y+v6YCC5bqm5Yig5YeP5paH5a2X5Lul56Gu5L+d5L+h5oGv55qE5riF5pmw5ZKM57K+XG4jIyMg5re75Yqg5bCP5qCH6aKYXG7or7flnKjmraTlpITovpPlhaXmgqjnmoTmraPmloflhoXlrrnjgILmloflrZfku6PooajmgqjnmoTkuLvpopjmgJ3mg7PvvIzor7flipvmsYLnroDmmI7lnLDooajovr7mgqjnmoTop4LngrnjgILlj6/pgILluqbliKDlh4/mloflrZfku6Xnoa7kv53kv6Hmga/nmoTmuIXmmbDlkoznsr5cbiMjIyDmt7vliqDlsI/moIfpophcbuivt+WcqOatpOWkhOi+k+WFpeaCqOeahOato+aWh+WGheWuueOAguaWh+Wtl+S7o+ihqOaCqOeahOS4u+mimOaAneaDs++8jOivt+WKm+axgueugOaYjuWcsOihqOi+vuaCqOeahOingueCueOAguWPr+mAguW6puWIoOWHj+aWh+Wtl+S7peehruS/neS/oeaBr+eahOa4heaZsOWSjOeyvlxuIyMjIOa3u+WKoOWwj+agh+mimFxu6K+35Zyo5q2k5aSE6L6T5YWl5oKo55qE5q2j5paH5YaF5a6544CC5paH5a2X5Luj6KGo5oKo55qE5Li76aKY5oCd5oOz77yM6K+35Yqb5rGC566A5piO5Zyw6KGo6L6+5oKo55qE6KeC54K544CC5Y+v6YCC5bqm5Yig5YeP5paH5a2X5Lul56Gu5L+d5L+h5oGv55qE5riF5pmw5ZKM57K+IiwidHBsaWQiOiI2OSIsInRwbE5hbWUiOiJsaXN0NF8yMDI1MDcwMzExIiwiZWRpdGVkIjoiZmFsc2UifQ==</bd:templateData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487245" y="1423716"/>
            <a:ext cx="3186474" cy="3186474"/>
          </a:xfrm>
          <a:prstGeom prst="ellipse">
            <a:avLst/>
          </a:prstGeom>
          <a:solidFill>
            <a:schemeClr val="accent2">
              <a:alpha val="2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3" name="AutoShape 3"/>
          <p:cNvSpPr/>
          <p:nvPr/>
        </p:nvSpPr>
        <p:spPr>
          <a:xfrm>
            <a:off x="4173203" y="1109673"/>
            <a:ext cx="3814560" cy="3814560"/>
          </a:xfrm>
          <a:prstGeom prst="ellipse">
            <a:avLst/>
          </a:prstGeom>
          <a:solidFill>
            <a:schemeClr val="accent2">
              <a:alpha val="2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4" name="AutoShape 4"/>
          <p:cNvSpPr/>
          <p:nvPr/>
        </p:nvSpPr>
        <p:spPr>
          <a:xfrm>
            <a:off x="3495828" y="2017416"/>
            <a:ext cx="1999074" cy="1999074"/>
          </a:xfrm>
          <a:prstGeom prst="ellipse">
            <a:avLst/>
          </a:prstGeom>
          <a:solidFill>
            <a:schemeClr val="accent1">
              <a:alpha val="100000"/>
              <a:lumMod val="75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5" name="AutoShape 5"/>
          <p:cNvSpPr/>
          <p:nvPr/>
        </p:nvSpPr>
        <p:spPr>
          <a:xfrm>
            <a:off x="6686299" y="2017209"/>
            <a:ext cx="1999488" cy="1999488"/>
          </a:xfrm>
          <a:prstGeom prst="ellipse">
            <a:avLst/>
          </a:prstGeom>
          <a:solidFill>
            <a:schemeClr val="accent1">
              <a:alpha val="100000"/>
              <a:lumMod val="75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6" name="AutoShape 6"/>
          <p:cNvSpPr/>
          <p:nvPr/>
        </p:nvSpPr>
        <p:spPr>
          <a:xfrm>
            <a:off x="4732087" y="1668558"/>
            <a:ext cx="2696790" cy="269679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7" name="TextBox 7"/>
          <p:cNvSpPr txBox="1"/>
          <p:nvPr/>
        </p:nvSpPr>
        <p:spPr>
          <a:xfrm>
            <a:off x="384641" y="2117702"/>
            <a:ext cx="2934861" cy="2120494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r">
              <a:lnSpc>
                <a:spcPct val="140000"/>
              </a:lnSpc>
            </a:pP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行动 执行部署与转移命令 触发对手响应释放信号 感知 战斗网络采集信号更新战场态势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eyJfdGVtcGxhdGVEYXRhIjp7ImNvbnRlbnRUeXBlIjoiJGl0ZW0xX2MiLCJsaW5lQ291bnQiOiI2Iiwid29yZENvdW50IjoiMTMifSwidGFnIjoiJGl0ZW0xX2MifQ==</bd:templateData>
          </p:ext>
        </p:extLst>
      </p:sp>
      <p:sp>
        <p:nvSpPr>
          <p:cNvPr id="8" name="TextBox 8"/>
          <p:cNvSpPr txBox="1"/>
          <p:nvPr/>
        </p:nvSpPr>
        <p:spPr>
          <a:xfrm>
            <a:off x="8861907" y="2117702"/>
            <a:ext cx="2934861" cy="2120494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l">
              <a:lnSpc>
                <a:spcPct val="140000"/>
              </a:lnSpc>
            </a:pP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决策 基于更新后的对手模型验证不确定性制定下一步行动 适应 持续调整部署与策略形成闭环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eyJfdGVtcGxhdGVEYXRhIjp7ImNvbnRlbnRUeXBlIjoiJGl0ZW0yX2MiLCJsaW5lQ291bnQiOiI2Iiwid29yZENvdW50IjoiMTMifSwidGFnIjoiJGl0ZW0yX2MifQ==</bd:templateData>
          </p:ext>
        </p:extLst>
      </p:sp>
      <p:sp>
        <p:nvSpPr>
          <p:cNvPr id="9" name="Freeform 9"/>
          <p:cNvSpPr/>
          <p:nvPr/>
        </p:nvSpPr>
        <p:spPr>
          <a:xfrm>
            <a:off x="5452470" y="2378719"/>
            <a:ext cx="1276469" cy="1276469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57299" y="240773"/>
                </a:moveTo>
                <a:lnTo>
                  <a:pt x="257299" y="258156"/>
                </a:lnTo>
                <a:lnTo>
                  <a:pt x="47501" y="258156"/>
                </a:lnTo>
                <a:lnTo>
                  <a:pt x="47501" y="240773"/>
                </a:lnTo>
                <a:cubicBezTo>
                  <a:pt x="47501" y="240773"/>
                  <a:pt x="43015" y="231162"/>
                  <a:pt x="67361" y="208112"/>
                </a:cubicBezTo>
                <a:cubicBezTo>
                  <a:pt x="91688" y="185071"/>
                  <a:pt x="88487" y="125511"/>
                  <a:pt x="88487" y="85173"/>
                </a:cubicBezTo>
                <a:cubicBezTo>
                  <a:pt x="88487" y="44834"/>
                  <a:pt x="145142" y="43977"/>
                  <a:pt x="145142" y="43977"/>
                </a:cubicBezTo>
                <a:lnTo>
                  <a:pt x="147085" y="43977"/>
                </a:lnTo>
                <a:cubicBezTo>
                  <a:pt x="147085" y="43996"/>
                  <a:pt x="147085" y="43701"/>
                  <a:pt x="147085" y="37424"/>
                </a:cubicBezTo>
                <a:cubicBezTo>
                  <a:pt x="147085" y="33395"/>
                  <a:pt x="133560" y="18802"/>
                  <a:pt x="133560" y="18802"/>
                </a:cubicBezTo>
                <a:lnTo>
                  <a:pt x="133360" y="9973"/>
                </a:lnTo>
                <a:lnTo>
                  <a:pt x="171555" y="9973"/>
                </a:lnTo>
                <a:lnTo>
                  <a:pt x="171298" y="19136"/>
                </a:lnTo>
                <a:cubicBezTo>
                  <a:pt x="171298" y="19136"/>
                  <a:pt x="156639" y="33719"/>
                  <a:pt x="156639" y="38014"/>
                </a:cubicBezTo>
                <a:cubicBezTo>
                  <a:pt x="156639" y="42167"/>
                  <a:pt x="156639" y="43558"/>
                  <a:pt x="156639" y="43967"/>
                </a:cubicBezTo>
                <a:lnTo>
                  <a:pt x="159658" y="43967"/>
                </a:lnTo>
                <a:cubicBezTo>
                  <a:pt x="159658" y="43967"/>
                  <a:pt x="216313" y="44825"/>
                  <a:pt x="216313" y="85163"/>
                </a:cubicBezTo>
                <a:cubicBezTo>
                  <a:pt x="216313" y="125501"/>
                  <a:pt x="213112" y="185071"/>
                  <a:pt x="237449" y="208121"/>
                </a:cubicBezTo>
                <a:cubicBezTo>
                  <a:pt x="261785" y="231172"/>
                  <a:pt x="257299" y="240773"/>
                  <a:pt x="257299" y="240773"/>
                </a:cubicBezTo>
                <a:close/>
              </a:path>
              <a:path w="304800" h="304800">
                <a:moveTo>
                  <a:pt x="176327" y="267367"/>
                </a:moveTo>
                <a:cubicBezTo>
                  <a:pt x="176327" y="280559"/>
                  <a:pt x="165640" y="294827"/>
                  <a:pt x="152457" y="294827"/>
                </a:cubicBezTo>
                <a:cubicBezTo>
                  <a:pt x="139275" y="294827"/>
                  <a:pt x="128588" y="280559"/>
                  <a:pt x="128588" y="267367"/>
                </a:cubicBezTo>
                <a:cubicBezTo>
                  <a:pt x="128588" y="267662"/>
                  <a:pt x="176327" y="267062"/>
                  <a:pt x="176327" y="267367"/>
                </a:cubicBezTo>
              </a:path>
            </a:pathLst>
          </a:cu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0" name="AutoShape 10"/>
          <p:cNvSpPr/>
          <p:nvPr/>
        </p:nvSpPr>
        <p:spPr>
          <a:xfrm>
            <a:off x="851954" y="5059643"/>
            <a:ext cx="10477500" cy="1521079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1" name="TextBox 11"/>
          <p:cNvSpPr txBox="1"/>
          <p:nvPr/>
        </p:nvSpPr>
        <p:spPr>
          <a:xfrm>
            <a:off x="1094842" y="5262970"/>
            <a:ext cx="9952232" cy="1114425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</a:pPr>
            <a:r>
              <a:rPr lang="en-US" sz="1425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不追求一次性摧毁对手 通过持续探索-感知-决策-适应的循环 比对手适应得更快 这是三级任务的核心评审视角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eyJfdGVtcGxhdGVEYXRhIjp7ImNvbnRlbnRUeXBlIjoiJHN1bSIsImxpbmVDb3VudCI6IjMiLCJ3b3JkQ291bnQiOiI1MiJ9LCJ0YWciOiIkc3VtIn0=</bd:templateData>
          </p:ext>
        </p:extLst>
      </p:sp>
      <p:sp>
        <p:nvSpPr>
          <p:cNvPr id="12" name="TextBox 12"/>
          <p:cNvSpPr txBox="1"/>
          <p:nvPr/>
        </p:nvSpPr>
        <p:spPr>
          <a:xfrm>
            <a:off x="646786" y="1552223"/>
            <a:ext cx="2672715" cy="530496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r">
              <a:lnSpc>
                <a:spcPct val="77000"/>
              </a:lnSpc>
            </a:pPr>
            <a:r>
              <a:rPr lang="en-US" sz="2025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行动与感知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eyJfdGVtcGxhdGVEYXRhIjp7ImNvbnRlbnRUeXBlIjoiJGl0ZW0xX3RpdGxlIiwibGluZUNvdW50IjoiMSIsIndvcmRDb3VudCI6IjgifSwidGFnIjoiJGl0ZW0xX3RpdGxlIn0=</bd:templateData>
          </p:ext>
        </p:extLst>
      </p:sp>
      <p:sp>
        <p:nvSpPr>
          <p:cNvPr id="13" name="TextBox 13"/>
          <p:cNvSpPr txBox="1"/>
          <p:nvPr/>
        </p:nvSpPr>
        <p:spPr>
          <a:xfrm>
            <a:off x="8866669" y="1552223"/>
            <a:ext cx="2667000" cy="530496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l">
              <a:lnSpc>
                <a:spcPct val="77000"/>
              </a:lnSpc>
            </a:pPr>
            <a:r>
              <a:rPr lang="en-US" sz="2025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决策与适应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eyJfdGVtcGxhdGVEYXRhIjp7ImNvbnRlbnRUeXBlIjoiJGl0ZW0yX3RpdGxlIiwibGluZUNvdW50IjoiMSIsIndvcmRDb3VudCI6IjgifSwidGFnIjoiJGl0ZW0yX3RpdGxlIn0=</bd:templateData>
          </p:ext>
        </p:extLst>
      </p:sp>
      <p:sp>
        <p:nvSpPr>
          <p:cNvPr id="14" name="TextBox 14"/>
          <p:cNvSpPr txBox="1"/>
          <p:nvPr/>
        </p:nvSpPr>
        <p:spPr>
          <a:xfrm>
            <a:off x="3819141" y="2666433"/>
            <a:ext cx="868680" cy="701040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 b="1">
                <a:solidFill>
                  <a:srgbClr val="FBFBF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id="15" name="TextBox 15"/>
          <p:cNvSpPr txBox="1"/>
          <p:nvPr/>
        </p:nvSpPr>
        <p:spPr>
          <a:xfrm>
            <a:off x="7473509" y="2666433"/>
            <a:ext cx="868680" cy="701040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 b="1">
                <a:solidFill>
                  <a:srgbClr val="FBFBF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id="16" name="TextBox 16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ASDA闭环驱动仿真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eyJfdGVtcGxhdGVEYXRhIjp7ImNvbnRlbnRUeXBlIjoiJHRpdGxlIiwibGluZUNvdW50IjoiMSIsIndvcmRDb3VudCI6IjI4In0sInRhZyI6IiR0aXRsZSJ9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="" xmlns:bd="http://schemas.baidu.com/office/drawing/2023/templateData">eyJtZCI6IiMjIOivt+i+k+WFpeacrOmhteagh+mimFxuIyMjIOivt+i+k+WFpeagh+mimFxu6K+35Zyo5q2k5aSE6L6T5YWl5oKo55qE5q2j5paH5YaF5a6544CC5paH5a2X5Luj6KGo5oKo55qE5Li76aKY5oCd5oOz77yM6K+35Yqb5rGC566A5piO5Zyw6KGo6L6+5oKo55qE6KeC54K544CC5Y+v6YCC5bqm5Yig5YeP5paH5a2X5Lul56Gu5L+d5L+h5oGv55qE5riF5pmw5ZKM57K+56Gu5Lyg6L6+77yM5ZCM5pe25Lmf6KaB5YWz5rOo5paH5a2X55qE6YC76L6R5oCn5ZKM5p2h55CG5oCn77yM5Lul5Yqp5LqOXG4jIyMg6K+36L6T5YWl5qCH6aKYXG7or7flnKjmraTlpITovpPlhaXmgqjnmoTmraPmloflhoXlrrnjgILmloflrZfku6PooajmgqjnmoTkuLvpopjmgJ3mg7PvvIzor7flipvmsYLnroDmmI7lnLDooajovr7mgqjnmoTop4LngrnjgILlj6/pgILluqbliKDlh4/mloflrZfku6Xnoa7kv53kv6Hmga/nmoTmuIXmmbDlkoznsr7noa7kvKDovr7vvIzlkIzml7bkuZ/opoHlhbPms6jmloflrZfnmoTpgLvovpHmgKflkozmnaHnkIbmgKfvvIzku6Xliqnkuo4iLCJ0cGxpZCI6IjY5IiwidHBsTmFtZSI6Imxpc3RTdW0yXzIzMTEyMTkiLCJlZGl0ZWQiOiJmYWxzZSJ9</bd:templateData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69459" y="3024148"/>
            <a:ext cx="1414272" cy="1609344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952500" y="0"/>
                </a:moveTo>
                <a:lnTo>
                  <a:pt x="0" y="571500"/>
                </a:lnTo>
                <a:lnTo>
                  <a:pt x="0" y="1333500"/>
                </a:lnTo>
                <a:lnTo>
                  <a:pt x="952500" y="1905000"/>
                </a:lnTo>
                <a:lnTo>
                  <a:pt x="1905000" y="1333500"/>
                </a:lnTo>
                <a:lnTo>
                  <a:pt x="1905000" y="571500"/>
                </a:lnTo>
                <a:lnTo>
                  <a:pt x="952500" y="0"/>
                </a:lnTo>
              </a:path>
            </a:pathLst>
          </a:custGeom>
          <a:solidFill>
            <a:schemeClr val="accent1">
              <a:alpha val="21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3" name="Freeform 3"/>
          <p:cNvSpPr/>
          <p:nvPr/>
        </p:nvSpPr>
        <p:spPr>
          <a:xfrm>
            <a:off x="4512519" y="4240105"/>
            <a:ext cx="1414272" cy="1609344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952500" y="0"/>
                </a:moveTo>
                <a:lnTo>
                  <a:pt x="0" y="571500"/>
                </a:lnTo>
                <a:lnTo>
                  <a:pt x="0" y="1333500"/>
                </a:lnTo>
                <a:lnTo>
                  <a:pt x="952500" y="1905000"/>
                </a:lnTo>
                <a:lnTo>
                  <a:pt x="1905000" y="1333500"/>
                </a:lnTo>
                <a:lnTo>
                  <a:pt x="1905000" y="571500"/>
                </a:lnTo>
                <a:lnTo>
                  <a:pt x="952500" y="0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4" name="Freeform 4"/>
          <p:cNvSpPr/>
          <p:nvPr/>
        </p:nvSpPr>
        <p:spPr>
          <a:xfrm>
            <a:off x="6046383" y="4227913"/>
            <a:ext cx="1414272" cy="1609344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952500" y="0"/>
                </a:moveTo>
                <a:lnTo>
                  <a:pt x="0" y="571500"/>
                </a:lnTo>
                <a:lnTo>
                  <a:pt x="0" y="1333500"/>
                </a:lnTo>
                <a:lnTo>
                  <a:pt x="952500" y="1905000"/>
                </a:lnTo>
                <a:lnTo>
                  <a:pt x="1905000" y="1333500"/>
                </a:lnTo>
                <a:lnTo>
                  <a:pt x="1905000" y="571500"/>
                </a:lnTo>
                <a:lnTo>
                  <a:pt x="952500" y="0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5" name="Freeform 5"/>
          <p:cNvSpPr/>
          <p:nvPr/>
        </p:nvSpPr>
        <p:spPr>
          <a:xfrm>
            <a:off x="6772097" y="3011956"/>
            <a:ext cx="1414272" cy="1609344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952500" y="0"/>
                </a:moveTo>
                <a:lnTo>
                  <a:pt x="0" y="571500"/>
                </a:lnTo>
                <a:lnTo>
                  <a:pt x="0" y="1333500"/>
                </a:lnTo>
                <a:lnTo>
                  <a:pt x="952500" y="1905000"/>
                </a:lnTo>
                <a:lnTo>
                  <a:pt x="1905000" y="1333500"/>
                </a:lnTo>
                <a:lnTo>
                  <a:pt x="1905000" y="571500"/>
                </a:lnTo>
                <a:lnTo>
                  <a:pt x="952500" y="0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6" name="Freeform 6"/>
          <p:cNvSpPr/>
          <p:nvPr/>
        </p:nvSpPr>
        <p:spPr>
          <a:xfrm>
            <a:off x="3742965" y="3024148"/>
            <a:ext cx="1414272" cy="1609344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952500" y="0"/>
                </a:moveTo>
                <a:lnTo>
                  <a:pt x="0" y="571500"/>
                </a:lnTo>
                <a:lnTo>
                  <a:pt x="0" y="1333500"/>
                </a:lnTo>
                <a:lnTo>
                  <a:pt x="952500" y="1905000"/>
                </a:lnTo>
                <a:lnTo>
                  <a:pt x="1905000" y="1333500"/>
                </a:lnTo>
                <a:lnTo>
                  <a:pt x="1905000" y="571500"/>
                </a:lnTo>
                <a:lnTo>
                  <a:pt x="952500" y="0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7" name="Freeform 7"/>
          <p:cNvSpPr/>
          <p:nvPr/>
        </p:nvSpPr>
        <p:spPr>
          <a:xfrm>
            <a:off x="4500327" y="1814227"/>
            <a:ext cx="1414272" cy="1609344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952500" y="0"/>
                </a:moveTo>
                <a:lnTo>
                  <a:pt x="0" y="571500"/>
                </a:lnTo>
                <a:lnTo>
                  <a:pt x="0" y="1333500"/>
                </a:lnTo>
                <a:lnTo>
                  <a:pt x="952500" y="1905000"/>
                </a:lnTo>
                <a:lnTo>
                  <a:pt x="1905000" y="1333500"/>
                </a:lnTo>
                <a:lnTo>
                  <a:pt x="1905000" y="571500"/>
                </a:lnTo>
                <a:lnTo>
                  <a:pt x="952500" y="0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8" name="Freeform 8"/>
          <p:cNvSpPr/>
          <p:nvPr/>
        </p:nvSpPr>
        <p:spPr>
          <a:xfrm>
            <a:off x="6017116" y="1814227"/>
            <a:ext cx="1414272" cy="1609344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952500" y="0"/>
                </a:moveTo>
                <a:lnTo>
                  <a:pt x="0" y="571500"/>
                </a:lnTo>
                <a:lnTo>
                  <a:pt x="0" y="1333500"/>
                </a:lnTo>
                <a:lnTo>
                  <a:pt x="952500" y="1905000"/>
                </a:lnTo>
                <a:lnTo>
                  <a:pt x="1905000" y="1333500"/>
                </a:lnTo>
                <a:lnTo>
                  <a:pt x="1905000" y="571500"/>
                </a:lnTo>
                <a:lnTo>
                  <a:pt x="952500" y="0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9" name="Freeform 9"/>
          <p:cNvSpPr/>
          <p:nvPr/>
        </p:nvSpPr>
        <p:spPr>
          <a:xfrm>
            <a:off x="5727426" y="3573314"/>
            <a:ext cx="456349" cy="413575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190500"/>
                </a:moveTo>
                <a:cubicBezTo>
                  <a:pt x="152400" y="169459"/>
                  <a:pt x="169459" y="152400"/>
                  <a:pt x="190500" y="152400"/>
                </a:cubicBezTo>
                <a:cubicBezTo>
                  <a:pt x="211541" y="152400"/>
                  <a:pt x="228600" y="169459"/>
                  <a:pt x="228600" y="190500"/>
                </a:cubicBezTo>
                <a:cubicBezTo>
                  <a:pt x="228600" y="211541"/>
                  <a:pt x="211541" y="228600"/>
                  <a:pt x="190500" y="228600"/>
                </a:cubicBezTo>
                <a:cubicBezTo>
                  <a:pt x="169459" y="228600"/>
                  <a:pt x="152400" y="211541"/>
                  <a:pt x="152400" y="190500"/>
                </a:cubicBezTo>
                <a:close/>
                <a:moveTo>
                  <a:pt x="266700" y="76200"/>
                </a:moveTo>
                <a:lnTo>
                  <a:pt x="235372" y="12925"/>
                </a:lnTo>
                <a:cubicBezTo>
                  <a:pt x="232801" y="5410"/>
                  <a:pt x="225695" y="0"/>
                  <a:pt x="217284" y="0"/>
                </a:cubicBezTo>
                <a:lnTo>
                  <a:pt x="164973" y="0"/>
                </a:lnTo>
                <a:cubicBezTo>
                  <a:pt x="156467" y="0"/>
                  <a:pt x="149295" y="5544"/>
                  <a:pt x="146837" y="13192"/>
                </a:cubicBezTo>
                <a:lnTo>
                  <a:pt x="114338" y="76200"/>
                </a:lnTo>
                <a:lnTo>
                  <a:pt x="38100" y="76200"/>
                </a:lnTo>
                <a:cubicBezTo>
                  <a:pt x="17059" y="76200"/>
                  <a:pt x="0" y="93259"/>
                  <a:pt x="0" y="114300"/>
                </a:cubicBezTo>
                <a:lnTo>
                  <a:pt x="0" y="304800"/>
                </a:lnTo>
                <a:lnTo>
                  <a:pt x="304800" y="304800"/>
                </a:lnTo>
                <a:lnTo>
                  <a:pt x="304800" y="114300"/>
                </a:lnTo>
                <a:cubicBezTo>
                  <a:pt x="304800" y="93259"/>
                  <a:pt x="287760" y="76200"/>
                  <a:pt x="266700" y="76200"/>
                </a:cubicBezTo>
                <a:close/>
                <a:moveTo>
                  <a:pt x="57150" y="152400"/>
                </a:moveTo>
                <a:cubicBezTo>
                  <a:pt x="46625" y="152400"/>
                  <a:pt x="38100" y="143875"/>
                  <a:pt x="38100" y="133350"/>
                </a:cubicBezTo>
                <a:cubicBezTo>
                  <a:pt x="38100" y="122825"/>
                  <a:pt x="46625" y="114300"/>
                  <a:pt x="57150" y="114300"/>
                </a:cubicBezTo>
                <a:cubicBezTo>
                  <a:pt x="67675" y="114300"/>
                  <a:pt x="76200" y="122825"/>
                  <a:pt x="76200" y="133350"/>
                </a:cubicBezTo>
                <a:cubicBezTo>
                  <a:pt x="76200" y="143875"/>
                  <a:pt x="67675" y="152400"/>
                  <a:pt x="57150" y="152400"/>
                </a:cubicBezTo>
                <a:close/>
                <a:moveTo>
                  <a:pt x="190500" y="266700"/>
                </a:moveTo>
                <a:cubicBezTo>
                  <a:pt x="148419" y="266700"/>
                  <a:pt x="114300" y="232581"/>
                  <a:pt x="114300" y="190500"/>
                </a:cubicBezTo>
                <a:cubicBezTo>
                  <a:pt x="114300" y="148419"/>
                  <a:pt x="148419" y="114300"/>
                  <a:pt x="190500" y="114300"/>
                </a:cubicBezTo>
                <a:cubicBezTo>
                  <a:pt x="232581" y="114300"/>
                  <a:pt x="266700" y="148419"/>
                  <a:pt x="266700" y="190500"/>
                </a:cubicBezTo>
                <a:cubicBezTo>
                  <a:pt x="266700" y="232581"/>
                  <a:pt x="232581" y="266700"/>
                  <a:pt x="190500" y="266700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0" name="TextBox 10"/>
          <p:cNvSpPr txBox="1"/>
          <p:nvPr/>
        </p:nvSpPr>
        <p:spPr>
          <a:xfrm>
            <a:off x="7792600" y="1686887"/>
            <a:ext cx="2820234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战斗网络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eyJfdGVtcGxhdGVEYXRhIjp7ImNvbnRlbnRUeXBlIjoiJGl0ZW0yX3RpdGxlIiwibGluZUNvdW50IjoiMSIsIndvcmRDb3VudCI6IjkifSwidGFnIjoiJGl0ZW0yX3RpdGxlIn0=</bd:templateData>
          </p:ext>
        </p:extLst>
      </p:sp>
      <p:sp>
        <p:nvSpPr>
          <p:cNvPr id="11" name="TextBox 11"/>
          <p:cNvSpPr txBox="1"/>
          <p:nvPr/>
        </p:nvSpPr>
        <p:spPr>
          <a:xfrm>
            <a:off x="7792600" y="2161734"/>
            <a:ext cx="2820234" cy="783012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传感器融合航迹管理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eyJfdGVtcGxhdGVEYXRhIjp7ImNvbnRlbnRUeXBlIjoiJGl0ZW0yX2MiLCJsaW5lQ291bnQiOiIyIiwid29yZENvdW50IjoiMTMifSwidGFnIjoiJGl0ZW0yX2MifQ==</bd:templateData>
          </p:ext>
        </p:extLst>
      </p:sp>
      <p:sp>
        <p:nvSpPr>
          <p:cNvPr id="12" name="TextBox 12"/>
          <p:cNvSpPr txBox="1"/>
          <p:nvPr/>
        </p:nvSpPr>
        <p:spPr>
          <a:xfrm>
            <a:off x="8414502" y="3186543"/>
            <a:ext cx="2820234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即插即用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eyJfdGVtcGxhdGVEYXRhIjp7ImNvbnRlbnRUeXBlIjoiJGl0ZW00X3RpdGxlIiwibGluZUNvdW50IjoiMSIsIndvcmRDb3VudCI6IjkifSwidGFnIjoiJGl0ZW00X3RpdGxlIn0=</bd:templateData>
          </p:ext>
        </p:extLst>
      </p:sp>
      <p:sp>
        <p:nvSpPr>
          <p:cNvPr id="13" name="TextBox 13"/>
          <p:cNvSpPr txBox="1"/>
          <p:nvPr/>
        </p:nvSpPr>
        <p:spPr>
          <a:xfrm>
            <a:off x="8414502" y="3661390"/>
            <a:ext cx="2820234" cy="783012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OpenSky气象AIS数据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eyJfdGVtcGxhdGVEYXRhIjp7ImNvbnRlbnRUeXBlIjoiJGl0ZW00X2MiLCJsaW5lQ291bnQiOiIyIiwid29yZENvdW50IjoiMTMifSwidGFnIjoiJGl0ZW00X2MifQ==</bd:templateData>
          </p:ext>
        </p:extLst>
      </p:sp>
      <p:sp>
        <p:nvSpPr>
          <p:cNvPr id="14" name="TextBox 14"/>
          <p:cNvSpPr txBox="1"/>
          <p:nvPr/>
        </p:nvSpPr>
        <p:spPr>
          <a:xfrm>
            <a:off x="7800074" y="4620208"/>
            <a:ext cx="2820234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深度学习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eyJfdGVtcGxhdGVEYXRhIjp7ImNvbnRlbnRUeXBlIjoiJGl0ZW02X3RpdGxlIiwibGluZUNvdW50IjoiMSIsIndvcmRDb3VudCI6IjkifSwidGFnIjoiJGl0ZW02X3RpdGxlIn0=</bd:templateData>
          </p:ext>
        </p:extLst>
      </p:sp>
      <p:sp>
        <p:nvSpPr>
          <p:cNvPr id="15" name="TextBox 15"/>
          <p:cNvSpPr txBox="1"/>
          <p:nvPr/>
        </p:nvSpPr>
        <p:spPr>
          <a:xfrm>
            <a:off x="7800074" y="5095054"/>
            <a:ext cx="2820234" cy="783012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DQN MADDPG 182维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eyJfdGVtcGxhdGVEYXRhIjp7ImNvbnRlbnRUeXBlIjoiJGl0ZW02X2MiLCJsaW5lQ291bnQiOiIyIiwid29yZENvdW50IjoiMTMifSwidGFnIjoiJGl0ZW02X2MifQ==</bd:templateData>
          </p:ext>
        </p:extLst>
      </p:sp>
      <p:sp>
        <p:nvSpPr>
          <p:cNvPr id="16" name="TextBox 16"/>
          <p:cNvSpPr txBox="1"/>
          <p:nvPr/>
        </p:nvSpPr>
        <p:spPr>
          <a:xfrm>
            <a:off x="1012112" y="1686887"/>
            <a:ext cx="2820234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作战引擎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eyJfdGVtcGxhdGVEYXRhIjp7ImNvbnRlbnRUeXBlIjoiJGl0ZW0xX3RpdGxlIiwibGluZUNvdW50IjoiMSIsIndvcmRDb3VudCI6IjkifSwidGFnIjoiJGl0ZW0xX3RpdGxlIn0=</bd:templateData>
          </p:ext>
        </p:extLst>
      </p:sp>
      <p:sp>
        <p:nvSpPr>
          <p:cNvPr id="17" name="TextBox 17"/>
          <p:cNvSpPr txBox="1"/>
          <p:nvPr/>
        </p:nvSpPr>
        <p:spPr>
          <a:xfrm>
            <a:off x="1012112" y="2161734"/>
            <a:ext cx="2820234" cy="783012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gRPC仿真引擎3031行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eyJfdGVtcGxhdGVEYXRhIjp7ImNvbnRlbnRUeXBlIjoiJGl0ZW0xX2MiLCJsaW5lQ291bnQiOiIyIiwid29yZENvdW50IjoiMTMifSwidGFnIjoiJGl0ZW0xX2MifQ==</bd:templateData>
          </p:ext>
        </p:extLst>
      </p:sp>
      <p:sp>
        <p:nvSpPr>
          <p:cNvPr id="18" name="TextBox 18"/>
          <p:cNvSpPr txBox="1"/>
          <p:nvPr/>
        </p:nvSpPr>
        <p:spPr>
          <a:xfrm>
            <a:off x="580710" y="3186543"/>
            <a:ext cx="2820234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应用商店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eyJfdGVtcGxhdGVEYXRhIjp7ImNvbnRlbnRUeXBlIjoiJGl0ZW0zX3RpdGxlIiwibGluZUNvdW50IjoiMSIsIndvcmRDb3VudCI6IjkifSwidGFnIjoiJGl0ZW0zX3RpdGxlIn0=</bd:templateData>
          </p:ext>
        </p:extLst>
      </p:sp>
      <p:sp>
        <p:nvSpPr>
          <p:cNvPr id="19" name="TextBox 19"/>
          <p:cNvSpPr txBox="1"/>
          <p:nvPr/>
        </p:nvSpPr>
        <p:spPr>
          <a:xfrm>
            <a:off x="580710" y="3661390"/>
            <a:ext cx="2820234" cy="783012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插件管理REST网关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eyJfdGVtcGxhdGVEYXRhIjp7ImNvbnRlbnRUeXBlIjoiJGl0ZW0zX2MiLCJsaW5lQ291bnQiOiIyIiwid29yZENvdW50IjoiMTMifSwidGFnIjoiJGl0ZW0zX2MifQ==</bd:templateData>
          </p:ext>
        </p:extLst>
      </p:sp>
      <p:sp>
        <p:nvSpPr>
          <p:cNvPr id="20" name="TextBox 20"/>
          <p:cNvSpPr txBox="1"/>
          <p:nvPr/>
        </p:nvSpPr>
        <p:spPr>
          <a:xfrm>
            <a:off x="1019587" y="4620208"/>
            <a:ext cx="2820234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安全体系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eyJfdGVtcGxhdGVEYXRhIjp7ImNvbnRlbnRUeXBlIjoiJGl0ZW01X3RpdGxlIiwibGluZUNvdW50IjoiMSIsIndvcmRDb3VudCI6IjkifSwidGFnIjoiJGl0ZW01X3RpdGxlIn0=</bd:templateData>
          </p:ext>
        </p:extLst>
      </p:sp>
      <p:sp>
        <p:nvSpPr>
          <p:cNvPr id="21" name="TextBox 21"/>
          <p:cNvSpPr txBox="1"/>
          <p:nvPr/>
        </p:nvSpPr>
        <p:spPr>
          <a:xfrm>
            <a:off x="1019587" y="5095054"/>
            <a:ext cx="2820234" cy="783012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JWT RBAC mTLS审计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eyJfdGVtcGxhdGVEYXRhIjp7ImNvbnRlbnRUeXBlIjoiJGl0ZW01X2MiLCJsaW5lQ291bnQiOiIyIiwid29yZENvdW50IjoiMTMifSwidGFnIjoiJGl0ZW01X2MifQ==</bd:templateData>
          </p:ext>
        </p:extLst>
      </p:sp>
      <p:sp>
        <p:nvSpPr>
          <p:cNvPr id="22" name="TextBox 2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第三级 PMTEC系统架构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id="23" name="TextBox 23"/>
          <p:cNvSpPr txBox="1"/>
          <p:nvPr/>
        </p:nvSpPr>
        <p:spPr>
          <a:xfrm>
            <a:off x="4732422" y="2377917"/>
            <a:ext cx="849630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1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id="24" name="TextBox 24"/>
          <p:cNvSpPr txBox="1"/>
          <p:nvPr/>
        </p:nvSpPr>
        <p:spPr>
          <a:xfrm>
            <a:off x="6328703" y="2377917"/>
            <a:ext cx="849630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1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id="25" name="TextBox 25"/>
          <p:cNvSpPr txBox="1"/>
          <p:nvPr/>
        </p:nvSpPr>
        <p:spPr>
          <a:xfrm>
            <a:off x="4025286" y="3587837"/>
            <a:ext cx="849630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1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id="26" name="TextBox 26"/>
          <p:cNvSpPr txBox="1"/>
          <p:nvPr/>
        </p:nvSpPr>
        <p:spPr>
          <a:xfrm>
            <a:off x="7035840" y="3587837"/>
            <a:ext cx="849630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1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id="27" name="TextBox 27"/>
          <p:cNvSpPr txBox="1"/>
          <p:nvPr/>
        </p:nvSpPr>
        <p:spPr>
          <a:xfrm>
            <a:off x="4794840" y="4803794"/>
            <a:ext cx="849630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1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id="28" name="TextBox 28"/>
          <p:cNvSpPr txBox="1"/>
          <p:nvPr/>
        </p:nvSpPr>
        <p:spPr>
          <a:xfrm>
            <a:off x="6277966" y="4803794"/>
            <a:ext cx="849630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1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eyJfdGVtcGxhdGVEYXRhIjp7ImxpbmVDb3VudCI6IjEiLCJ3b3JkQ291bnQiOiIyIn0sInRhZyI6Im5vRWRpdCJ9</bd:templateData>
          </p:ext>
        </p:extLst>
      </p:sp>
    </p:spTree>
  </p:cSld>
  <p:clrMapOvr>
    <a:masterClrMapping/>
  </p:clrMapOvr>
  <p:extLst>
    <p:ext uri="http://schemas.baidu.com/office/drawing/2023/templateData">
      <bd:templateData xmlns="" xmlns:bd="http://schemas.baidu.com/office/drawing/2023/templateData">eyJtZCI6IiMjIOivt+i+k+WFpeacrOmhteagh+mimFxuIyMjIOa3u+WKoOWwj+agh+mimFxu6K+35Zyo5q2k5aSE6L6T5YWl5oKo55qE5q2j5paH5YaF5a6544CC5paH5a2X5Luj6KGo5oKo55qE5Li76aKY5oCd5oOz77yM6K+35YqbXG4jIyMg5re75Yqg5bCP5qCH6aKYXG7or7flnKjmraTlpITovpPlhaXmgqjnmoTmraPmloflhoXlrrnjgILmloflrZfku6PooajmgqjnmoTkuLvpopjmgJ3mg7PvvIzor7fliptcbiMjIyDmt7vliqDlsI/moIfpophcbuivt+WcqOatpOWkhOi+k+WFpeaCqOeahOato+aWh+WGheWuueOAguaWh+Wtl+S7o+ihqOaCqOeahOS4u+mimOaAneaDs++8jOivt+WKm1xuIyMjIOa3u+WKoOWwj+agh+mimFxu6K+35Zyo5q2k5aSE6L6T5YWl5oKo55qE5q2j5paH5YaF5a6544CC5paH5a2X5Luj6KGo5oKo55qE5Li76aKY5oCd5oOz77yM6K+35YqbXG4jIyMg5re75Yqg5bCP5qCH6aKYXG7or7flnKjmraTlpITovpPlhaXmgqjnmoTmraPmloflhoXlrrnjgILmloflrZfku6PooajmgqjnmoTkuLvpopjmgJ3mg7PvvIzor7fliptcbiMjIyDmt7vliqDlsI/moIfpophcbuivt+WcqOatpOWkhOi+k+WFpeaCqOeahOato+aWh+WGheWuueOAguaWh+Wtl+S7o+ihqOaCqOeahOS4u+mimOaAneaDs++8jOivt+WKmyIsInRwbGlkIjoiNjkiLCJ0cGxOYW1lIjoibGlzdDZfNSIsImVkaXRlZCI6ImZhbHNlIn0=</bd:templateData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171132">
            <a:off x="5279993" y="1808036"/>
            <a:ext cx="2793968" cy="3735134"/>
          </a:xfrm>
          <a:custGeom>
            <a:avLst/>
            <a:gdLst/>
            <a:ahLst/>
            <a:cxnLst/>
            <a:rect l="l" t="t" r="r" b="b"/>
            <a:pathLst>
              <a:path w="3635407" h="4859941">
                <a:moveTo>
                  <a:pt x="2429923" y="0"/>
                </a:moveTo>
                <a:cubicBezTo>
                  <a:pt x="1758896" y="0"/>
                  <a:pt x="1214914" y="543979"/>
                  <a:pt x="1214914" y="1215009"/>
                </a:cubicBezTo>
                <a:cubicBezTo>
                  <a:pt x="1214914" y="1844097"/>
                  <a:pt x="1693023" y="2361524"/>
                  <a:pt x="2305696" y="2423745"/>
                </a:cubicBezTo>
                <a:lnTo>
                  <a:pt x="2420398" y="2429537"/>
                </a:lnTo>
                <a:lnTo>
                  <a:pt x="2420398" y="2428399"/>
                </a:lnTo>
                <a:cubicBezTo>
                  <a:pt x="3091425" y="2428399"/>
                  <a:pt x="3635407" y="2972381"/>
                  <a:pt x="3635407" y="3643408"/>
                </a:cubicBezTo>
                <a:cubicBezTo>
                  <a:pt x="3635407" y="4272496"/>
                  <a:pt x="3157298" y="4789923"/>
                  <a:pt x="2544625" y="4852144"/>
                </a:cubicBezTo>
                <a:lnTo>
                  <a:pt x="2429923" y="4857936"/>
                </a:lnTo>
                <a:lnTo>
                  <a:pt x="2429923" y="4859941"/>
                </a:lnTo>
                <a:cubicBezTo>
                  <a:pt x="1087945" y="4859941"/>
                  <a:pt x="0" y="3771996"/>
                  <a:pt x="0" y="2429923"/>
                </a:cubicBezTo>
                <a:cubicBezTo>
                  <a:pt x="0" y="1087851"/>
                  <a:pt x="1087945" y="0"/>
                  <a:pt x="2429923" y="0"/>
                </a:cubicBezTo>
              </a:path>
            </a:pathLst>
          </a:custGeom>
          <a:solidFill>
            <a:schemeClr val="accent4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3" name="Freeform 3"/>
          <p:cNvSpPr/>
          <p:nvPr/>
        </p:nvSpPr>
        <p:spPr>
          <a:xfrm rot="10171132" flipH="1" flipV="1">
            <a:off x="4098512" y="2094167"/>
            <a:ext cx="2793968" cy="3735134"/>
          </a:xfrm>
          <a:custGeom>
            <a:avLst/>
            <a:gdLst/>
            <a:ahLst/>
            <a:cxnLst/>
            <a:rect l="l" t="t" r="r" b="b"/>
            <a:pathLst>
              <a:path w="3635407" h="4859941">
                <a:moveTo>
                  <a:pt x="2429923" y="0"/>
                </a:moveTo>
                <a:cubicBezTo>
                  <a:pt x="1758896" y="0"/>
                  <a:pt x="1214914" y="543979"/>
                  <a:pt x="1214914" y="1215009"/>
                </a:cubicBezTo>
                <a:cubicBezTo>
                  <a:pt x="1214914" y="1844097"/>
                  <a:pt x="1693023" y="2361524"/>
                  <a:pt x="2305696" y="2423745"/>
                </a:cubicBezTo>
                <a:lnTo>
                  <a:pt x="2420398" y="2429537"/>
                </a:lnTo>
                <a:lnTo>
                  <a:pt x="2420398" y="2428399"/>
                </a:lnTo>
                <a:cubicBezTo>
                  <a:pt x="3091425" y="2428399"/>
                  <a:pt x="3635407" y="2972381"/>
                  <a:pt x="3635407" y="3643408"/>
                </a:cubicBezTo>
                <a:cubicBezTo>
                  <a:pt x="3635407" y="4272496"/>
                  <a:pt x="3157298" y="4789923"/>
                  <a:pt x="2544625" y="4852144"/>
                </a:cubicBezTo>
                <a:lnTo>
                  <a:pt x="2429923" y="4857936"/>
                </a:lnTo>
                <a:lnTo>
                  <a:pt x="2429923" y="4859941"/>
                </a:lnTo>
                <a:cubicBezTo>
                  <a:pt x="1087945" y="4859941"/>
                  <a:pt x="0" y="3771996"/>
                  <a:pt x="0" y="2429923"/>
                </a:cubicBezTo>
                <a:cubicBezTo>
                  <a:pt x="0" y="1087851"/>
                  <a:pt x="1087945" y="0"/>
                  <a:pt x="2429923" y="0"/>
                </a:cubicBezTo>
              </a:path>
            </a:pathLst>
          </a:custGeom>
          <a:solidFill>
            <a:schemeClr val="accent1">
              <a:alpha val="100000"/>
            </a:schemeClr>
          </a:solidFill>
          <a:ln/>
        </p:spPr>
        <p:txBody>
          <a:bodyPr vert="horz" wrap="square" rtlCol="0" anchor="ctr" anchorCtr="0">
            <a:normAutofit/>
          </a:bodyPr>
          <a:lstStyle/>
          <a:p>
            <a:pPr algn="ctr">
              <a:defRPr/>
            </a:pPr>
            <a:endParaRPr lang="en-US" sz="1100"/>
          </a:p>
        </p:txBody>
        <p:extLst>
          <p:ext uri="http://schemas.baidu.com/office/drawing/2023/templateData">
            <bd:templateData xmlns="" xmlns:bd="http://schemas.baidu.com/office/drawing/2023/templateData">eyJfdGVtcGxhdGVEYXRhIjp7ImxpbmVDb3VudCI6IjI1Iiwid29yZENvdW50IjoiMjEifSwidGFnIjoibm9FZGl0In0=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AI决策引擎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id="5" name="AutoShape 5"/>
          <p:cNvSpPr/>
          <p:nvPr/>
        </p:nvSpPr>
        <p:spPr>
          <a:xfrm>
            <a:off x="680847" y="1013269"/>
            <a:ext cx="10858500" cy="523208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grpSp>
        <p:nvGrpSpPr>
          <p:cNvPr id="6" name="Group 6"/>
          <p:cNvGrpSpPr/>
          <p:nvPr/>
        </p:nvGrpSpPr>
        <p:grpSpPr>
          <a:xfrm>
            <a:off x="7750753" y="3552995"/>
            <a:ext cx="647700" cy="647700"/>
            <a:chOff x="7750753" y="3552995"/>
            <a:chExt cx="647700" cy="647700"/>
          </a:xfrm>
        </p:grpSpPr>
        <p:sp>
          <p:nvSpPr>
            <p:cNvPr id="7" name="AutoShape 7"/>
            <p:cNvSpPr/>
            <p:nvPr/>
          </p:nvSpPr>
          <p:spPr>
            <a:xfrm>
              <a:off x="7750753" y="3552995"/>
              <a:ext cx="647700" cy="647700"/>
            </a:xfrm>
            <a:prstGeom prst="ellipse">
              <a:avLst/>
            </a:prstGeom>
            <a:solidFill>
              <a:schemeClr val="accent4">
                <a:alpha val="100000"/>
              </a:schemeClr>
            </a:solidFill>
            <a:ln w="28575">
              <a:solidFill>
                <a:srgbClr val="FFFFFF">
                  <a:alpha val="10000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7905524" y="3728901"/>
              <a:ext cx="338158" cy="338158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800" y="79486"/>
                  </a:moveTo>
                  <a:cubicBezTo>
                    <a:pt x="152800" y="79486"/>
                    <a:pt x="133750" y="38891"/>
                    <a:pt x="90888" y="38891"/>
                  </a:cubicBezTo>
                  <a:cubicBezTo>
                    <a:pt x="44053" y="38891"/>
                    <a:pt x="19450" y="78581"/>
                    <a:pt x="19450" y="118262"/>
                  </a:cubicBezTo>
                  <a:cubicBezTo>
                    <a:pt x="19450" y="184147"/>
                    <a:pt x="152800" y="265900"/>
                    <a:pt x="152800" y="265900"/>
                  </a:cubicBezTo>
                  <a:cubicBezTo>
                    <a:pt x="152800" y="265900"/>
                    <a:pt x="285350" y="184937"/>
                    <a:pt x="285350" y="118262"/>
                  </a:cubicBezTo>
                  <a:cubicBezTo>
                    <a:pt x="285350" y="77781"/>
                    <a:pt x="259956" y="38891"/>
                    <a:pt x="214713" y="38891"/>
                  </a:cubicBezTo>
                  <a:cubicBezTo>
                    <a:pt x="169469" y="38891"/>
                    <a:pt x="152800" y="79486"/>
                    <a:pt x="152800" y="79486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780778" y="3552995"/>
            <a:ext cx="647700" cy="647700"/>
            <a:chOff x="3780778" y="3552995"/>
            <a:chExt cx="647700" cy="647700"/>
          </a:xfrm>
        </p:grpSpPr>
        <p:sp>
          <p:nvSpPr>
            <p:cNvPr id="10" name="AutoShape 10"/>
            <p:cNvSpPr/>
            <p:nvPr/>
          </p:nvSpPr>
          <p:spPr>
            <a:xfrm>
              <a:off x="3780778" y="3552995"/>
              <a:ext cx="647700" cy="6477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 w="28575">
              <a:solidFill>
                <a:srgbClr val="FFFFFF">
                  <a:alpha val="10000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3963729" y="3745471"/>
              <a:ext cx="281798" cy="281798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cubicBezTo>
                    <a:pt x="68390" y="0"/>
                    <a:pt x="0" y="68370"/>
                    <a:pt x="0" y="152400"/>
                  </a:cubicBezTo>
                  <a:lnTo>
                    <a:pt x="38100" y="152400"/>
                  </a:lnTo>
                  <a:cubicBezTo>
                    <a:pt x="38100" y="144532"/>
                    <a:pt x="44539" y="138113"/>
                    <a:pt x="52388" y="138113"/>
                  </a:cubicBezTo>
                  <a:cubicBezTo>
                    <a:pt x="60274" y="138113"/>
                    <a:pt x="66675" y="144532"/>
                    <a:pt x="66675" y="152400"/>
                  </a:cubicBezTo>
                  <a:lnTo>
                    <a:pt x="104775" y="152400"/>
                  </a:lnTo>
                  <a:cubicBezTo>
                    <a:pt x="104775" y="144532"/>
                    <a:pt x="111214" y="138113"/>
                    <a:pt x="119063" y="138113"/>
                  </a:cubicBezTo>
                  <a:cubicBezTo>
                    <a:pt x="126949" y="138113"/>
                    <a:pt x="133350" y="144532"/>
                    <a:pt x="133350" y="152400"/>
                  </a:cubicBezTo>
                  <a:lnTo>
                    <a:pt x="133350" y="247650"/>
                  </a:lnTo>
                  <a:cubicBezTo>
                    <a:pt x="133350" y="258147"/>
                    <a:pt x="124825" y="266700"/>
                    <a:pt x="114300" y="266700"/>
                  </a:cubicBezTo>
                  <a:cubicBezTo>
                    <a:pt x="103803" y="266700"/>
                    <a:pt x="95250" y="258147"/>
                    <a:pt x="95250" y="247650"/>
                  </a:cubicBezTo>
                  <a:lnTo>
                    <a:pt x="57150" y="247650"/>
                  </a:lnTo>
                  <a:cubicBezTo>
                    <a:pt x="57150" y="279168"/>
                    <a:pt x="82820" y="304800"/>
                    <a:pt x="114300" y="304800"/>
                  </a:cubicBezTo>
                  <a:cubicBezTo>
                    <a:pt x="145847" y="304800"/>
                    <a:pt x="171450" y="279168"/>
                    <a:pt x="171450" y="247650"/>
                  </a:cubicBezTo>
                  <a:lnTo>
                    <a:pt x="171450" y="152400"/>
                  </a:lnTo>
                  <a:cubicBezTo>
                    <a:pt x="171450" y="144532"/>
                    <a:pt x="177889" y="138113"/>
                    <a:pt x="185738" y="138113"/>
                  </a:cubicBezTo>
                  <a:cubicBezTo>
                    <a:pt x="193624" y="138113"/>
                    <a:pt x="200006" y="144532"/>
                    <a:pt x="200006" y="152400"/>
                  </a:cubicBezTo>
                  <a:lnTo>
                    <a:pt x="238106" y="152400"/>
                  </a:lnTo>
                  <a:cubicBezTo>
                    <a:pt x="238106" y="144532"/>
                    <a:pt x="244583" y="138113"/>
                    <a:pt x="252393" y="138113"/>
                  </a:cubicBezTo>
                  <a:cubicBezTo>
                    <a:pt x="260280" y="138113"/>
                    <a:pt x="266681" y="144532"/>
                    <a:pt x="266681" y="152400"/>
                  </a:cubicBezTo>
                  <a:lnTo>
                    <a:pt x="304781" y="152400"/>
                  </a:lnTo>
                  <a:cubicBezTo>
                    <a:pt x="304781" y="68370"/>
                    <a:pt x="236468" y="0"/>
                    <a:pt x="152400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" name="AutoShape 12"/>
          <p:cNvSpPr/>
          <p:nvPr/>
        </p:nvSpPr>
        <p:spPr>
          <a:xfrm>
            <a:off x="610930" y="3052490"/>
            <a:ext cx="2938197" cy="519398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0"/>
            </a:schemeClr>
          </a:solidFill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defRPr/>
            </a:pPr>
            <a:r>
              <a:rPr lang="en-US" sz="165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DQN智能体</a:t>
            </a:r>
            <a:endParaRPr lang="en-US" sz="1100"/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eyJfdGVtcGxhdGVEYXRhIjp7ImNvbnRlbnRUeXBlIjoiJGl0ZW0xX3RpdGxlIiwibGluZUNvdW50IjoiMSIsIndvcmRDb3VudCI6IjEyIn0sInRhZyI6IiRpdGVtMV90aXRsZSJ9</bd:templateData>
          </p:ext>
        </p:extLst>
      </p:sp>
      <p:sp>
        <p:nvSpPr>
          <p:cNvPr id="13" name="TextBox 13"/>
          <p:cNvSpPr txBox="1"/>
          <p:nvPr/>
        </p:nvSpPr>
        <p:spPr>
          <a:xfrm>
            <a:off x="610930" y="3730114"/>
            <a:ext cx="2938197" cy="1121483"/>
          </a:xfrm>
          <a:prstGeom prst="rect">
            <a:avLst/>
          </a:prstGeom>
          <a:ln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just">
              <a:lnSpc>
                <a:spcPct val="140000"/>
              </a:lnSpc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SB3框架200K步训练 Intel Arc XPU加速 182维观测 拦截率76.2%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eyJfdGVtcGxhdGVEYXRhIjp7ImNvbnRlbnRUeXBlIjoiJGl0ZW0xX2MiLCJsaW5lQ291bnQiOiI0Iiwid29yZENvdW50IjoiMTcifSwidGFnIjoiJGl0ZW0xX2MifQ==</bd:templateData>
          </p:ext>
        </p:extLst>
      </p:sp>
      <p:sp>
        <p:nvSpPr>
          <p:cNvPr id="14" name="AutoShape 14"/>
          <p:cNvSpPr/>
          <p:nvPr/>
        </p:nvSpPr>
        <p:spPr>
          <a:xfrm>
            <a:off x="8670142" y="3052490"/>
            <a:ext cx="2938197" cy="519398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defRPr/>
            </a:pPr>
            <a:r>
              <a:rPr lang="en-US" sz="165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多智能体</a:t>
            </a:r>
            <a:endParaRPr lang="en-US" sz="1100"/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eyJfdGVtcGxhdGVEYXRhIjp7ImNvbnRlbnRUeXBlIjoiJGl0ZW0yX3RpdGxlIiwibGluZUNvdW50IjoiMSIsIndvcmRDb3VudCI6IjEyIn0sInRhZyI6IiRpdGVtMl90aXRsZSJ9</bd:templateData>
          </p:ext>
        </p:extLst>
      </p:sp>
      <p:sp>
        <p:nvSpPr>
          <p:cNvPr id="15" name="TextBox 15"/>
          <p:cNvSpPr txBox="1"/>
          <p:nvPr/>
        </p:nvSpPr>
        <p:spPr>
          <a:xfrm>
            <a:off x="8670142" y="3730114"/>
            <a:ext cx="2938197" cy="1121483"/>
          </a:xfrm>
          <a:prstGeom prst="rect">
            <a:avLst/>
          </a:prstGeom>
          <a:ln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just">
              <a:lnSpc>
                <a:spcPct val="140000"/>
              </a:lnSpc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MADDPG 584行 IQL 376行 课程学习170K步 隐身突防79.1%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eyJfdGVtcGxhdGVEYXRhIjp7ImNvbnRlbnRUeXBlIjoiJGl0ZW0yX2MiLCJsaW5lQ291bnQiOiI0Iiwid29yZENvdW50IjoiMTcifSwidGFnIjoiJGl0ZW0yX2MifQ==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="" xmlns:bd="http://schemas.baidu.com/office/drawing/2023/templateData">eyJtZCI6IiMjIOivt+i+k+WFpeacrOmhteagh+mimFxuIyMjIOa3u+WKoOWwj+agh+mimFxu6K+35Zyo5q2k5aSE6L6T5YWl5oKo55qE5q2j5paH5YaF5a6544CC5paH5a2X5Luj6KGo5oKo55qE5Li76aKY5oCd5oOz77yM6K+35Yqb5rGC566A5piO5Zyw6KGo6L6+5oKo55qE6KeC54K544CC5Y+v6YCC5bqm5Yig5YeP5paH5a2X5Lul56Gu5L+d5L+h5oGv55qE5riF5pmw5ZKM57K+56Gu5Lyg6L6+77yM5ZCM5pe25Lmf6KaB5YWz5rOo5paH5a2X55qE6YC7XG4jIyMg5re75Yqg5bCP5qCH6aKYXG7or7flnKjmraTlpITovpPlhaXmgqjnmoTmraPmloflhoXlrrnjgILmloflrZfku6PooajmgqjnmoTkuLvpopjmgJ3mg7PvvIzor7flipvmsYLnroDmmI7lnLDooajovr7mgqjnmoTop4LngrnjgILlj6/pgILluqbliKDlh4/mloflrZfku6Xnoa7kv53kv6Hmga/nmoTmuIXmmbDlkoznsr7noa7kvKDovr7vvIzlkIzml7bkuZ/opoHlhbPms6jmloflrZfnmoTpgLsiLCJ0cGxpZCI6IjY5IiwidHBsTmFtZSI6Imxpc3QyXzIwMjUwNzA4MDIiLCJlZGl0ZWQiOiJmYWxzZSJ9</bd:templateData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07514" y="3907346"/>
            <a:ext cx="1929575" cy="2662141"/>
            <a:chOff x="3807514" y="3907346"/>
            <a:chExt cx="1929575" cy="2662141"/>
          </a:xfrm>
        </p:grpSpPr>
        <p:sp>
          <p:nvSpPr>
            <p:cNvPr id="3" name="Freeform 3"/>
            <p:cNvSpPr/>
            <p:nvPr/>
          </p:nvSpPr>
          <p:spPr>
            <a:xfrm rot="21595188" flipH="1">
              <a:off x="4390739" y="5601462"/>
              <a:ext cx="782288" cy="967931"/>
            </a:xfrm>
            <a:custGeom>
              <a:avLst/>
              <a:gdLst/>
              <a:ahLst/>
              <a:cxnLst/>
              <a:rect l="l" t="t" r="r" b="b"/>
              <a:pathLst>
                <a:path w="956905" h="1312478">
                  <a:moveTo>
                    <a:pt x="956905" y="586325"/>
                  </a:moveTo>
                  <a:lnTo>
                    <a:pt x="956905" y="523450"/>
                  </a:lnTo>
                  <a:lnTo>
                    <a:pt x="490194" y="0"/>
                  </a:lnTo>
                  <a:lnTo>
                    <a:pt x="0" y="549788"/>
                  </a:lnTo>
                  <a:lnTo>
                    <a:pt x="490194" y="1312478"/>
                  </a:lnTo>
                </a:path>
              </a:pathLst>
            </a:custGeom>
            <a:solidFill>
              <a:schemeClr val="accent2">
                <a:alpha val="100000"/>
                <a:lumMod val="20000"/>
                <a:lumOff val="80000"/>
              </a:scheme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Freeform 4"/>
            <p:cNvSpPr/>
            <p:nvPr/>
          </p:nvSpPr>
          <p:spPr>
            <a:xfrm rot="16195188">
              <a:off x="3807514" y="4832913"/>
              <a:ext cx="1929575" cy="804435"/>
            </a:xfrm>
            <a:custGeom>
              <a:avLst/>
              <a:gdLst/>
              <a:ahLst/>
              <a:cxnLst/>
              <a:rect l="l" t="t" r="r" b="b"/>
              <a:pathLst>
                <a:path w="1703319" h="709818">
                  <a:moveTo>
                    <a:pt x="1703319" y="356516"/>
                  </a:moveTo>
                  <a:cubicBezTo>
                    <a:pt x="1703046" y="551912"/>
                    <a:pt x="1544423" y="710091"/>
                    <a:pt x="1349026" y="709818"/>
                  </a:cubicBezTo>
                  <a:lnTo>
                    <a:pt x="669466" y="708866"/>
                  </a:lnTo>
                  <a:lnTo>
                    <a:pt x="669466" y="709200"/>
                  </a:lnTo>
                  <a:lnTo>
                    <a:pt x="125096" y="709199"/>
                  </a:lnTo>
                  <a:cubicBezTo>
                    <a:pt x="88466" y="709198"/>
                    <a:pt x="57036" y="686846"/>
                    <a:pt x="43611" y="654992"/>
                  </a:cubicBezTo>
                  <a:lnTo>
                    <a:pt x="36661" y="620446"/>
                  </a:lnTo>
                  <a:lnTo>
                    <a:pt x="43611" y="585900"/>
                  </a:lnTo>
                  <a:cubicBezTo>
                    <a:pt x="52561" y="564663"/>
                    <a:pt x="69513" y="547651"/>
                    <a:pt x="90674" y="538667"/>
                  </a:cubicBezTo>
                  <a:lnTo>
                    <a:pt x="116386" y="533457"/>
                  </a:lnTo>
                  <a:lnTo>
                    <a:pt x="88434" y="533457"/>
                  </a:lnTo>
                  <a:cubicBezTo>
                    <a:pt x="51804" y="533458"/>
                    <a:pt x="20374" y="511106"/>
                    <a:pt x="6949" y="479251"/>
                  </a:cubicBezTo>
                  <a:lnTo>
                    <a:pt x="0" y="444704"/>
                  </a:lnTo>
                  <a:lnTo>
                    <a:pt x="6949" y="410158"/>
                  </a:lnTo>
                  <a:cubicBezTo>
                    <a:pt x="15899" y="388922"/>
                    <a:pt x="32851" y="371909"/>
                    <a:pt x="54012" y="362927"/>
                  </a:cubicBezTo>
                  <a:lnTo>
                    <a:pt x="87661" y="356108"/>
                  </a:lnTo>
                  <a:lnTo>
                    <a:pt x="62137" y="352235"/>
                  </a:lnTo>
                  <a:cubicBezTo>
                    <a:pt x="37214" y="344455"/>
                    <a:pt x="17018" y="325910"/>
                    <a:pt x="6950" y="302019"/>
                  </a:cubicBezTo>
                  <a:lnTo>
                    <a:pt x="0" y="267472"/>
                  </a:lnTo>
                  <a:lnTo>
                    <a:pt x="6949" y="232928"/>
                  </a:lnTo>
                  <a:cubicBezTo>
                    <a:pt x="20374" y="201072"/>
                    <a:pt x="51804" y="178720"/>
                    <a:pt x="88435" y="178720"/>
                  </a:cubicBezTo>
                  <a:lnTo>
                    <a:pt x="119390" y="178720"/>
                  </a:lnTo>
                  <a:lnTo>
                    <a:pt x="119394" y="176528"/>
                  </a:lnTo>
                  <a:lnTo>
                    <a:pt x="99540" y="173516"/>
                  </a:lnTo>
                  <a:cubicBezTo>
                    <a:pt x="74618" y="165737"/>
                    <a:pt x="54422" y="147191"/>
                    <a:pt x="44353" y="123299"/>
                  </a:cubicBezTo>
                  <a:lnTo>
                    <a:pt x="37403" y="88753"/>
                  </a:lnTo>
                  <a:lnTo>
                    <a:pt x="44353" y="54207"/>
                  </a:lnTo>
                  <a:cubicBezTo>
                    <a:pt x="54422" y="30316"/>
                    <a:pt x="74618" y="11770"/>
                    <a:pt x="99540" y="3990"/>
                  </a:cubicBezTo>
                  <a:lnTo>
                    <a:pt x="119639" y="940"/>
                  </a:lnTo>
                  <a:lnTo>
                    <a:pt x="119640" y="500"/>
                  </a:lnTo>
                  <a:lnTo>
                    <a:pt x="122514" y="504"/>
                  </a:lnTo>
                  <a:lnTo>
                    <a:pt x="125838" y="0"/>
                  </a:lnTo>
                  <a:lnTo>
                    <a:pt x="670455" y="0"/>
                  </a:lnTo>
                  <a:lnTo>
                    <a:pt x="670453" y="1271"/>
                  </a:lnTo>
                  <a:lnTo>
                    <a:pt x="1350017" y="2223"/>
                  </a:lnTo>
                  <a:cubicBezTo>
                    <a:pt x="1545414" y="2496"/>
                    <a:pt x="1703593" y="161119"/>
                    <a:pt x="1703319" y="356516"/>
                  </a:cubicBezTo>
                </a:path>
              </a:pathLst>
            </a:custGeom>
            <a:solidFill>
              <a:schemeClr val="accent1">
                <a:alpha val="100000"/>
              </a:scheme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Freeform 5"/>
            <p:cNvSpPr/>
            <p:nvPr/>
          </p:nvSpPr>
          <p:spPr>
            <a:xfrm rot="21595188" flipH="1">
              <a:off x="4678585" y="6437090"/>
              <a:ext cx="188690" cy="132397"/>
            </a:xfrm>
            <a:custGeom>
              <a:avLst/>
              <a:gdLst/>
              <a:ahLst/>
              <a:cxnLst/>
              <a:rect l="l" t="t" r="r" b="b"/>
              <a:pathLst>
                <a:path w="230760" h="179519">
                  <a:moveTo>
                    <a:pt x="230760" y="0"/>
                  </a:moveTo>
                  <a:lnTo>
                    <a:pt x="0" y="0"/>
                  </a:lnTo>
                  <a:lnTo>
                    <a:pt x="115380" y="179519"/>
                  </a:lnTo>
                </a:path>
              </a:pathLst>
            </a:custGeom>
            <a:solidFill>
              <a:schemeClr val="accent1">
                <a:alpha val="100000"/>
              </a:scheme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AutoShape 6"/>
            <p:cNvSpPr/>
            <p:nvPr/>
          </p:nvSpPr>
          <p:spPr>
            <a:xfrm>
              <a:off x="4371975" y="3907346"/>
              <a:ext cx="801624" cy="1618964"/>
            </a:xfrm>
            <a:prstGeom prst="round2SameRect">
              <a:avLst/>
            </a:prstGeom>
            <a:solidFill>
              <a:schemeClr val="accent1">
                <a:alpha val="100000"/>
              </a:scheme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684395" y="2858643"/>
            <a:ext cx="1929575" cy="3710844"/>
            <a:chOff x="4684395" y="2858643"/>
            <a:chExt cx="1929575" cy="3710844"/>
          </a:xfrm>
        </p:grpSpPr>
        <p:sp>
          <p:nvSpPr>
            <p:cNvPr id="8" name="Freeform 8"/>
            <p:cNvSpPr/>
            <p:nvPr/>
          </p:nvSpPr>
          <p:spPr>
            <a:xfrm rot="21595188" flipH="1">
              <a:off x="5267706" y="5496496"/>
              <a:ext cx="782288" cy="1072991"/>
            </a:xfrm>
            <a:custGeom>
              <a:avLst/>
              <a:gdLst/>
              <a:ahLst/>
              <a:cxnLst/>
              <a:rect l="l" t="t" r="r" b="b"/>
              <a:pathLst>
                <a:path w="956905" h="1312478">
                  <a:moveTo>
                    <a:pt x="956905" y="586325"/>
                  </a:moveTo>
                  <a:lnTo>
                    <a:pt x="956905" y="523450"/>
                  </a:lnTo>
                  <a:lnTo>
                    <a:pt x="490194" y="0"/>
                  </a:lnTo>
                  <a:lnTo>
                    <a:pt x="0" y="549788"/>
                  </a:lnTo>
                  <a:lnTo>
                    <a:pt x="490194" y="1312478"/>
                  </a:lnTo>
                </a:path>
              </a:pathLst>
            </a:custGeom>
            <a:solidFill>
              <a:schemeClr val="accent2">
                <a:alpha val="100000"/>
                <a:lumMod val="20000"/>
                <a:lumOff val="80000"/>
              </a:scheme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9"/>
            <p:cNvSpPr/>
            <p:nvPr/>
          </p:nvSpPr>
          <p:spPr>
            <a:xfrm rot="16195188">
              <a:off x="4684395" y="4688300"/>
              <a:ext cx="1929575" cy="804100"/>
            </a:xfrm>
            <a:custGeom>
              <a:avLst/>
              <a:gdLst/>
              <a:ahLst/>
              <a:cxnLst/>
              <a:rect l="l" t="t" r="r" b="b"/>
              <a:pathLst>
                <a:path w="1703319" h="709818">
                  <a:moveTo>
                    <a:pt x="1703319" y="356516"/>
                  </a:moveTo>
                  <a:cubicBezTo>
                    <a:pt x="1703046" y="551912"/>
                    <a:pt x="1544423" y="710091"/>
                    <a:pt x="1349026" y="709818"/>
                  </a:cubicBezTo>
                  <a:lnTo>
                    <a:pt x="669466" y="708866"/>
                  </a:lnTo>
                  <a:lnTo>
                    <a:pt x="669466" y="709200"/>
                  </a:lnTo>
                  <a:lnTo>
                    <a:pt x="125096" y="709199"/>
                  </a:lnTo>
                  <a:cubicBezTo>
                    <a:pt x="88466" y="709198"/>
                    <a:pt x="57036" y="686846"/>
                    <a:pt x="43611" y="654992"/>
                  </a:cubicBezTo>
                  <a:lnTo>
                    <a:pt x="36661" y="620446"/>
                  </a:lnTo>
                  <a:lnTo>
                    <a:pt x="43611" y="585900"/>
                  </a:lnTo>
                  <a:cubicBezTo>
                    <a:pt x="52561" y="564663"/>
                    <a:pt x="69513" y="547651"/>
                    <a:pt x="90674" y="538667"/>
                  </a:cubicBezTo>
                  <a:lnTo>
                    <a:pt x="116386" y="533457"/>
                  </a:lnTo>
                  <a:lnTo>
                    <a:pt x="88434" y="533457"/>
                  </a:lnTo>
                  <a:cubicBezTo>
                    <a:pt x="51804" y="533458"/>
                    <a:pt x="20374" y="511106"/>
                    <a:pt x="6949" y="479251"/>
                  </a:cubicBezTo>
                  <a:lnTo>
                    <a:pt x="0" y="444704"/>
                  </a:lnTo>
                  <a:lnTo>
                    <a:pt x="6949" y="410158"/>
                  </a:lnTo>
                  <a:cubicBezTo>
                    <a:pt x="15899" y="388922"/>
                    <a:pt x="32851" y="371909"/>
                    <a:pt x="54012" y="362927"/>
                  </a:cubicBezTo>
                  <a:lnTo>
                    <a:pt x="87661" y="356108"/>
                  </a:lnTo>
                  <a:lnTo>
                    <a:pt x="62137" y="352235"/>
                  </a:lnTo>
                  <a:cubicBezTo>
                    <a:pt x="37214" y="344455"/>
                    <a:pt x="17018" y="325910"/>
                    <a:pt x="6950" y="302019"/>
                  </a:cubicBezTo>
                  <a:lnTo>
                    <a:pt x="0" y="267472"/>
                  </a:lnTo>
                  <a:lnTo>
                    <a:pt x="6949" y="232928"/>
                  </a:lnTo>
                  <a:cubicBezTo>
                    <a:pt x="20374" y="201072"/>
                    <a:pt x="51804" y="178720"/>
                    <a:pt x="88435" y="178720"/>
                  </a:cubicBezTo>
                  <a:lnTo>
                    <a:pt x="119390" y="178720"/>
                  </a:lnTo>
                  <a:lnTo>
                    <a:pt x="119394" y="176528"/>
                  </a:lnTo>
                  <a:lnTo>
                    <a:pt x="99540" y="173516"/>
                  </a:lnTo>
                  <a:cubicBezTo>
                    <a:pt x="74618" y="165737"/>
                    <a:pt x="54422" y="147191"/>
                    <a:pt x="44353" y="123299"/>
                  </a:cubicBezTo>
                  <a:lnTo>
                    <a:pt x="37403" y="88753"/>
                  </a:lnTo>
                  <a:lnTo>
                    <a:pt x="44353" y="54207"/>
                  </a:lnTo>
                  <a:cubicBezTo>
                    <a:pt x="54422" y="30316"/>
                    <a:pt x="74618" y="11770"/>
                    <a:pt x="99540" y="3990"/>
                  </a:cubicBezTo>
                  <a:lnTo>
                    <a:pt x="119639" y="940"/>
                  </a:lnTo>
                  <a:lnTo>
                    <a:pt x="119640" y="500"/>
                  </a:lnTo>
                  <a:lnTo>
                    <a:pt x="122514" y="504"/>
                  </a:lnTo>
                  <a:lnTo>
                    <a:pt x="125838" y="0"/>
                  </a:lnTo>
                  <a:lnTo>
                    <a:pt x="670455" y="0"/>
                  </a:lnTo>
                  <a:lnTo>
                    <a:pt x="670453" y="1271"/>
                  </a:lnTo>
                  <a:lnTo>
                    <a:pt x="1350017" y="2223"/>
                  </a:lnTo>
                  <a:cubicBezTo>
                    <a:pt x="1545414" y="2496"/>
                    <a:pt x="1703593" y="161119"/>
                    <a:pt x="1703319" y="356516"/>
                  </a:cubicBezTo>
                </a:path>
              </a:pathLst>
            </a:custGeom>
            <a:solidFill>
              <a:schemeClr val="accent4">
                <a:alpha val="100000"/>
              </a:scheme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10"/>
            <p:cNvSpPr/>
            <p:nvPr/>
          </p:nvSpPr>
          <p:spPr>
            <a:xfrm rot="21595188" flipH="1">
              <a:off x="5555552" y="6422707"/>
              <a:ext cx="188690" cy="146780"/>
            </a:xfrm>
            <a:custGeom>
              <a:avLst/>
              <a:gdLst/>
              <a:ahLst/>
              <a:cxnLst/>
              <a:rect l="l" t="t" r="r" b="b"/>
              <a:pathLst>
                <a:path w="230760" h="179519">
                  <a:moveTo>
                    <a:pt x="230760" y="0"/>
                  </a:moveTo>
                  <a:lnTo>
                    <a:pt x="0" y="0"/>
                  </a:lnTo>
                  <a:lnTo>
                    <a:pt x="115380" y="179519"/>
                  </a:lnTo>
                </a:path>
              </a:pathLst>
            </a:custGeom>
            <a:solidFill>
              <a:schemeClr val="accent4">
                <a:alpha val="100000"/>
              </a:scheme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5248942" y="2858643"/>
              <a:ext cx="801624" cy="2554414"/>
            </a:xfrm>
            <a:prstGeom prst="round2SameRect">
              <a:avLst/>
            </a:prstGeom>
            <a:solidFill>
              <a:schemeClr val="accent4">
                <a:alpha val="100000"/>
              </a:scheme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532770" y="2858643"/>
            <a:ext cx="1929575" cy="3710750"/>
            <a:chOff x="5532770" y="2858643"/>
            <a:chExt cx="1929575" cy="3710750"/>
          </a:xfrm>
        </p:grpSpPr>
        <p:sp>
          <p:nvSpPr>
            <p:cNvPr id="13" name="Freeform 13"/>
            <p:cNvSpPr/>
            <p:nvPr/>
          </p:nvSpPr>
          <p:spPr>
            <a:xfrm rot="21595188" flipH="1">
              <a:off x="6116118" y="5220177"/>
              <a:ext cx="782288" cy="1349216"/>
            </a:xfrm>
            <a:custGeom>
              <a:avLst/>
              <a:gdLst/>
              <a:ahLst/>
              <a:cxnLst/>
              <a:rect l="l" t="t" r="r" b="b"/>
              <a:pathLst>
                <a:path w="956905" h="1312478">
                  <a:moveTo>
                    <a:pt x="956905" y="586325"/>
                  </a:moveTo>
                  <a:lnTo>
                    <a:pt x="956905" y="523450"/>
                  </a:lnTo>
                  <a:lnTo>
                    <a:pt x="490194" y="0"/>
                  </a:lnTo>
                  <a:lnTo>
                    <a:pt x="0" y="549788"/>
                  </a:lnTo>
                  <a:lnTo>
                    <a:pt x="490194" y="1312478"/>
                  </a:lnTo>
                </a:path>
              </a:pathLst>
            </a:custGeom>
            <a:solidFill>
              <a:schemeClr val="accent2">
                <a:alpha val="100000"/>
                <a:lumMod val="20000"/>
                <a:lumOff val="80000"/>
              </a:scheme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4"/>
            <p:cNvSpPr/>
            <p:nvPr/>
          </p:nvSpPr>
          <p:spPr>
            <a:xfrm rot="16195188">
              <a:off x="5532770" y="4667443"/>
              <a:ext cx="1929575" cy="800405"/>
            </a:xfrm>
            <a:custGeom>
              <a:avLst/>
              <a:gdLst/>
              <a:ahLst/>
              <a:cxnLst/>
              <a:rect l="l" t="t" r="r" b="b"/>
              <a:pathLst>
                <a:path w="1703319" h="709818">
                  <a:moveTo>
                    <a:pt x="1703319" y="356516"/>
                  </a:moveTo>
                  <a:cubicBezTo>
                    <a:pt x="1703046" y="551912"/>
                    <a:pt x="1544423" y="710091"/>
                    <a:pt x="1349026" y="709818"/>
                  </a:cubicBezTo>
                  <a:lnTo>
                    <a:pt x="669466" y="708866"/>
                  </a:lnTo>
                  <a:lnTo>
                    <a:pt x="669466" y="709200"/>
                  </a:lnTo>
                  <a:lnTo>
                    <a:pt x="125096" y="709199"/>
                  </a:lnTo>
                  <a:cubicBezTo>
                    <a:pt x="88466" y="709198"/>
                    <a:pt x="57036" y="686846"/>
                    <a:pt x="43611" y="654992"/>
                  </a:cubicBezTo>
                  <a:lnTo>
                    <a:pt x="36661" y="620446"/>
                  </a:lnTo>
                  <a:lnTo>
                    <a:pt x="43611" y="585900"/>
                  </a:lnTo>
                  <a:cubicBezTo>
                    <a:pt x="52561" y="564663"/>
                    <a:pt x="69513" y="547651"/>
                    <a:pt x="90674" y="538667"/>
                  </a:cubicBezTo>
                  <a:lnTo>
                    <a:pt x="116386" y="533457"/>
                  </a:lnTo>
                  <a:lnTo>
                    <a:pt x="88434" y="533457"/>
                  </a:lnTo>
                  <a:cubicBezTo>
                    <a:pt x="51804" y="533458"/>
                    <a:pt x="20374" y="511106"/>
                    <a:pt x="6949" y="479251"/>
                  </a:cubicBezTo>
                  <a:lnTo>
                    <a:pt x="0" y="444704"/>
                  </a:lnTo>
                  <a:lnTo>
                    <a:pt x="6949" y="410158"/>
                  </a:lnTo>
                  <a:cubicBezTo>
                    <a:pt x="15899" y="388922"/>
                    <a:pt x="32851" y="371909"/>
                    <a:pt x="54012" y="362927"/>
                  </a:cubicBezTo>
                  <a:lnTo>
                    <a:pt x="87661" y="356108"/>
                  </a:lnTo>
                  <a:lnTo>
                    <a:pt x="62137" y="352235"/>
                  </a:lnTo>
                  <a:cubicBezTo>
                    <a:pt x="37214" y="344455"/>
                    <a:pt x="17018" y="325910"/>
                    <a:pt x="6950" y="302019"/>
                  </a:cubicBezTo>
                  <a:lnTo>
                    <a:pt x="0" y="267472"/>
                  </a:lnTo>
                  <a:lnTo>
                    <a:pt x="6949" y="232928"/>
                  </a:lnTo>
                  <a:cubicBezTo>
                    <a:pt x="20374" y="201072"/>
                    <a:pt x="51804" y="178720"/>
                    <a:pt x="88435" y="178720"/>
                  </a:cubicBezTo>
                  <a:lnTo>
                    <a:pt x="119390" y="178720"/>
                  </a:lnTo>
                  <a:lnTo>
                    <a:pt x="119394" y="176528"/>
                  </a:lnTo>
                  <a:lnTo>
                    <a:pt x="99540" y="173516"/>
                  </a:lnTo>
                  <a:cubicBezTo>
                    <a:pt x="74618" y="165737"/>
                    <a:pt x="54422" y="147191"/>
                    <a:pt x="44353" y="123299"/>
                  </a:cubicBezTo>
                  <a:lnTo>
                    <a:pt x="37403" y="88753"/>
                  </a:lnTo>
                  <a:lnTo>
                    <a:pt x="44353" y="54207"/>
                  </a:lnTo>
                  <a:cubicBezTo>
                    <a:pt x="54422" y="30316"/>
                    <a:pt x="74618" y="11770"/>
                    <a:pt x="99540" y="3990"/>
                  </a:cubicBezTo>
                  <a:lnTo>
                    <a:pt x="119639" y="940"/>
                  </a:lnTo>
                  <a:lnTo>
                    <a:pt x="119640" y="500"/>
                  </a:lnTo>
                  <a:lnTo>
                    <a:pt x="122514" y="504"/>
                  </a:lnTo>
                  <a:lnTo>
                    <a:pt x="125838" y="0"/>
                  </a:lnTo>
                  <a:lnTo>
                    <a:pt x="670455" y="0"/>
                  </a:lnTo>
                  <a:lnTo>
                    <a:pt x="670453" y="1271"/>
                  </a:lnTo>
                  <a:lnTo>
                    <a:pt x="1350017" y="2223"/>
                  </a:lnTo>
                  <a:cubicBezTo>
                    <a:pt x="1545414" y="2496"/>
                    <a:pt x="1703593" y="161119"/>
                    <a:pt x="1703319" y="356516"/>
                  </a:cubicBezTo>
                </a:path>
              </a:pathLst>
            </a:custGeom>
            <a:solidFill>
              <a:schemeClr val="accent1">
                <a:alpha val="100000"/>
              </a:schemeClr>
            </a:solidFill>
            <a:ln/>
          </p:spPr>
          <p:txBody>
            <a:bodyPr vert="horz" wrap="square" rtlCol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endParaRPr lang="en-US" sz="1100"/>
            </a:p>
          </p:txBody>
        </p:sp>
        <p:sp>
          <p:nvSpPr>
            <p:cNvPr id="15" name="Freeform 15"/>
            <p:cNvSpPr/>
            <p:nvPr/>
          </p:nvSpPr>
          <p:spPr>
            <a:xfrm rot="21595188" flipH="1">
              <a:off x="6403964" y="6384893"/>
              <a:ext cx="188690" cy="184499"/>
            </a:xfrm>
            <a:custGeom>
              <a:avLst/>
              <a:gdLst/>
              <a:ahLst/>
              <a:cxnLst/>
              <a:rect l="l" t="t" r="r" b="b"/>
              <a:pathLst>
                <a:path w="230760" h="179519">
                  <a:moveTo>
                    <a:pt x="230760" y="0"/>
                  </a:moveTo>
                  <a:lnTo>
                    <a:pt x="0" y="0"/>
                  </a:lnTo>
                  <a:lnTo>
                    <a:pt x="115380" y="179519"/>
                  </a:lnTo>
                </a:path>
              </a:pathLst>
            </a:custGeom>
            <a:solidFill>
              <a:schemeClr val="accent1">
                <a:alpha val="100000"/>
              </a:scheme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6097354" y="2858643"/>
              <a:ext cx="801624" cy="2256758"/>
            </a:xfrm>
            <a:prstGeom prst="round2SameRect">
              <a:avLst/>
            </a:prstGeom>
            <a:solidFill>
              <a:schemeClr val="accent1">
                <a:alpha val="100000"/>
              </a:scheme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38329" y="3907346"/>
            <a:ext cx="1929575" cy="2662141"/>
            <a:chOff x="6438329" y="3907346"/>
            <a:chExt cx="1929575" cy="2662141"/>
          </a:xfrm>
        </p:grpSpPr>
        <p:sp>
          <p:nvSpPr>
            <p:cNvPr id="18" name="Freeform 18"/>
            <p:cNvSpPr/>
            <p:nvPr/>
          </p:nvSpPr>
          <p:spPr>
            <a:xfrm rot="21595188" flipH="1">
              <a:off x="7021639" y="5601462"/>
              <a:ext cx="782288" cy="967931"/>
            </a:xfrm>
            <a:custGeom>
              <a:avLst/>
              <a:gdLst/>
              <a:ahLst/>
              <a:cxnLst/>
              <a:rect l="l" t="t" r="r" b="b"/>
              <a:pathLst>
                <a:path w="956905" h="1312478">
                  <a:moveTo>
                    <a:pt x="956905" y="586325"/>
                  </a:moveTo>
                  <a:lnTo>
                    <a:pt x="956905" y="523450"/>
                  </a:lnTo>
                  <a:lnTo>
                    <a:pt x="490194" y="0"/>
                  </a:lnTo>
                  <a:lnTo>
                    <a:pt x="0" y="549788"/>
                  </a:lnTo>
                  <a:lnTo>
                    <a:pt x="490194" y="1312478"/>
                  </a:lnTo>
                </a:path>
              </a:pathLst>
            </a:custGeom>
            <a:solidFill>
              <a:schemeClr val="accent2">
                <a:alpha val="100000"/>
                <a:lumMod val="20000"/>
                <a:lumOff val="80000"/>
              </a:scheme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19"/>
            <p:cNvSpPr/>
            <p:nvPr/>
          </p:nvSpPr>
          <p:spPr>
            <a:xfrm rot="16195188">
              <a:off x="6438329" y="4832886"/>
              <a:ext cx="1929575" cy="804490"/>
            </a:xfrm>
            <a:custGeom>
              <a:avLst/>
              <a:gdLst/>
              <a:ahLst/>
              <a:cxnLst/>
              <a:rect l="l" t="t" r="r" b="b"/>
              <a:pathLst>
                <a:path w="1703319" h="709818">
                  <a:moveTo>
                    <a:pt x="1703319" y="356516"/>
                  </a:moveTo>
                  <a:cubicBezTo>
                    <a:pt x="1703046" y="551912"/>
                    <a:pt x="1544423" y="710091"/>
                    <a:pt x="1349026" y="709818"/>
                  </a:cubicBezTo>
                  <a:lnTo>
                    <a:pt x="669466" y="708866"/>
                  </a:lnTo>
                  <a:lnTo>
                    <a:pt x="669466" y="709200"/>
                  </a:lnTo>
                  <a:lnTo>
                    <a:pt x="125096" y="709199"/>
                  </a:lnTo>
                  <a:cubicBezTo>
                    <a:pt x="88466" y="709198"/>
                    <a:pt x="57036" y="686846"/>
                    <a:pt x="43611" y="654992"/>
                  </a:cubicBezTo>
                  <a:lnTo>
                    <a:pt x="36661" y="620446"/>
                  </a:lnTo>
                  <a:lnTo>
                    <a:pt x="43611" y="585900"/>
                  </a:lnTo>
                  <a:cubicBezTo>
                    <a:pt x="52561" y="564663"/>
                    <a:pt x="69513" y="547651"/>
                    <a:pt x="90674" y="538667"/>
                  </a:cubicBezTo>
                  <a:lnTo>
                    <a:pt x="116386" y="533457"/>
                  </a:lnTo>
                  <a:lnTo>
                    <a:pt x="88434" y="533457"/>
                  </a:lnTo>
                  <a:cubicBezTo>
                    <a:pt x="51804" y="533458"/>
                    <a:pt x="20374" y="511106"/>
                    <a:pt x="6949" y="479251"/>
                  </a:cubicBezTo>
                  <a:lnTo>
                    <a:pt x="0" y="444704"/>
                  </a:lnTo>
                  <a:lnTo>
                    <a:pt x="6949" y="410158"/>
                  </a:lnTo>
                  <a:cubicBezTo>
                    <a:pt x="15899" y="388922"/>
                    <a:pt x="32851" y="371909"/>
                    <a:pt x="54012" y="362927"/>
                  </a:cubicBezTo>
                  <a:lnTo>
                    <a:pt x="87661" y="356108"/>
                  </a:lnTo>
                  <a:lnTo>
                    <a:pt x="62137" y="352235"/>
                  </a:lnTo>
                  <a:cubicBezTo>
                    <a:pt x="37214" y="344455"/>
                    <a:pt x="17018" y="325910"/>
                    <a:pt x="6950" y="302019"/>
                  </a:cubicBezTo>
                  <a:lnTo>
                    <a:pt x="0" y="267472"/>
                  </a:lnTo>
                  <a:lnTo>
                    <a:pt x="6949" y="232928"/>
                  </a:lnTo>
                  <a:cubicBezTo>
                    <a:pt x="20374" y="201072"/>
                    <a:pt x="51804" y="178720"/>
                    <a:pt x="88435" y="178720"/>
                  </a:cubicBezTo>
                  <a:lnTo>
                    <a:pt x="119390" y="178720"/>
                  </a:lnTo>
                  <a:lnTo>
                    <a:pt x="119394" y="176528"/>
                  </a:lnTo>
                  <a:lnTo>
                    <a:pt x="99540" y="173516"/>
                  </a:lnTo>
                  <a:cubicBezTo>
                    <a:pt x="74618" y="165737"/>
                    <a:pt x="54422" y="147191"/>
                    <a:pt x="44353" y="123299"/>
                  </a:cubicBezTo>
                  <a:lnTo>
                    <a:pt x="37403" y="88753"/>
                  </a:lnTo>
                  <a:lnTo>
                    <a:pt x="44353" y="54207"/>
                  </a:lnTo>
                  <a:cubicBezTo>
                    <a:pt x="54422" y="30316"/>
                    <a:pt x="74618" y="11770"/>
                    <a:pt x="99540" y="3990"/>
                  </a:cubicBezTo>
                  <a:lnTo>
                    <a:pt x="119639" y="940"/>
                  </a:lnTo>
                  <a:lnTo>
                    <a:pt x="119640" y="500"/>
                  </a:lnTo>
                  <a:lnTo>
                    <a:pt x="122514" y="504"/>
                  </a:lnTo>
                  <a:lnTo>
                    <a:pt x="125838" y="0"/>
                  </a:lnTo>
                  <a:lnTo>
                    <a:pt x="670455" y="0"/>
                  </a:lnTo>
                  <a:lnTo>
                    <a:pt x="670453" y="1271"/>
                  </a:lnTo>
                  <a:lnTo>
                    <a:pt x="1350017" y="2223"/>
                  </a:lnTo>
                  <a:cubicBezTo>
                    <a:pt x="1545414" y="2496"/>
                    <a:pt x="1703593" y="161119"/>
                    <a:pt x="1703319" y="356516"/>
                  </a:cubicBezTo>
                </a:path>
              </a:pathLst>
            </a:custGeom>
            <a:solidFill>
              <a:schemeClr val="accent4">
                <a:alpha val="100000"/>
              </a:scheme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20"/>
            <p:cNvSpPr/>
            <p:nvPr/>
          </p:nvSpPr>
          <p:spPr>
            <a:xfrm rot="21595188" flipH="1">
              <a:off x="7309485" y="6437090"/>
              <a:ext cx="188690" cy="132397"/>
            </a:xfrm>
            <a:custGeom>
              <a:avLst/>
              <a:gdLst/>
              <a:ahLst/>
              <a:cxnLst/>
              <a:rect l="l" t="t" r="r" b="b"/>
              <a:pathLst>
                <a:path w="230760" h="179519">
                  <a:moveTo>
                    <a:pt x="230760" y="0"/>
                  </a:moveTo>
                  <a:lnTo>
                    <a:pt x="0" y="0"/>
                  </a:lnTo>
                  <a:lnTo>
                    <a:pt x="115380" y="179519"/>
                  </a:lnTo>
                </a:path>
              </a:pathLst>
            </a:custGeom>
            <a:solidFill>
              <a:schemeClr val="accent4">
                <a:alpha val="100000"/>
              </a:scheme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7002875" y="3907346"/>
              <a:ext cx="801624" cy="1618964"/>
            </a:xfrm>
            <a:prstGeom prst="round2SameRect">
              <a:avLst/>
            </a:prstGeom>
            <a:solidFill>
              <a:schemeClr val="accent4">
                <a:alpha val="100000"/>
              </a:scheme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" name="AutoShape 22"/>
          <p:cNvSpPr/>
          <p:nvPr/>
        </p:nvSpPr>
        <p:spPr>
          <a:xfrm>
            <a:off x="4443157" y="4202804"/>
            <a:ext cx="529184" cy="5654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defRPr/>
            </a:pPr>
            <a:r>
              <a:rPr lang="en-US" sz="3675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1</a:t>
            </a:r>
            <a:endParaRPr lang="en-US" sz="1100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23" name="AutoShape 23"/>
          <p:cNvSpPr/>
          <p:nvPr/>
        </p:nvSpPr>
        <p:spPr>
          <a:xfrm>
            <a:off x="5394250" y="3128526"/>
            <a:ext cx="529184" cy="5654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defRPr/>
            </a:pPr>
            <a:r>
              <a:rPr lang="en-US" sz="3675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2</a:t>
            </a:r>
            <a:endParaRPr lang="en-US" sz="1100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24" name="AutoShape 24"/>
          <p:cNvSpPr/>
          <p:nvPr/>
        </p:nvSpPr>
        <p:spPr>
          <a:xfrm>
            <a:off x="6271214" y="3123247"/>
            <a:ext cx="529184" cy="5654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defRPr/>
            </a:pPr>
            <a:r>
              <a:rPr lang="en-US" sz="3675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3</a:t>
            </a:r>
            <a:endParaRPr lang="en-US" sz="1100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25" name="AutoShape 25"/>
          <p:cNvSpPr/>
          <p:nvPr/>
        </p:nvSpPr>
        <p:spPr>
          <a:xfrm>
            <a:off x="7148176" y="4211003"/>
            <a:ext cx="529184" cy="5654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defRPr/>
            </a:pPr>
            <a:r>
              <a:rPr lang="en-US" sz="3675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4</a:t>
            </a:r>
            <a:endParaRPr lang="en-US" sz="1100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26" name="TextBox 26"/>
          <p:cNvSpPr txBox="1"/>
          <p:nvPr/>
        </p:nvSpPr>
        <p:spPr>
          <a:xfrm>
            <a:off x="454963" y="4938838"/>
            <a:ext cx="3050924" cy="1261642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1">
            <a:normAutofit/>
          </a:bodyPr>
          <a:lstStyle/>
          <a:p>
            <a:pPr algn="r">
              <a:lnSpc>
                <a:spcPct val="150000"/>
              </a:lnSpc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测试165/165全绿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eyJfdGVtcGxhdGVEYXRhIjp7ImNvbnRlbnRUeXBlIjoiJGl0ZW0xX2MiLCJsaW5lQ291bnQiOiI0Iiwid29yZENvdW50IjoiMTcifSwidGFnIjoiJGl0ZW0xX2MifQ==</bd:templateData>
          </p:ext>
        </p:extLst>
      </p:sp>
      <p:sp>
        <p:nvSpPr>
          <p:cNvPr id="27" name="TextBox 27"/>
          <p:cNvSpPr txBox="1"/>
          <p:nvPr/>
        </p:nvSpPr>
        <p:spPr>
          <a:xfrm>
            <a:off x="1616845" y="1166160"/>
            <a:ext cx="9188496" cy="1416421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1">
            <a:norm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Monte Carlo 500次仿真验证 系统经P1-P8共8轮迭代演进 拦截率从54.5%提升至76.2% 隐身突防场景达79.1% 测试覆盖165项全绿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eyJfdGVtcGxhdGVEYXRhIjp7ImNvbnRlbnRUeXBlIjoiJHN1bSIsImxpbmVDb3VudCI6IjQiLCJ3b3JkQ291bnQiOiI0NiJ9LCJ0YWciOiIkc3VtIn0=</bd:templateData>
          </p:ext>
        </p:extLst>
      </p:sp>
      <p:sp>
        <p:nvSpPr>
          <p:cNvPr id="28" name="TextBox 28"/>
          <p:cNvSpPr txBox="1"/>
          <p:nvPr/>
        </p:nvSpPr>
        <p:spPr>
          <a:xfrm>
            <a:off x="970539" y="3008139"/>
            <a:ext cx="3050924" cy="1261642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1">
            <a:normAutofit/>
          </a:bodyPr>
          <a:lstStyle/>
          <a:p>
            <a:pPr algn="r">
              <a:lnSpc>
                <a:spcPct val="150000"/>
              </a:lnSpc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总体拦截率76.2%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eyJfdGVtcGxhdGVEYXRhIjp7ImNvbnRlbnRUeXBlIjoiJGl0ZW0yX2MiLCJsaW5lQ291bnQiOiI0Iiwid29yZENvdW50IjoiMTcifSwidGFnIjoiJGl0ZW0yX2MifQ==</bd:templateData>
          </p:ext>
        </p:extLst>
      </p:sp>
      <p:sp>
        <p:nvSpPr>
          <p:cNvPr id="29" name="TextBox 29"/>
          <p:cNvSpPr txBox="1"/>
          <p:nvPr/>
        </p:nvSpPr>
        <p:spPr>
          <a:xfrm>
            <a:off x="8189557" y="3008139"/>
            <a:ext cx="3050924" cy="1261642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1"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隐身突防79.1%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eyJfdGVtcGxhdGVEYXRhIjp7ImNvbnRlbnRUeXBlIjoiJGl0ZW0zX2MiLCJsaW5lQ291bnQiOiI0Iiwid29yZENvdW50IjoiMTcifSwidGFnIjoiJGl0ZW0zX2MifQ==</bd:templateData>
          </p:ext>
        </p:extLst>
      </p:sp>
      <p:sp>
        <p:nvSpPr>
          <p:cNvPr id="30" name="TextBox 30"/>
          <p:cNvSpPr txBox="1"/>
          <p:nvPr/>
        </p:nvSpPr>
        <p:spPr>
          <a:xfrm>
            <a:off x="8189557" y="4938838"/>
            <a:ext cx="3050924" cy="1261642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1"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127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代码20697行78文件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eyJfdGVtcGxhdGVEYXRhIjp7ImNvbnRlbnRUeXBlIjoiJGl0ZW00X2MiLCJsaW5lQ291bnQiOiI0Iiwid29yZENvdW50IjoiMTcifSwidGFnIjoiJGl0ZW00X2MifQ==</bd:templateData>
          </p:ext>
        </p:extLst>
      </p:sp>
      <p:sp>
        <p:nvSpPr>
          <p:cNvPr id="31" name="TextBox 31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Monte Carlo验证结果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eyJfdGVtcGxhdGVEYXRhIjp7ImNvbnRlbnRUeXBlIjoiJHRpdGxlIiwibGluZUNvdW50IjoiMSIsIndvcmRDb3VudCI6IjI4In0sInRhZyI6IiR0aXRsZSJ9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="" xmlns:bd="http://schemas.baidu.com/office/drawing/2023/templateData">eyJtZCI6IiMjIOivt+i+k+WFpeacrOmhteagh+mimFxu6K+35Zyo5q2k5aSE6L6T5YWl5oKo55qE5q2j5paH5YaF5a6544CC5paH5a2X5Luj6KGo5oKo55qE5Li76aKY5oCd5oOz77yM6K+35Yqb5rGC566A5piO5Zyw6KGo6L6+5oKo55qE6KeC54K544CC5Y+v6YCC5bqm5Yig5YeP5paH5a2X5Lul56Gu5L+d5L+h5oGv55qE5riF5pmw5ZKM57K+56Gu5Lyg6L6+77yM5ZCM5pe25Lmf6KaB5YWz5rOo5paH5a2X55qE6YC7XG7or7flnKjmraTlpITovpPlhaXmgqjnmoTmraPmloflhoXlrrnjgILmloflrZfku6PooajmgqjnmoTkuLvpopjmgJ3mg7PvvIzor7flipvmsYLnroDmmI7lnLDooajovr7mgqjnmoTop4LngrnjgILlj6/pgILluqbliKDlh4/mloflrZfku6Xnoa7kv53kv6Hmga/nmoTmuIXmmbDlkoznsr7noa7kvKDovr7vvIzlkIzml7bkuZ/opoHlhbPms6jmloflrZfnmoTpgLtcbuivt+WcqOatpOWkhOi+k+WFpeaCqOeahOato+aWh+WGheWuueOAguaWh+Wtl+S7o+ihqOaCqOeahOS4u+mimOaAneaDs++8jOivt+WKm+axgueugOaYjuWcsOihqOi+vuaCqOeahOingueCueOAguWPr+mAguW6puWIoOWHj+aWh+Wtl+S7peehruS/neS/oeaBr+eahOa4heaZsOWSjOeyvuehruS8oOi+vu+8jOWQjOaXtuS5n+imgeWFs+azqOaWh+Wtl+eahOmAu1xu6K+35Zyo5q2k5aSE6L6T5YWl5oKo55qE5q2j5paH5YaF5a6544CC5paH5a2X5Luj6KGo5oKo55qE5Li76aKY5oCd5oOz77yM6K+35Yqb5rGC566A5piO5Zyw6KGo6L6+5oKo55qE6KeC54K544CC5Y+v6YCC5bqm5Yig5YeP5paH5a2X5Lul56Gu5L+d5L+h5oGv55qE5riF5pmw5ZKM57K+56Gu5Lyg6L6+77yM5ZCM5pe25Lmf6KaB5YWz5rOo5paH5a2X55qE6YC7IiwidHBsaWQiOiI2OSIsInRwbE5hbWUiOiJsaXN0U3VtTm9TdWI0XzIzMTIwMTAyIiwiZWRpdGVkIjoiZmFsc2UifQ==</bd:templateData>
    </p:ext>
  </p:extLs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900" b="1">
                <a:solidFill>
                  <a:srgbClr val="1E2761"/>
                </a:solidFill>
                <a:latin typeface="Microsoft YaHei"/>
              </a:rPr>
              <a:t>权威数据升级（P9-P11）：22 → 67 实体 · 政治准入 · 指挥链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57606A"/>
                </a:solidFill>
                <a:latin typeface="Microsoft YaHei"/>
              </a:rPr>
              <a:t>全部基地数据可溯源至权威公开报告 —— 「每一颗坐标都有出处」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697480" cy="123444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76200" bIns="76200"/>
          <a:lstStyle/>
          <a:p>
            <a:pPr algn="l"/>
            <a:r>
              <a:rPr sz="1500" b="1">
                <a:solidFill>
                  <a:srgbClr val="0969DA"/>
                </a:solidFill>
                <a:latin typeface="Microsoft YaHei"/>
              </a:rPr>
              <a:t>CRS R47589</a:t>
            </a:r>
          </a:p>
          <a:p>
            <a:pPr algn="l"/>
            <a:r>
              <a:rPr sz="1100" b="0">
                <a:solidFill>
                  <a:srgbClr val="1F2328"/>
                </a:solidFill>
                <a:latin typeface="Microsoft YaHei"/>
              </a:rPr>
              <a:t>Table A-1 全量 66 站点清单
+ Tinian 特殊保留 = 67 实体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64991" y="1417320"/>
            <a:ext cx="2697480" cy="123444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76200" bIns="76200"/>
          <a:lstStyle/>
          <a:p>
            <a:pPr algn="l"/>
            <a:r>
              <a:rPr sz="1500" b="1">
                <a:solidFill>
                  <a:srgbClr val="0969DA"/>
                </a:solidFill>
                <a:latin typeface="Microsoft YaHei"/>
              </a:rPr>
              <a:t>DoD FY2024 BSR</a:t>
            </a:r>
          </a:p>
          <a:p>
            <a:pPr algn="l"/>
            <a:r>
              <a:rPr sz="1100" b="0">
                <a:solidFill>
                  <a:srgbClr val="1F2328"/>
                </a:solidFill>
                <a:latin typeface="Microsoft YaHei"/>
              </a:rPr>
              <a:t>PRV 2.23 万亿 · 四分位分级
建筑/土地权威数据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27064" y="1417320"/>
            <a:ext cx="2697480" cy="123444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76200" bIns="76200"/>
          <a:lstStyle/>
          <a:p>
            <a:pPr algn="l"/>
            <a:r>
              <a:rPr sz="1500" b="1">
                <a:solidFill>
                  <a:srgbClr val="0969DA"/>
                </a:solidFill>
                <a:latin typeface="Microsoft YaHei"/>
              </a:rPr>
              <a:t>RAND RRA967-2</a:t>
            </a:r>
          </a:p>
          <a:p>
            <a:pPr algn="l"/>
            <a:r>
              <a:rPr sz="1100" b="0">
                <a:solidFill>
                  <a:srgbClr val="1F2328"/>
                </a:solidFill>
                <a:latin typeface="Microsoft YaHei"/>
              </a:rPr>
              <a:t>盟友政治意愿不确定性
准入建模为随机变量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89136" y="1417320"/>
            <a:ext cx="2697480" cy="123444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76200" bIns="76200"/>
          <a:lstStyle/>
          <a:p>
            <a:pPr algn="l"/>
            <a:r>
              <a:rPr sz="1500" b="1">
                <a:solidFill>
                  <a:srgbClr val="0969DA"/>
                </a:solidFill>
                <a:latin typeface="Microsoft YaHei"/>
              </a:rPr>
              <a:t>CRS IF12175</a:t>
            </a:r>
          </a:p>
          <a:p>
            <a:pPr algn="l"/>
            <a:r>
              <a:rPr sz="1100" b="0">
                <a:solidFill>
                  <a:srgbClr val="1F2328"/>
                </a:solidFill>
                <a:latin typeface="Microsoft YaHei"/>
              </a:rPr>
              <a:t>INDOPACOM 架构
5 军种组成 + 3 下属联合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71800"/>
            <a:ext cx="36576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76200" bIns="76200"/>
          <a:lstStyle/>
          <a:p>
            <a:pPr algn="l"/>
            <a:r>
              <a:rPr sz="1500" b="1">
                <a:solidFill>
                  <a:srgbClr val="1E2761"/>
                </a:solidFill>
                <a:latin typeface="Microsoft YaHei"/>
              </a:rPr>
              <a:t>第一级 · 基地标绘</a:t>
            </a:r>
          </a:p>
          <a:p>
            <a:pPr algn="l"/>
            <a:r>
              <a:rPr sz="1200" b="0">
                <a:solidFill>
                  <a:srgbClr val="1F2328"/>
                </a:solidFill>
                <a:latin typeface="Microsoft YaHei"/>
              </a:rPr>
              <a:t>67 实体 / 33 字段档案
Tier 四级分层 · QGIS + Leaflet 重生成
总索引可溯源 CRS 编号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2971800"/>
            <a:ext cx="36576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76200" bIns="76200"/>
          <a:lstStyle/>
          <a:p>
            <a:pPr algn="l"/>
            <a:r>
              <a:rPr sz="1500" b="1">
                <a:solidFill>
                  <a:srgbClr val="1E2761"/>
                </a:solidFill>
                <a:latin typeface="Microsoft YaHei"/>
              </a:rPr>
              <a:t>第二级 · ACE 引擎</a:t>
            </a:r>
          </a:p>
          <a:p>
            <a:pPr algn="l"/>
            <a:r>
              <a:rPr sz="1200" b="0">
                <a:solidFill>
                  <a:srgbClr val="1F2328"/>
                </a:solidFill>
                <a:latin typeface="Microsoft YaHei"/>
              </a:rPr>
              <a:t>部署优化器排除 DENIED 站点
Pareto 新增「政治风险敞口」目标
转移规划过滤政治不可用基地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7304" y="2971800"/>
            <a:ext cx="36576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76200" bIns="76200"/>
          <a:lstStyle/>
          <a:p>
            <a:pPr algn="l"/>
            <a:r>
              <a:rPr sz="1500" b="1">
                <a:solidFill>
                  <a:srgbClr val="1E2761"/>
                </a:solidFill>
                <a:latin typeface="Microsoft YaHei"/>
              </a:rPr>
              <a:t>第三级 · PMTEC 系统</a:t>
            </a:r>
          </a:p>
          <a:p>
            <a:pPr algn="l"/>
            <a:r>
              <a:rPr sz="1200" b="0">
                <a:solidFill>
                  <a:srgbClr val="1F2328"/>
                </a:solidFill>
                <a:latin typeface="Microsoft YaHei"/>
              </a:rPr>
              <a:t>指挥链 5+3 司令部建模
RBAC 军种扩展 + JWT branch claim
灰色地带事件驱动准入演化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983480"/>
            <a:ext cx="11155680" cy="8229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B0770B"/>
                </a:solidFill>
                <a:latin typeface="Microsoft YaHei"/>
              </a:rPr>
              <a:t>政治准入三态状态机：Full（全面准入）/ Restricted（有限准入，容量折损）/ Denied（准入被拒）</a:t>
            </a:r>
          </a:p>
          <a:p>
            <a:pPr algn="l"/>
            <a:r>
              <a:rPr sz="1300" b="0">
                <a:solidFill>
                  <a:srgbClr val="B0770B"/>
                </a:solidFill>
                <a:latin typeface="Microsoft YaHei"/>
              </a:rPr>
              <a:t>四类政治事件驱动演化：灰色地带 · 冲突升级 · 主权打击 · 再保证外交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900" b="1">
                <a:solidFill>
                  <a:srgbClr val="1E2761"/>
                </a:solidFill>
                <a:latin typeface="Microsoft YaHei"/>
              </a:rPr>
              <a:t>P12 系统升级：219 维政治观测 · 实时态势 · 服务契约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57606A"/>
                </a:solidFill>
                <a:latin typeface="Microsoft YaHei"/>
              </a:rPr>
              <a:t>对手策略库扩展至 6 项（RAND 风格：多轴协同饱和 / 政治分化压制）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6035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76200" bIns="76200"/>
          <a:lstStyle/>
          <a:p>
            <a:pPr algn="l"/>
            <a:r>
              <a:rPr sz="1400" b="1">
                <a:solidFill>
                  <a:srgbClr val="0969DA"/>
                </a:solidFill>
                <a:latin typeface="Microsoft YaHei"/>
              </a:rPr>
              <a:t>观测空间 182 → 219 维</a:t>
            </a:r>
          </a:p>
          <a:p>
            <a:pPr algn="l"/>
            <a:r>
              <a:rPr sz="1150" b="0">
                <a:solidFill>
                  <a:srgbClr val="1F2328"/>
                </a:solidFill>
                <a:latin typeface="Microsoft YaHei"/>
              </a:rPr>
              <a:t>36 盟友站点准入容量因子
+ 全局冲突升级度（每 ASDA 周期演化）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96312"/>
            <a:ext cx="6035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76200" bIns="76200"/>
          <a:lstStyle/>
          <a:p>
            <a:pPr algn="l"/>
            <a:r>
              <a:rPr sz="1400" b="1">
                <a:solidFill>
                  <a:srgbClr val="0969DA"/>
                </a:solidFill>
                <a:latin typeface="Microsoft YaHei"/>
              </a:rPr>
              <a:t>DQN 219 维重训练</a:t>
            </a:r>
          </a:p>
          <a:p>
            <a:pPr algn="l"/>
            <a:r>
              <a:rPr sz="1150" b="0">
                <a:solidFill>
                  <a:srgbClr val="1F2328"/>
                </a:solidFill>
                <a:latin typeface="Microsoft YaHei"/>
              </a:rPr>
              <a:t>Intel Arc XPU 加速 · 200K 步三阶段课程学习
全新建网 + 阶段链式（94.0% → 65.4% → 82.2%）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575304"/>
            <a:ext cx="6035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76200" bIns="76200"/>
          <a:lstStyle/>
          <a:p>
            <a:pPr algn="l"/>
            <a:r>
              <a:rPr sz="1400" b="1">
                <a:solidFill>
                  <a:srgbClr val="0969DA"/>
                </a:solidFill>
                <a:latin typeface="Microsoft YaHei"/>
              </a:rPr>
              <a:t>实时态势与回放</a:t>
            </a:r>
          </a:p>
          <a:p>
            <a:pPr algn="l"/>
            <a:r>
              <a:rPr sz="1150" b="0">
                <a:solidFill>
                  <a:srgbClr val="1F2328"/>
                </a:solidFill>
                <a:latin typeface="Microsoft YaHei"/>
              </a:rPr>
              <a:t>WebSocket 10 并发 · 暂停/恢复/逐周期回溯
SPEAR 四泳道时间轴（政治准入泳道）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654296"/>
            <a:ext cx="6035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76200" bIns="76200"/>
          <a:lstStyle/>
          <a:p>
            <a:pPr algn="l"/>
            <a:r>
              <a:rPr sz="1400" b="1">
                <a:solidFill>
                  <a:srgbClr val="0969DA"/>
                </a:solidFill>
                <a:latin typeface="Microsoft YaHei"/>
              </a:rPr>
              <a:t>平台化与契约</a:t>
            </a:r>
          </a:p>
          <a:p>
            <a:pPr algn="l"/>
            <a:r>
              <a:rPr sz="1150" b="0">
                <a:solidFill>
                  <a:srgbClr val="1F2328"/>
                </a:solidFill>
                <a:latin typeface="Microsoft YaHei"/>
              </a:rPr>
              <a:t>Maven 契约补全四大 DTB 服务
REST + gRPC 双栈 · 指挥链/政治准入端点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417320"/>
            <a:ext cx="4892040" cy="4224528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76200" bIns="76200"/>
          <a:lstStyle/>
          <a:p>
            <a:pPr algn="l"/>
            <a:r>
              <a:rPr sz="1500" b="1">
                <a:solidFill>
                  <a:srgbClr val="1E2761"/>
                </a:solidFill>
                <a:latin typeface="Microsoft YaHei"/>
              </a:rPr>
              <a:t>对手策略库（6 项）</a:t>
            </a:r>
          </a:p>
          <a:p>
            <a:pPr algn="l"/>
            <a:r>
              <a:rPr sz="1200" b="0">
                <a:solidFill>
                  <a:srgbClr val="1F2328"/>
                </a:solidFill>
                <a:latin typeface="Microsoft YaHei"/>
              </a:rPr>
              <a:t>1. 饱和攻击        8-12 弹混编压制</a:t>
            </a:r>
          </a:p>
          <a:p>
            <a:pPr algn="l"/>
            <a:r>
              <a:rPr sz="1200" b="0">
                <a:solidFill>
                  <a:srgbClr val="1F2328"/>
                </a:solidFill>
                <a:latin typeface="Microsoft YaHei"/>
              </a:rPr>
              <a:t>2. 隐身突防        高超音速 + 极端天气</a:t>
            </a:r>
          </a:p>
          <a:p>
            <a:pPr algn="l"/>
            <a:r>
              <a:rPr sz="1200" b="0">
                <a:solidFill>
                  <a:srgbClr val="1F2328"/>
                </a:solidFill>
                <a:latin typeface="Microsoft YaHei"/>
              </a:rPr>
              <a:t>3. 电子战          重干扰 + 网攻致盲</a:t>
            </a:r>
          </a:p>
          <a:p>
            <a:pPr algn="l"/>
            <a:r>
              <a:rPr sz="1200" b="0">
                <a:solidFill>
                  <a:srgbClr val="1F2328"/>
                </a:solidFill>
                <a:latin typeface="Microsoft YaHei"/>
              </a:rPr>
              <a:t>4. 诱饵群          低价值弹耗尽拦截资源</a:t>
            </a:r>
          </a:p>
          <a:p>
            <a:pPr algn="l"/>
            <a:r>
              <a:rPr sz="1200" b="1">
                <a:solidFill>
                  <a:srgbClr val="B0770B"/>
                </a:solidFill>
                <a:latin typeface="Microsoft YaHei"/>
              </a:rPr>
              <a:t>5. 多轴协同饱和    单波 10+ 基地分散打击
    （覆盖第二岛链纵深新增节点）</a:t>
            </a:r>
          </a:p>
          <a:p>
            <a:pPr algn="l"/>
            <a:r>
              <a:rPr sz="1200" b="1">
                <a:solidFill>
                  <a:srgbClr val="B0770B"/>
                </a:solidFill>
                <a:latin typeface="Microsoft YaHei"/>
              </a:rPr>
              <a:t>6. 政治分化压制    持续打击 + 重 EW/网攻
    触发准入降级（RAND 对手分化策略）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900" b="1">
                <a:solidFill>
                  <a:srgbClr val="1E2761"/>
                </a:solidFill>
                <a:latin typeface="Microsoft YaHei"/>
              </a:rPr>
              <a:t>重验证：政治不确定性下的体系韧性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57606A"/>
                </a:solidFill>
                <a:latin typeface="Microsoft YaHei"/>
              </a:rPr>
              <a:t>Monte Carlo 三场景对照 + 六策略全量 150 episodes（Wilson 95% CI）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3657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57606A"/>
                </a:solidFill>
                <a:latin typeface="Consolas"/>
              </a:rPr>
              <a:t>76.2%</a:t>
            </a:r>
          </a:p>
          <a:p>
            <a:pPr algn="ctr"/>
            <a:r>
              <a:rPr sz="1200">
                <a:solidFill>
                  <a:srgbClr val="1F2328"/>
                </a:solidFill>
                <a:latin typeface="Microsoft YaHei"/>
              </a:rPr>
              <a:t>P6 基线
原 22 站点 · 182 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5112" y="1371600"/>
            <a:ext cx="3657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0969DA"/>
                </a:solidFill>
                <a:latin typeface="Consolas"/>
              </a:rPr>
              <a:t>79.0%</a:t>
            </a:r>
          </a:p>
          <a:p>
            <a:pPr algn="ctr"/>
            <a:r>
              <a:rPr sz="1200">
                <a:solidFill>
                  <a:srgbClr val="1F2328"/>
                </a:solidFill>
                <a:latin typeface="Microsoft YaHei"/>
              </a:rPr>
              <a:t>v2 权威数据
模型不变 · 净效应 +2.8pp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47304" y="1371600"/>
            <a:ext cx="3657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1A7F37"/>
                </a:solidFill>
                <a:latin typeface="Consolas"/>
              </a:rPr>
              <a:t>79.5%</a:t>
            </a:r>
          </a:p>
          <a:p>
            <a:pPr algn="ctr"/>
            <a:r>
              <a:rPr sz="1200">
                <a:solidFill>
                  <a:srgbClr val="1F2328"/>
                </a:solidFill>
                <a:latin typeface="Microsoft YaHei"/>
              </a:rPr>
              <a:t>政治准入
219 维 P12 模型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383280"/>
            <a:ext cx="11201400" cy="685800"/>
          </a:xfrm>
          <a:prstGeom prst="roundRect">
            <a:avLst/>
          </a:prstGeom>
          <a:solidFill>
            <a:srgbClr val="E8F3EC"/>
          </a:solidFill>
          <a:ln w="12700">
            <a:solidFill>
              <a:srgbClr val="1A7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76200" bIns="76200"/>
          <a:lstStyle/>
          <a:p>
            <a:pPr algn="l"/>
            <a:r>
              <a:rPr sz="1500" b="1">
                <a:solidFill>
                  <a:srgbClr val="1A7F37"/>
                </a:solidFill>
                <a:latin typeface="Microsoft YaHei"/>
              </a:rPr>
              <a:t>六策略全量验证：总体拦截率 79.1%（95% CI 78.0 - 80.2）· 全部策略 ≥ 77.6% · 均过 70% 竞赛门槛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251960"/>
            <a:ext cx="5532120" cy="841248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76200" bIns="76200"/>
          <a:lstStyle/>
          <a:p>
            <a:pPr algn="l"/>
            <a:r>
              <a:rPr sz="1300" b="1">
                <a:solidFill>
                  <a:srgbClr val="1E2761"/>
                </a:solidFill>
                <a:latin typeface="Microsoft YaHei"/>
              </a:rPr>
              <a:t>1. 权威数据提升韧性</a:t>
            </a:r>
          </a:p>
          <a:p>
            <a:pPr algn="l"/>
            <a:r>
              <a:rPr sz="1100" b="0">
                <a:solidFill>
                  <a:srgbClr val="1F2328"/>
                </a:solidFill>
                <a:latin typeface="Microsoft YaHei"/>
              </a:rPr>
              <a:t>Tier 分层纵深提升分布式拦截冗余（+2.8pp，模型不变对照）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51960"/>
            <a:ext cx="5532120" cy="841248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76200" bIns="76200"/>
          <a:lstStyle/>
          <a:p>
            <a:pPr algn="l"/>
            <a:r>
              <a:rPr sz="1300" b="1">
                <a:solidFill>
                  <a:srgbClr val="1E2761"/>
                </a:solidFill>
                <a:latin typeface="Microsoft YaHei"/>
              </a:rPr>
              <a:t>2. 政治不确定性可被学习</a:t>
            </a:r>
          </a:p>
          <a:p>
            <a:pPr algn="l"/>
            <a:r>
              <a:rPr sz="1100" b="0">
                <a:solidFill>
                  <a:srgbClr val="1F2328"/>
                </a:solidFill>
                <a:latin typeface="Microsoft YaHei"/>
              </a:rPr>
              <a:t>准入演化场景拦截率不降反稳——219 维模型学会规避 Denied 站点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212080"/>
            <a:ext cx="5532120" cy="841248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76200" bIns="76200"/>
          <a:lstStyle/>
          <a:p>
            <a:pPr algn="l"/>
            <a:r>
              <a:rPr sz="1300" b="1">
                <a:solidFill>
                  <a:srgbClr val="1E2761"/>
                </a:solidFill>
                <a:latin typeface="Microsoft YaHei"/>
              </a:rPr>
              <a:t>3. 结构性缓冲存在</a:t>
            </a:r>
          </a:p>
          <a:p>
            <a:pPr algn="l"/>
            <a:r>
              <a:rPr sz="1100" b="0">
                <a:solidFill>
                  <a:srgbClr val="1F2328"/>
                </a:solidFill>
                <a:latin typeface="Microsoft YaHei"/>
              </a:rPr>
              <a:t>敏感性 N=100000：最差采样可用基地率仍达 95.5%（以容量折损为主）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212080"/>
            <a:ext cx="5532120" cy="841248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76200" bIns="76200"/>
          <a:lstStyle/>
          <a:p>
            <a:pPr algn="l"/>
            <a:r>
              <a:rPr sz="1300" b="1">
                <a:solidFill>
                  <a:srgbClr val="1E2761"/>
                </a:solidFill>
                <a:latin typeface="Microsoft YaHei"/>
              </a:rPr>
              <a:t>4. 最弱项明确</a:t>
            </a:r>
          </a:p>
          <a:p>
            <a:pPr algn="l"/>
            <a:r>
              <a:rPr sz="1100" b="0">
                <a:solidFill>
                  <a:srgbClr val="1F2328"/>
                </a:solidFill>
                <a:latin typeface="Microsoft YaHei"/>
              </a:rPr>
              <a:t>电子战 / 政治分化策略 77-78% 为后续优化方向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67853" y="3146299"/>
            <a:ext cx="6465366" cy="1453282"/>
            <a:chOff x="2867853" y="3146299"/>
            <a:chExt cx="6465366" cy="1453282"/>
          </a:xfrm>
        </p:grpSpPr>
        <p:sp>
          <p:nvSpPr>
            <p:cNvPr id="3" name="AutoShape 3"/>
            <p:cNvSpPr/>
            <p:nvPr/>
          </p:nvSpPr>
          <p:spPr>
            <a:xfrm rot="5400000">
              <a:off x="4311610" y="3146299"/>
              <a:ext cx="5021609" cy="1453282"/>
            </a:xfrm>
            <a:prstGeom prst="trapezoid">
              <a:avLst>
                <a:gd name="adj" fmla="val 15000"/>
              </a:avLst>
            </a:prstGeom>
            <a:solidFill>
              <a:schemeClr val="accent4">
                <a:alpha val="100000"/>
              </a:scheme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AutoShape 4"/>
            <p:cNvSpPr/>
            <p:nvPr/>
          </p:nvSpPr>
          <p:spPr>
            <a:xfrm rot="-5400000">
              <a:off x="2867853" y="3146299"/>
              <a:ext cx="5021609" cy="1453282"/>
            </a:xfrm>
            <a:prstGeom prst="trapezoid">
              <a:avLst>
                <a:gd name="adj" fmla="val 15000"/>
              </a:avLst>
            </a:prstGeom>
            <a:solidFill>
              <a:schemeClr val="accent4">
                <a:alpha val="100000"/>
              </a:scheme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AutoShape 5"/>
          <p:cNvSpPr/>
          <p:nvPr/>
        </p:nvSpPr>
        <p:spPr>
          <a:xfrm rot="5400000">
            <a:off x="7031437" y="2470592"/>
            <a:ext cx="4450677" cy="2724904"/>
          </a:xfrm>
          <a:prstGeom prst="trapezoid">
            <a:avLst>
              <a:gd name="adj" fmla="val 11666"/>
            </a:avLst>
          </a:prstGeom>
          <a:solidFill>
            <a:schemeClr val="accent5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6" name="AutoShape 6"/>
          <p:cNvSpPr/>
          <p:nvPr/>
        </p:nvSpPr>
        <p:spPr>
          <a:xfrm rot="-5400000">
            <a:off x="732907" y="2470592"/>
            <a:ext cx="4450677" cy="2724904"/>
          </a:xfrm>
          <a:prstGeom prst="trapezoid">
            <a:avLst>
              <a:gd name="adj" fmla="val 11666"/>
            </a:avLst>
          </a:prstGeom>
          <a:solidFill>
            <a:schemeClr val="accent3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7" name="TextBox 7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代码仓库与技术亮点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id="8" name="TextBox 8"/>
          <p:cNvSpPr txBox="1"/>
          <p:nvPr/>
        </p:nvSpPr>
        <p:spPr>
          <a:xfrm>
            <a:off x="1769199" y="3593075"/>
            <a:ext cx="2378092" cy="1903951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35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代码以离线包形式提交（私有仓库存档，评审按比赛规定方式获取） 全量源码 · 离线包随参赛材料一并提交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eyJfdGVtcGxhdGVEYXRhIjp7ImNvbnRlbnRUeXBlIjoiJGl0ZW0xX2MiLCJsaW5lQ291bnQiOiI2Iiwid29yZENvdW50IjoiMTIifSwidGFnIjoiJGl0ZW0xX2MifQ==</bd:templateData>
          </p:ext>
        </p:extLst>
      </p:sp>
      <p:sp>
        <p:nvSpPr>
          <p:cNvPr id="9" name="TextBox 9"/>
          <p:cNvSpPr txBox="1"/>
          <p:nvPr/>
        </p:nvSpPr>
        <p:spPr>
          <a:xfrm>
            <a:off x="1828473" y="2753722"/>
            <a:ext cx="2259545" cy="60579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20000"/>
              </a:lnSpc>
              <a:spcBef>
                <a:spcPts val="450"/>
              </a:spcBef>
            </a:pPr>
            <a:r>
              <a:rPr lang="en-US" sz="18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代码交付方式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eyJfdGVtcGxhdGVEYXRhIjp7ImNvbnRlbnRUeXBlIjoiJGl0ZW0xX3RpdGxlIiwibGluZUNvdW50IjoiMSIsIndvcmRDb3VudCI6IjgifSwidGFnIjoiJGl0ZW0xX3RpdGxlIn0=</bd:templateData>
          </p:ext>
        </p:extLst>
      </p:sp>
      <p:sp>
        <p:nvSpPr>
          <p:cNvPr id="10" name="Freeform 10"/>
          <p:cNvSpPr/>
          <p:nvPr/>
        </p:nvSpPr>
        <p:spPr>
          <a:xfrm>
            <a:off x="2698730" y="2171415"/>
            <a:ext cx="519029" cy="519029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80975"/>
                </a:moveTo>
                <a:lnTo>
                  <a:pt x="247650" y="123825"/>
                </a:lnTo>
                <a:lnTo>
                  <a:pt x="247650" y="38100"/>
                </a:lnTo>
                <a:lnTo>
                  <a:pt x="209550" y="38100"/>
                </a:lnTo>
                <a:lnTo>
                  <a:pt x="209550" y="85725"/>
                </a:lnTo>
                <a:lnTo>
                  <a:pt x="152400" y="28575"/>
                </a:lnTo>
                <a:lnTo>
                  <a:pt x="0" y="180975"/>
                </a:lnTo>
                <a:lnTo>
                  <a:pt x="0" y="190500"/>
                </a:lnTo>
                <a:lnTo>
                  <a:pt x="38100" y="190500"/>
                </a:lnTo>
                <a:lnTo>
                  <a:pt x="38100" y="285750"/>
                </a:lnTo>
                <a:lnTo>
                  <a:pt x="133350" y="285750"/>
                </a:lnTo>
                <a:lnTo>
                  <a:pt x="133350" y="228600"/>
                </a:lnTo>
                <a:lnTo>
                  <a:pt x="171450" y="228600"/>
                </a:lnTo>
                <a:lnTo>
                  <a:pt x="171450" y="285750"/>
                </a:lnTo>
                <a:lnTo>
                  <a:pt x="266700" y="285750"/>
                </a:lnTo>
                <a:lnTo>
                  <a:pt x="266700" y="190500"/>
                </a:lnTo>
                <a:lnTo>
                  <a:pt x="304800" y="190500"/>
                </a:lnTo>
              </a:path>
            </a:pathLst>
          </a:cu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1" name="TextBox 11"/>
          <p:cNvSpPr txBox="1"/>
          <p:nvPr/>
        </p:nvSpPr>
        <p:spPr>
          <a:xfrm>
            <a:off x="8067729" y="3593075"/>
            <a:ext cx="2378092" cy="1903951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35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阿里云ECS部署脚本 一键docker-compose up 健康检查与监控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eyJfdGVtcGxhdGVEYXRhIjp7ImNvbnRlbnRUeXBlIjoiJGl0ZW0zX2MiLCJsaW5lQ291bnQiOiI2Iiwid29yZENvdW50IjoiMTIifSwidGFnIjoiJGl0ZW0zX2MifQ==</bd:templateData>
          </p:ext>
        </p:extLst>
      </p:sp>
      <p:sp>
        <p:nvSpPr>
          <p:cNvPr id="12" name="TextBox 12"/>
          <p:cNvSpPr txBox="1"/>
          <p:nvPr/>
        </p:nvSpPr>
        <p:spPr>
          <a:xfrm>
            <a:off x="8127003" y="2753722"/>
            <a:ext cx="2259545" cy="60579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20000"/>
              </a:lnSpc>
              <a:spcBef>
                <a:spcPts val="450"/>
              </a:spcBef>
            </a:pPr>
            <a:r>
              <a:rPr lang="en-US" sz="18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部署就绪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eyJfdGVtcGxhdGVEYXRhIjp7ImNvbnRlbnRUeXBlIjoiJGl0ZW0zX3RpdGxlIiwibGluZUNvdW50IjoiMSIsIndvcmRDb3VudCI6IjgifSwidGFnIjoiJGl0ZW0zX3RpdGxlIn0=</bd:templateData>
          </p:ext>
        </p:extLst>
      </p:sp>
      <p:sp>
        <p:nvSpPr>
          <p:cNvPr id="13" name="Freeform 13"/>
          <p:cNvSpPr/>
          <p:nvPr/>
        </p:nvSpPr>
        <p:spPr>
          <a:xfrm>
            <a:off x="9005350" y="2187594"/>
            <a:ext cx="502850" cy="50285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0749" y="121920"/>
                </a:moveTo>
                <a:lnTo>
                  <a:pt x="152400" y="182880"/>
                </a:lnTo>
                <a:lnTo>
                  <a:pt x="304800" y="91440"/>
                </a:lnTo>
                <a:lnTo>
                  <a:pt x="152400" y="0"/>
                </a:lnTo>
                <a:lnTo>
                  <a:pt x="0" y="91440"/>
                </a:lnTo>
                <a:lnTo>
                  <a:pt x="152400" y="91440"/>
                </a:lnTo>
                <a:lnTo>
                  <a:pt x="152400" y="121920"/>
                </a:lnTo>
                <a:lnTo>
                  <a:pt x="50749" y="121920"/>
                </a:lnTo>
                <a:close/>
              </a:path>
              <a:path w="304800" h="304800">
                <a:moveTo>
                  <a:pt x="0" y="121920"/>
                </a:moveTo>
                <a:lnTo>
                  <a:pt x="0" y="243840"/>
                </a:lnTo>
                <a:lnTo>
                  <a:pt x="30480" y="210007"/>
                </a:lnTo>
                <a:lnTo>
                  <a:pt x="30480" y="140208"/>
                </a:lnTo>
                <a:lnTo>
                  <a:pt x="0" y="121920"/>
                </a:lnTo>
                <a:close/>
              </a:path>
              <a:path w="304800" h="304800">
                <a:moveTo>
                  <a:pt x="152400" y="304800"/>
                </a:moveTo>
                <a:lnTo>
                  <a:pt x="45720" y="240792"/>
                </a:lnTo>
                <a:lnTo>
                  <a:pt x="45720" y="149352"/>
                </a:lnTo>
                <a:lnTo>
                  <a:pt x="152400" y="213360"/>
                </a:lnTo>
                <a:lnTo>
                  <a:pt x="259080" y="149352"/>
                </a:lnTo>
                <a:lnTo>
                  <a:pt x="259080" y="240792"/>
                </a:lnTo>
                <a:lnTo>
                  <a:pt x="152400" y="304800"/>
                </a:lnTo>
              </a:path>
            </a:pathLst>
          </a:cu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4" name="TextBox 14"/>
          <p:cNvSpPr txBox="1"/>
          <p:nvPr/>
        </p:nvSpPr>
        <p:spPr>
          <a:xfrm>
            <a:off x="4911490" y="3593075"/>
            <a:ext cx="2378092" cy="1903951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35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P1-P8八轮迭代演进 Docker 7服务编排 GitHub Actions 6阶段CI/CD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eyJfdGVtcGxhdGVEYXRhIjp7ImNvbnRlbnRUeXBlIjoiJGl0ZW0yX2MiLCJsaW5lQ291bnQiOiI2Iiwid29yZENvdW50IjoiMTIifSwidGFnIjoiJGl0ZW0yX2MifQ==</bd:templateData>
          </p:ext>
        </p:extLst>
      </p:sp>
      <p:sp>
        <p:nvSpPr>
          <p:cNvPr id="15" name="TextBox 15"/>
          <p:cNvSpPr txBox="1"/>
          <p:nvPr/>
        </p:nvSpPr>
        <p:spPr>
          <a:xfrm>
            <a:off x="4970763" y="2753722"/>
            <a:ext cx="2259545" cy="60579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20000"/>
              </a:lnSpc>
              <a:spcBef>
                <a:spcPts val="450"/>
              </a:spcBef>
            </a:pPr>
            <a:r>
              <a:rPr lang="en-US" sz="18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工程亮点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eyJfdGVtcGxhdGVEYXRhIjp7ImNvbnRlbnRUeXBlIjoiJGl0ZW0yX3RpdGxlIiwibGluZUNvdW50IjoiMSIsIndvcmRDb3VudCI6IjgifSwidGFnIjoiJGl0ZW0yX3RpdGxlIn0=</bd:templateData>
          </p:ext>
        </p:extLst>
      </p:sp>
      <p:sp>
        <p:nvSpPr>
          <p:cNvPr id="16" name="Freeform 16"/>
          <p:cNvSpPr/>
          <p:nvPr/>
        </p:nvSpPr>
        <p:spPr>
          <a:xfrm>
            <a:off x="5828045" y="2145464"/>
            <a:ext cx="544981" cy="54498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9550" y="0"/>
                </a:moveTo>
                <a:cubicBezTo>
                  <a:pt x="156943" y="0"/>
                  <a:pt x="114300" y="42643"/>
                  <a:pt x="114300" y="95250"/>
                </a:cubicBezTo>
                <a:cubicBezTo>
                  <a:pt x="114300" y="101213"/>
                  <a:pt x="114852" y="107042"/>
                  <a:pt x="115900" y="112700"/>
                </a:cubicBezTo>
                <a:lnTo>
                  <a:pt x="0" y="228600"/>
                </a:lnTo>
                <a:lnTo>
                  <a:pt x="0" y="285750"/>
                </a:lnTo>
                <a:cubicBezTo>
                  <a:pt x="0" y="296275"/>
                  <a:pt x="8525" y="304800"/>
                  <a:pt x="19050" y="304800"/>
                </a:cubicBezTo>
                <a:lnTo>
                  <a:pt x="38100" y="304800"/>
                </a:lnTo>
                <a:lnTo>
                  <a:pt x="38100" y="285750"/>
                </a:lnTo>
                <a:lnTo>
                  <a:pt x="76200" y="285750"/>
                </a:lnTo>
                <a:lnTo>
                  <a:pt x="76200" y="247650"/>
                </a:lnTo>
                <a:lnTo>
                  <a:pt x="114300" y="247650"/>
                </a:lnTo>
                <a:lnTo>
                  <a:pt x="114300" y="209550"/>
                </a:lnTo>
                <a:lnTo>
                  <a:pt x="152400" y="209550"/>
                </a:lnTo>
                <a:lnTo>
                  <a:pt x="177117" y="184833"/>
                </a:lnTo>
                <a:cubicBezTo>
                  <a:pt x="187242" y="188500"/>
                  <a:pt x="198158" y="190500"/>
                  <a:pt x="209550" y="190500"/>
                </a:cubicBezTo>
                <a:cubicBezTo>
                  <a:pt x="262157" y="190500"/>
                  <a:pt x="304800" y="147857"/>
                  <a:pt x="304800" y="95250"/>
                </a:cubicBezTo>
                <a:cubicBezTo>
                  <a:pt x="304800" y="42643"/>
                  <a:pt x="262157" y="0"/>
                  <a:pt x="209550" y="0"/>
                </a:cubicBezTo>
                <a:close/>
                <a:moveTo>
                  <a:pt x="238087" y="95288"/>
                </a:moveTo>
                <a:cubicBezTo>
                  <a:pt x="222304" y="95288"/>
                  <a:pt x="209512" y="82496"/>
                  <a:pt x="209512" y="66713"/>
                </a:cubicBezTo>
                <a:cubicBezTo>
                  <a:pt x="209512" y="50930"/>
                  <a:pt x="222304" y="38138"/>
                  <a:pt x="238087" y="38138"/>
                </a:cubicBezTo>
                <a:cubicBezTo>
                  <a:pt x="253870" y="38138"/>
                  <a:pt x="266662" y="50930"/>
                  <a:pt x="266662" y="66713"/>
                </a:cubicBezTo>
                <a:cubicBezTo>
                  <a:pt x="266662" y="82496"/>
                  <a:pt x="253870" y="95288"/>
                  <a:pt x="238087" y="9528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7" name="AutoShape 17"/>
          <p:cNvSpPr/>
          <p:nvPr/>
        </p:nvSpPr>
        <p:spPr>
          <a:xfrm>
            <a:off x="2335410" y="3359512"/>
            <a:ext cx="1245670" cy="69488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8" name="AutoShape 18"/>
          <p:cNvSpPr/>
          <p:nvPr/>
        </p:nvSpPr>
        <p:spPr>
          <a:xfrm>
            <a:off x="5477701" y="3359512"/>
            <a:ext cx="1245670" cy="69488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  <p:sp>
        <p:nvSpPr>
          <p:cNvPr id="19" name="AutoShape 19"/>
          <p:cNvSpPr/>
          <p:nvPr/>
        </p:nvSpPr>
        <p:spPr>
          <a:xfrm>
            <a:off x="8633940" y="3359512"/>
            <a:ext cx="1245670" cy="69488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="" xmlns:bd="http://schemas.baidu.com/office/drawing/2023/templateData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="" xmlns:bd="http://schemas.baidu.com/office/drawing/2023/templateData">eyJtZCI6IiMjIOivt+i+k+WFpeacrOmhteagh+mimFxuIyMjIOa3u+WKoOWwj+agh+mimFxu6K+35Zyo5q2k5aSE6L6T5YWl5oKo55qE5q2j5paH5YaF5a6544CC5paH5a2X5Luj6KGo5oKo55qE5Li76aKY5oCd5oOz77yM6K+35Yqb5rGC566A5piO5Zyw6KGo6L6+5oKo55qE6KeC54K544CC5Y+v6YCC5bqm5Yig5YeP5paH5a2X5Lul56Gu5L+d5L+h5oGv55qE5riF5pmw5ZKM57K+56Gu5Lyg6L6+77yM5ZCM5pe25Lmf6KaB5YWz5rOo5paH5a2X55qE6YC76L6R5oCn5ZKM5p2hXG4jIyMg5re75Yqg5bCP5qCH6aKYXG7or7flnKjmraTlpITovpPlhaXmgqjnmoTmraPmloflhoXlrrnjgILmloflrZfku6PooajmgqjnmoTkuLvpopjmgJ3mg7PvvIzor7flipvmsYLnroDmmI7lnLDooajovr7mgqjnmoTop4LngrnjgILlj6/pgILluqbliKDlh4/mloflrZfku6Xnoa7kv53kv6Hmga/nmoTmuIXmmbDlkoznsr7noa7kvKDovr7vvIzlkIzml7bkuZ/opoHlhbPms6jmloflrZfnmoTpgLvovpHmgKflkozmnaFcbiMjIyDmt7vliqDlsI/moIfpophcbuivt+WcqOatpOWkhOi+k+WFpeaCqOeahOato+aWh+WGheWuueOAguaWh+Wtl+S7o+ihqOaCqOeahOS4u+mimOaAneaDs++8jOivt+WKm+axgueugOaYjuWcsOihqOi+vuaCqOeahOingueCueOAguWPr+mAguW6puWIoOWHj+aWh+Wtl+S7peehruS/neS/oeaBr+eahOa4heaZsOWSjOeyvuehruS8oOi+vu+8jOWQjOaXtuS5n+imgeWFs+azqOaWh+Wtl+eahOmAu+i+keaAp+WSjOadoSIsInRwbGlkIjoiNjkiLCJ0cGxOYW1lIjoibGlzdDNfMjAyNTA3MDMxMSIsImVkaXRlZCI6ImZhbHNlIn0=</bd:templateData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1105" y="1748640"/>
            <a:ext cx="6988435" cy="1649151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l">
              <a:lnSpc>
                <a:spcPct val="96000"/>
              </a:lnSpc>
            </a:pPr>
            <a:r>
              <a:rPr lang="en-US" sz="885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THANKS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eyJfdGVtcGxhdGVEYXRhIjp7ImNvbnRlbnRUeXBlIjoiJGVuZGluZ18xIiwibGluZUNvdW50IjoiMSIsIndvcmRDb3VudCI6IjUifSwidGFnIjoibm9FZGl0In0=</bd:templateData>
          </p:ext>
        </p:extLst>
      </p:sp>
      <p:sp>
        <p:nvSpPr>
          <p:cNvPr id="3" name="TextBox 3"/>
          <p:cNvSpPr txBox="1"/>
          <p:nvPr/>
        </p:nvSpPr>
        <p:spPr>
          <a:xfrm>
            <a:off x="856355" y="3336110"/>
            <a:ext cx="3123730" cy="716174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000" b="1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感谢评审</a:t>
            </a:r>
          </a:p>
        </p:txBody>
        <p:extLst>
          <p:ext uri="http://schemas.baidu.com/office/drawing/2023/templateData">
            <bd:templateData xmlns="" xmlns:bd="http://schemas.baidu.com/office/drawing/2023/templateData">eyJfdGVtcGxhdGVEYXRhIjp7ImNvbnRlbnRUeXBlIjoiJGVuZGluZ18yIiwibGluZUNvdW50IjoiMSIsIndvcmRDb3VudCI6IjYifSwidGFnIjoibm9FZGl0In0=</bd:templateData>
          </p:ext>
        </p:extLst>
      </p:sp>
    </p:spTree>
  </p:cSld>
  <p:clrMapOvr>
    <a:masterClrMapping/>
  </p:clrMapOvr>
  <p:extLst>
    <p:ext uri="http://schemas.baidu.com/office/drawing/2023/templateData">
      <bd:templateData xmlns="" xmlns:bd="http://schemas.baidu.com/office/drawing/2023/templateData">eyJtZCI6IiIsInRwbGlkIjoiNjkiLCJ0cGxOYW1lIjoiZW5kXzY5ZGlhbW9uZCIsImVkaXRlZCI6ImZhbHNlIn0=</bd:templateData>
    </p:ext>
  </p:extLst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EFFBFF"/>
      </a:lt1>
      <a:dk2>
        <a:srgbClr val="002F40"/>
      </a:dk2>
      <a:lt2>
        <a:srgbClr val="FFFFFF"/>
      </a:lt2>
      <a:accent1>
        <a:srgbClr val="3045FD"/>
      </a:accent1>
      <a:accent2>
        <a:srgbClr val="0085FF"/>
      </a:accent2>
      <a:accent3>
        <a:srgbClr val="2947E8"/>
      </a:accent3>
      <a:accent4>
        <a:srgbClr val="3CD6DF"/>
      </a:accent4>
      <a:accent5>
        <a:srgbClr val="73DDE3"/>
      </a:accent5>
      <a:accent6>
        <a:srgbClr val="FFC67C"/>
      </a:accent6>
      <a:hlink>
        <a:srgbClr val="00B6FF"/>
      </a:hlink>
      <a:folHlink>
        <a:srgbClr val="00B6FF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415</Words>
  <Application>Microsoft Macintosh PowerPoint</Application>
  <PresentationFormat>宽屏</PresentationFormat>
  <Paragraphs>124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等线</vt:lpstr>
      <vt:lpstr>等线 Light</vt:lpstr>
      <vt:lpstr>Microsoft Yahei</vt:lpstr>
      <vt:lpstr>Noto Sans SC</vt:lpstr>
      <vt:lpstr>OPPOSans B</vt:lpstr>
      <vt:lpstr>Arial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zhangqishou</dc:creator>
  <cp:lastModifiedBy>ying'ying Ma</cp:lastModifiedBy>
  <cp:revision>2</cp:revision>
  <dcterms:created xsi:type="dcterms:W3CDTF">2025-10-20T11:38:53Z</dcterms:created>
  <dcterms:modified xsi:type="dcterms:W3CDTF">2026-08-06T05:02:54Z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value1","ContentProducer":"001191110000802100433B11010001191110000802100433B11010","ProduceID":"fc1b1d83-1188-4661-9d95-2d7e6688c707","ReservedCode1":"72dafc97cd38b92e5f3d5cdfd0dfbbe6","ContentPropagator":"001191110000802100433B11010001191110000802100433B11010","PropagateID":"156762d4-93ce-4147-82dc-b75446bd2435","ReservedCode2":"2734827274df537123a472bf4de01eb5"}</vt:lpwstr>
  </property>
</Properties>
</file>